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4"/>
  </p:notesMasterIdLst>
  <p:sldIdLst>
    <p:sldId id="256" r:id="rId2"/>
    <p:sldId id="257" r:id="rId3"/>
    <p:sldId id="270" r:id="rId4"/>
    <p:sldId id="271" r:id="rId5"/>
    <p:sldId id="276" r:id="rId6"/>
    <p:sldId id="280" r:id="rId7"/>
    <p:sldId id="281" r:id="rId8"/>
    <p:sldId id="272" r:id="rId9"/>
    <p:sldId id="277" r:id="rId10"/>
    <p:sldId id="273" r:id="rId11"/>
    <p:sldId id="278" r:id="rId12"/>
    <p:sldId id="282" r:id="rId13"/>
    <p:sldId id="283" r:id="rId14"/>
    <p:sldId id="274" r:id="rId15"/>
    <p:sldId id="284" r:id="rId16"/>
    <p:sldId id="285" r:id="rId17"/>
    <p:sldId id="286" r:id="rId18"/>
    <p:sldId id="287" r:id="rId19"/>
    <p:sldId id="275" r:id="rId20"/>
    <p:sldId id="288" r:id="rId21"/>
    <p:sldId id="269" r:id="rId22"/>
    <p:sldId id="279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9309" autoAdjust="0"/>
    <p:restoredTop sz="88575" autoAdjust="0"/>
  </p:normalViewPr>
  <p:slideViewPr>
    <p:cSldViewPr>
      <p:cViewPr varScale="1">
        <p:scale>
          <a:sx n="98" d="100"/>
          <a:sy n="98" d="100"/>
        </p:scale>
        <p:origin x="151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1.xml"/><Relationship Id="rId3" Type="http://schemas.openxmlformats.org/officeDocument/2006/relationships/slide" Target="slides/slide4.xml"/><Relationship Id="rId7" Type="http://schemas.openxmlformats.org/officeDocument/2006/relationships/slide" Target="slides/slide10.xml"/><Relationship Id="rId2" Type="http://schemas.openxmlformats.org/officeDocument/2006/relationships/slide" Target="slides/slide3.xml"/><Relationship Id="rId1" Type="http://schemas.openxmlformats.org/officeDocument/2006/relationships/slide" Target="slides/slide2.xml"/><Relationship Id="rId6" Type="http://schemas.openxmlformats.org/officeDocument/2006/relationships/slide" Target="slides/slide9.xml"/><Relationship Id="rId5" Type="http://schemas.openxmlformats.org/officeDocument/2006/relationships/slide" Target="slides/slide8.xml"/><Relationship Id="rId10" Type="http://schemas.openxmlformats.org/officeDocument/2006/relationships/slide" Target="slides/slide19.xml"/><Relationship Id="rId4" Type="http://schemas.openxmlformats.org/officeDocument/2006/relationships/slide" Target="slides/slide5.xml"/><Relationship Id="rId9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3374A-68CE-470A-A770-54CAF345B12B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745904-55BB-46F2-BDE2-17415C5DFE6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Заметки</a:t>
            </a:r>
            <a:r>
              <a:rPr lang="ru-RU" baseline="0" dirty="0" smtClean="0"/>
              <a:t> к слайдам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745904-55BB-46F2-BDE2-17415C5DFE62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745904-55BB-46F2-BDE2-17415C5DFE62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745904-55BB-46F2-BDE2-17415C5DFE62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745904-55BB-46F2-BDE2-17415C5DFE62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745904-55BB-46F2-BDE2-17415C5DFE62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745904-55BB-46F2-BDE2-17415C5DFE62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745904-55BB-46F2-BDE2-17415C5DFE62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745904-55BB-46F2-BDE2-17415C5DFE62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745904-55BB-46F2-BDE2-17415C5DFE62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745904-55BB-46F2-BDE2-17415C5DFE62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745904-55BB-46F2-BDE2-17415C5DFE62}" type="slidenum">
              <a:rPr lang="ru-RU" smtClean="0"/>
              <a:pPr/>
              <a:t>19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745904-55BB-46F2-BDE2-17415C5DFE62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745904-55BB-46F2-BDE2-17415C5DFE62}" type="slidenum">
              <a:rPr lang="ru-RU" smtClean="0"/>
              <a:pPr/>
              <a:t>22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E96A-DF74-463A-99C1-307A6E77D8D6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DC11-AFD1-4DF7-97A9-E758255F9C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E96A-DF74-463A-99C1-307A6E77D8D6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DC11-AFD1-4DF7-97A9-E758255F9C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E96A-DF74-463A-99C1-307A6E77D8D6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DC11-AFD1-4DF7-97A9-E758255F9C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E96A-DF74-463A-99C1-307A6E77D8D6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DC11-AFD1-4DF7-97A9-E758255F9C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E96A-DF74-463A-99C1-307A6E77D8D6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DC11-AFD1-4DF7-97A9-E758255F9C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E96A-DF74-463A-99C1-307A6E77D8D6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BBDC11-AFD1-4DF7-97A9-E758255F9CBC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E96A-DF74-463A-99C1-307A6E77D8D6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DC11-AFD1-4DF7-97A9-E758255F9C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E96A-DF74-463A-99C1-307A6E77D8D6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BDBBDC11-AFD1-4DF7-97A9-E758255F9C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50DFE96A-DF74-463A-99C1-307A6E77D8D6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DC11-AFD1-4DF7-97A9-E758255F9C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E96A-DF74-463A-99C1-307A6E77D8D6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DC11-AFD1-4DF7-97A9-E758255F9C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E96A-DF74-463A-99C1-307A6E77D8D6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BDC11-AFD1-4DF7-97A9-E758255F9CB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олилиния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50DFE96A-DF74-463A-99C1-307A6E77D8D6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BDBBDC11-AFD1-4DF7-97A9-E758255F9CB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1052736"/>
            <a:ext cx="5328592" cy="2088232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 smtClean="0"/>
              <a:t>ТРЕБОВАНИЯ</a:t>
            </a:r>
            <a:br>
              <a:rPr lang="ru-RU" dirty="0" smtClean="0"/>
            </a:br>
            <a:r>
              <a:rPr lang="ru-RU" dirty="0" smtClean="0"/>
              <a:t>БЕЗОПАСНОСТИ К</a:t>
            </a:r>
            <a:r>
              <a:rPr lang="ru-RU" smtClean="0"/>
              <a:t/>
            </a:r>
            <a:br>
              <a:rPr lang="ru-RU" smtClean="0"/>
            </a:br>
            <a:r>
              <a:rPr lang="ru-RU" smtClean="0"/>
              <a:t>ОБОРУДОВАНИЮ 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2"/>
          <p:cNvSpPr txBox="1">
            <a:spLocks/>
          </p:cNvSpPr>
          <p:nvPr/>
        </p:nvSpPr>
        <p:spPr>
          <a:xfrm>
            <a:off x="179512" y="548680"/>
            <a:ext cx="7992888" cy="5760640"/>
          </a:xfrm>
          <a:prstGeom prst="rect">
            <a:avLst/>
          </a:prstGeom>
        </p:spPr>
        <p:txBody>
          <a:bodyPr vert="horz">
            <a:normAutofit fontScale="70000" lnSpcReduction="20000"/>
          </a:bodyPr>
          <a:lstStyle/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endParaRPr kumimoji="0" lang="en-US" sz="33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ru-RU" sz="2900" dirty="0" smtClean="0">
                <a:latin typeface="Times New Roman" pitchFamily="18" charset="0"/>
                <a:cs typeface="Times New Roman" pitchFamily="18" charset="0"/>
              </a:rPr>
              <a:t>К производственному оборудованию относятся машины, механизмы, аппараты, сосуды, линии, агрегаты, транспортные и другие устройства и средства, эксплуатируемые в образовательном учреждении.</a:t>
            </a: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29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29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29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ru-RU" sz="2900" dirty="0" smtClean="0">
                <a:latin typeface="Times New Roman" pitchFamily="18" charset="0"/>
                <a:cs typeface="Times New Roman" pitchFamily="18" charset="0"/>
              </a:rPr>
              <a:t>Общие требования к оборудованию образовательных учреждений регламентируются следующими нормативными правовыми актами: ГОСТ 12.2.003-91 ССБТ «Оборудование производственное. Общие требования безопасности», ГОСТ 12.3.002-75 ССБТ «Процессы производственные. Общие требования безопасности», ПОТ РО 14000-002-98 «Положение. Обеспечение безопасности производственного оборудования».</a:t>
            </a:r>
            <a:endParaRPr lang="en-US" sz="29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endParaRPr kumimoji="0" lang="ru-RU" sz="31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ru-RU" sz="3100" dirty="0" smtClean="0">
                <a:latin typeface="Times New Roman" pitchFamily="18" charset="0"/>
                <a:cs typeface="Times New Roman" pitchFamily="18" charset="0"/>
              </a:rPr>
              <a:t>	</a:t>
            </a:r>
            <a:endParaRPr kumimoji="0" lang="ru-RU" sz="31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lang="ru-RU" sz="2400" dirty="0" smtClean="0"/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endParaRPr kumimoji="0" lang="ru-RU" sz="28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2"/>
          <p:cNvSpPr txBox="1">
            <a:spLocks/>
          </p:cNvSpPr>
          <p:nvPr/>
        </p:nvSpPr>
        <p:spPr>
          <a:xfrm>
            <a:off x="179512" y="1628800"/>
            <a:ext cx="7992888" cy="4104456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/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материалы, конструкции производственного оборудования не должны оказывать опасное и вредное воздействие на организм человека на всех заданных режимах работы и предусмотренных условиях эксплуатации, а также создавать пожаровзрывоопасные ситуации</a:t>
            </a: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конструкция производственного оборудования должна исключать на всех предусмотренных режимах работы нагрузки на детали и сборочные единицы, способные вызвать разрушения, представляющие опасность для работающих	</a:t>
            </a: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420624" marR="0" lvl="0" indent="-384048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endParaRPr kumimoji="0" lang="ru-RU" sz="28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620688"/>
            <a:ext cx="748883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соответствии с ГОСТ 12.2.003-91 ССБТ «Оборудование производственное. Общие требования безопасности» должны соблюдаться следующие условия: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2"/>
          <p:cNvSpPr txBox="1">
            <a:spLocks/>
          </p:cNvSpPr>
          <p:nvPr/>
        </p:nvSpPr>
        <p:spPr>
          <a:xfrm>
            <a:off x="179512" y="188640"/>
            <a:ext cx="7992888" cy="5544616"/>
          </a:xfrm>
          <a:prstGeom prst="rect">
            <a:avLst/>
          </a:prstGeom>
        </p:spPr>
        <p:txBody>
          <a:bodyPr vert="horz">
            <a:normAutofit fontScale="77500" lnSpcReduction="20000"/>
          </a:bodyPr>
          <a:lstStyle/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конструкция производственного оборудования и его отдельных частей должна исключать возможность их падения, опрокидывания и самопроизвольного смещения при всех предусмотренных условиях эксплуатации и монтажа (демонтажа); если из-за формы производственного оборудования распределение масс отдельных его частей и(или) условий монтажа (демонтажа) не может быть достигнута необходимая устойчивость, то необходимость предусмотреть средства и методы закрепления</a:t>
            </a: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конструкция производственного оборудования должна исключить падение при выбрасывании предметов (например, инструмента, заготовок, обработанных деталей, стружки, представляющих опасность для работающих, а также выбросов смазывающих, охлаждающих и других рабочих жидкостей)</a:t>
            </a:r>
            <a:endParaRPr kumimoji="0" lang="ru-RU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420624" marR="0" lvl="0" indent="-384048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endParaRPr kumimoji="0" lang="ru-RU" sz="28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2"/>
          <p:cNvSpPr txBox="1">
            <a:spLocks/>
          </p:cNvSpPr>
          <p:nvPr/>
        </p:nvSpPr>
        <p:spPr>
          <a:xfrm>
            <a:off x="179512" y="5301208"/>
            <a:ext cx="7992888" cy="432048"/>
          </a:xfrm>
          <a:prstGeom prst="rect">
            <a:avLst/>
          </a:prstGeom>
        </p:spPr>
        <p:txBody>
          <a:bodyPr vert="horz">
            <a:normAutofit fontScale="40000" lnSpcReduction="20000"/>
          </a:bodyPr>
          <a:lstStyle/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marR="0" lvl="0" indent="-384048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endParaRPr kumimoji="0" lang="ru-RU" sz="28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50" name="Picture 2" descr="Фото двери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620688"/>
            <a:ext cx="2495550" cy="3571875"/>
          </a:xfrm>
          <a:prstGeom prst="rect">
            <a:avLst/>
          </a:prstGeom>
          <a:noFill/>
        </p:spPr>
      </p:pic>
      <p:pic>
        <p:nvPicPr>
          <p:cNvPr id="2052" name="Picture 4" descr="Фото двер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8024" y="1124744"/>
            <a:ext cx="2352675" cy="2362200"/>
          </a:xfrm>
          <a:prstGeom prst="rect">
            <a:avLst/>
          </a:prstGeom>
          <a:noFill/>
        </p:spPr>
      </p:pic>
      <p:sp>
        <p:nvSpPr>
          <p:cNvPr id="6" name="Подзаголовок 2"/>
          <p:cNvSpPr txBox="1">
            <a:spLocks/>
          </p:cNvSpPr>
          <p:nvPr/>
        </p:nvSpPr>
        <p:spPr>
          <a:xfrm>
            <a:off x="1763688" y="4293096"/>
            <a:ext cx="5040560" cy="1296144"/>
          </a:xfrm>
          <a:prstGeom prst="rect">
            <a:avLst/>
          </a:prstGeom>
        </p:spPr>
        <p:txBody>
          <a:bodyPr vert="horz">
            <a:normAutofit fontScale="70000" lnSpcReduction="20000"/>
          </a:bodyPr>
          <a:lstStyle/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endParaRPr kumimoji="0" lang="en-US" sz="33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ru-RU" sz="2900" dirty="0" smtClean="0">
                <a:latin typeface="Times New Roman" pitchFamily="18" charset="0"/>
                <a:cs typeface="Times New Roman" pitchFamily="18" charset="0"/>
              </a:rPr>
              <a:t>Рисунок 1 – Ограждения для станков</a:t>
            </a:r>
            <a:endParaRPr kumimoji="0" lang="ru-RU" sz="31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ru-RU" sz="3100" dirty="0" smtClean="0">
                <a:latin typeface="Times New Roman" pitchFamily="18" charset="0"/>
                <a:cs typeface="Times New Roman" pitchFamily="18" charset="0"/>
              </a:rPr>
              <a:t>	</a:t>
            </a:r>
            <a:endParaRPr kumimoji="0" lang="ru-RU" sz="31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lang="ru-RU" sz="2400" dirty="0" smtClean="0"/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endParaRPr kumimoji="0" lang="ru-RU" sz="28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4797152"/>
            <a:ext cx="7467600" cy="6046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/>
              <a:t>Рисунок 2 – Оградительные механизмы станка МД250</a:t>
            </a:r>
            <a:r>
              <a:rPr lang="en-US" sz="2000" dirty="0" smtClean="0"/>
              <a:t>/</a:t>
            </a:r>
            <a:r>
              <a:rPr lang="ru-RU" sz="2000" dirty="0" smtClean="0"/>
              <a:t>85</a:t>
            </a:r>
            <a:endParaRPr lang="ru-RU" sz="2000" dirty="0"/>
          </a:p>
        </p:txBody>
      </p:sp>
      <p:pic>
        <p:nvPicPr>
          <p:cNvPr id="4" name="Picture 2" descr="http://mirsmazok.ru/images/derevoobrstanok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764704"/>
            <a:ext cx="3810000" cy="381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3068960"/>
            <a:ext cx="7272808" cy="3629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                  Рисунок 3 - Защитная кабина станка.</a:t>
            </a:r>
          </a:p>
          <a:p>
            <a:pPr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	Защитная кабина станка UNIVERSAL 600 для 4-сторонней</a:t>
            </a:r>
          </a:p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обработки   клееного   бруса   накрывает    станок   полностью.</a:t>
            </a:r>
          </a:p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Обеспечивает  безопасную  эксплуатацию  станка  и   снижает</a:t>
            </a:r>
          </a:p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уровень шума. Увеличивает эффективность системы аспирации.</a:t>
            </a:r>
          </a:p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Панель электронного управления выносится на фронтальную</a:t>
            </a:r>
          </a:p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стенку кабины.</a:t>
            </a:r>
          </a:p>
          <a:p>
            <a:pPr algn="just">
              <a:buNone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62" name="Picture 2" descr="http://www.stankoff.ru/specials_photo/universal_clip_image017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620688"/>
            <a:ext cx="3086100" cy="2362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2"/>
          <p:cNvSpPr txBox="1">
            <a:spLocks/>
          </p:cNvSpPr>
          <p:nvPr/>
        </p:nvSpPr>
        <p:spPr>
          <a:xfrm>
            <a:off x="179512" y="188640"/>
            <a:ext cx="7992888" cy="5544616"/>
          </a:xfrm>
          <a:prstGeom prst="rect">
            <a:avLst/>
          </a:prstGeom>
        </p:spPr>
        <p:txBody>
          <a:bodyPr vert="horz">
            <a:normAutofit fontScale="92500"/>
          </a:bodyPr>
          <a:lstStyle/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движущиеся части производственного оборудования, являющиеся источником травмоопасности, должны быть ограждены или расположены так, чтобы исключалась возможность прикасания к ним работающего или использованы другие средства (например, двуручное управление), предотвращающие травмирование</a:t>
            </a: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конструкция зажимных, захватывающих, подъемных и загрузочных устройств или их приводов должна исключать возможность возникновения опасности при полном или частичном самопроизвольном прекращении подачи энергии, а также исключать самопроизвольное изменение состояния этих устройств при восстановлении подачи энергии</a:t>
            </a: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	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endParaRPr kumimoji="0" lang="ru-RU" sz="28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2"/>
          <p:cNvSpPr txBox="1">
            <a:spLocks/>
          </p:cNvSpPr>
          <p:nvPr/>
        </p:nvSpPr>
        <p:spPr>
          <a:xfrm>
            <a:off x="251520" y="4509120"/>
            <a:ext cx="7992888" cy="1152128"/>
          </a:xfrm>
          <a:prstGeom prst="rect">
            <a:avLst/>
          </a:prstGeom>
        </p:spPr>
        <p:txBody>
          <a:bodyPr vert="horz">
            <a:normAutofit fontScale="92500"/>
          </a:bodyPr>
          <a:lstStyle/>
          <a:p>
            <a:pPr marL="420624" lvl="0" indent="-384048" algn="ctr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Рисунок 4 – Станок торцовочный ЦКБ 40.01. Двуручное управление</a:t>
            </a:r>
          </a:p>
          <a:p>
            <a:pPr marL="420624" lvl="0" indent="-384048" algn="ctr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endParaRPr kumimoji="0" lang="ru-RU" sz="28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5842" name="Picture 2" descr="http://www.teharsenal.ru/catalog/torec/images/ckb_4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908720"/>
            <a:ext cx="3057525" cy="30003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2"/>
          <p:cNvSpPr txBox="1">
            <a:spLocks/>
          </p:cNvSpPr>
          <p:nvPr/>
        </p:nvSpPr>
        <p:spPr>
          <a:xfrm>
            <a:off x="179512" y="188640"/>
            <a:ext cx="7992888" cy="6048672"/>
          </a:xfrm>
          <a:prstGeom prst="rect">
            <a:avLst/>
          </a:prstGeom>
        </p:spPr>
        <p:txBody>
          <a:bodyPr vert="horz">
            <a:normAutofit fontScale="77500" lnSpcReduction="20000"/>
          </a:bodyPr>
          <a:lstStyle/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элементы конструкции производственного оборудования не должны иметь острых углов, кромок, заусенцев и поверхностей с неровностями, представляющими опасность </a:t>
            </a:r>
            <a:r>
              <a:rPr lang="ru-RU" sz="2600" dirty="0" err="1" smtClean="0">
                <a:latin typeface="Times New Roman" pitchFamily="18" charset="0"/>
                <a:cs typeface="Times New Roman" pitchFamily="18" charset="0"/>
              </a:rPr>
              <a:t>травмирования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работающих, если их наличие не определяется функциональным назначением этих элементов. В последнем случае должны быть предусмотрены меры защиты работающих</a:t>
            </a: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части производственного оборудования (в том числе </a:t>
            </a:r>
            <a:r>
              <a:rPr lang="ru-RU" sz="2600" dirty="0" err="1" smtClean="0">
                <a:latin typeface="Times New Roman" pitchFamily="18" charset="0"/>
                <a:cs typeface="Times New Roman" pitchFamily="18" charset="0"/>
              </a:rPr>
              <a:t>трубо-проводы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600" dirty="0" err="1" smtClean="0">
                <a:latin typeface="Times New Roman" pitchFamily="18" charset="0"/>
                <a:cs typeface="Times New Roman" pitchFamily="18" charset="0"/>
              </a:rPr>
              <a:t>гидро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-, </a:t>
            </a:r>
            <a:r>
              <a:rPr lang="ru-RU" sz="2600" dirty="0" err="1" smtClean="0">
                <a:latin typeface="Times New Roman" pitchFamily="18" charset="0"/>
                <a:cs typeface="Times New Roman" pitchFamily="18" charset="0"/>
              </a:rPr>
              <a:t>паро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- и </a:t>
            </a:r>
            <a:r>
              <a:rPr lang="ru-RU" sz="2600" dirty="0" err="1" smtClean="0">
                <a:latin typeface="Times New Roman" pitchFamily="18" charset="0"/>
                <a:cs typeface="Times New Roman" pitchFamily="18" charset="0"/>
              </a:rPr>
              <a:t>пневмосистем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, предохранительные клапаны, кабели и др.), механическое повреждение которых может вызвать возникновение опасности, должны быть защищены ограждениями или расположены так, чтобы предотвратить их случайное повреждение работающими или средствами технического обслуживания; конструкция производственного оборудования должна исключать самопроизвольное ослабление или разъединение сборочных единиц и деталей, а также исключать перемещение подвижных частей за пределы, предусмотренные конструкцией, если это может повлечь за собой создание опасной ситуации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endParaRPr kumimoji="0" lang="ru-RU" sz="28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2"/>
          <p:cNvSpPr txBox="1">
            <a:spLocks/>
          </p:cNvSpPr>
          <p:nvPr/>
        </p:nvSpPr>
        <p:spPr>
          <a:xfrm>
            <a:off x="1331640" y="4869160"/>
            <a:ext cx="5832648" cy="1080120"/>
          </a:xfrm>
          <a:prstGeom prst="rect">
            <a:avLst/>
          </a:prstGeom>
        </p:spPr>
        <p:txBody>
          <a:bodyPr vert="horz">
            <a:normAutofit lnSpcReduction="10000"/>
          </a:bodyPr>
          <a:lstStyle/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Рисунок 5 - Токарные станки с ЧПУ с защитным</a:t>
            </a: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корпусом   предотвращают   случайные   травмы</a:t>
            </a: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рабочих.</a:t>
            </a: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endParaRPr kumimoji="0" lang="ru-RU" sz="28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7890" name="Picture 2" descr="Токарный станок с ЧПУ STYLE High Tech 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6" y="1340768"/>
            <a:ext cx="4762500" cy="29432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4048" y="4437112"/>
            <a:ext cx="3888432" cy="504056"/>
          </a:xfrm>
        </p:spPr>
        <p:txBody>
          <a:bodyPr/>
          <a:lstStyle/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Рисунок 6 - LEVIGA 30 11 RRT.</a:t>
            </a:r>
            <a:endParaRPr lang="ru-RU" dirty="0"/>
          </a:p>
        </p:txBody>
      </p:sp>
      <p:pic>
        <p:nvPicPr>
          <p:cNvPr id="43010" name="Picture 2" descr="http://www.intervesp-stanki.ru/catalogue/img/stanki/7606_SAC_LEVIGA_30_-11_RR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692696"/>
            <a:ext cx="3295650" cy="3495675"/>
          </a:xfrm>
          <a:prstGeom prst="rect">
            <a:avLst/>
          </a:prstGeom>
          <a:noFill/>
        </p:spPr>
      </p:pic>
      <p:sp>
        <p:nvSpPr>
          <p:cNvPr id="5" name="Содержимое 2"/>
          <p:cNvSpPr txBox="1">
            <a:spLocks/>
          </p:cNvSpPr>
          <p:nvPr/>
        </p:nvSpPr>
        <p:spPr>
          <a:xfrm>
            <a:off x="107504" y="692696"/>
            <a:ext cx="4824536" cy="54006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algn="just">
              <a:buNone/>
            </a:pP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Шлифовально-калибровальное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оборудование 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LEVIGA 30 11 RRT.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Аварийная остановка станка происходит в 3х случаях от трех устройств: остановка в случае недостаточного натяжения, остановка в случае повреждения шлифовальной ленты, остановка в случае недостаточного давления сжатого воздуха в контуре. Эти устройства немедленно приводят в действие пневматический тормозной диск большого диаметра, действующий непосредственно на рабочие узлы и останавливающий их в течение 3х секунд.</a:t>
            </a:r>
          </a:p>
          <a:p>
            <a:pPr>
              <a:buNone/>
            </a:pP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259632" y="3429000"/>
            <a:ext cx="6131024" cy="46064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Рисунок 7 – Станок с ножным аварийным тормозом.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4034" name="Picture 2" descr="http://www.metalweb.ru/data/announcementImg/1526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88641"/>
            <a:ext cx="4824536" cy="3192234"/>
          </a:xfrm>
          <a:prstGeom prst="rect">
            <a:avLst/>
          </a:prstGeom>
          <a:noFill/>
        </p:spPr>
      </p:pic>
      <p:sp>
        <p:nvSpPr>
          <p:cNvPr id="5" name="Содержимое 2"/>
          <p:cNvSpPr txBox="1">
            <a:spLocks/>
          </p:cNvSpPr>
          <p:nvPr/>
        </p:nvSpPr>
        <p:spPr>
          <a:xfrm>
            <a:off x="395536" y="4149080"/>
            <a:ext cx="6624736" cy="15841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420624" indent="-384048" algn="just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Токарно-винторезный</a:t>
            </a:r>
            <a:r>
              <a:rPr kumimoji="0" lang="ru-RU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станок 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CS6166B</a:t>
            </a:r>
            <a:r>
              <a:rPr kumimoji="0" lang="ru-RU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показан на рисунке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indent="-384048" algn="just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kumimoji="0" lang="ru-RU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7. Этот  станок  оснащен  аварийной  тормозной  педалью.</a:t>
            </a:r>
          </a:p>
          <a:p>
            <a:pPr marL="420624" indent="-384048" algn="just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kumimoji="0" lang="ru-RU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В случае нажатия на неё, станок останавливается за 0,65</a:t>
            </a:r>
          </a:p>
          <a:p>
            <a:pPr marL="420624" indent="-384048" algn="just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kumimoji="0" lang="ru-RU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секунды.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2"/>
          <p:cNvSpPr txBox="1">
            <a:spLocks/>
          </p:cNvSpPr>
          <p:nvPr/>
        </p:nvSpPr>
        <p:spPr>
          <a:xfrm>
            <a:off x="179512" y="188640"/>
            <a:ext cx="7992888" cy="60486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производственное оборудование должно быть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пожаровзры-вобезопасным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 предусмотренных условиях эксплуатации;</a:t>
            </a: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конструкция производственного оборудования, приводимого в действие электрической энергией, должна включать устройства (средства) для обеспечения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электробезопасности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производственное оборудование, действующее с помощью неэлектрической энергии (например, гидравлической, пневматической, энергии пара), должно быть выполнено так, чтобы все опасности, вызываемые этими видами энергии, были исключены</a:t>
            </a:r>
            <a:endParaRPr kumimoji="0" lang="ru-RU" sz="24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412776"/>
            <a:ext cx="3059832" cy="115212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Рисунок 8 – Станок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лоботокарный станок</a:t>
            </a:r>
          </a:p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1М692 Ф3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Содержимое 2"/>
          <p:cNvSpPr txBox="1">
            <a:spLocks/>
          </p:cNvSpPr>
          <p:nvPr/>
        </p:nvSpPr>
        <p:spPr>
          <a:xfrm>
            <a:off x="395536" y="4149080"/>
            <a:ext cx="7344816" cy="15841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420624" indent="-384048" algn="just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Управление     станком     1М692     Ф3     дистанционное.</a:t>
            </a:r>
          </a:p>
          <a:p>
            <a:pPr marL="420624" indent="-384048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Соединение с блоком управления осуществляется по сети. </a:t>
            </a:r>
          </a:p>
          <a:p>
            <a:pPr marL="420624" indent="-384048" algn="just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Рабочий</a:t>
            </a:r>
            <a:r>
              <a:rPr kumimoji="0" lang="ru-RU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  управляет    ходом    работы    с    безопасного</a:t>
            </a:r>
          </a:p>
          <a:p>
            <a:pPr marL="420624" indent="-384048" algn="just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kumimoji="0" lang="ru-RU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расстояния. 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45058" name="Picture 2" descr="Лоботокарный станок 1M69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404664"/>
            <a:ext cx="4536504" cy="340557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331640" y="3356992"/>
            <a:ext cx="6408712" cy="7920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Рисунок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– Станок для резки каменных плит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MBS3000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Содержимое 2"/>
          <p:cNvSpPr txBox="1">
            <a:spLocks/>
          </p:cNvSpPr>
          <p:nvPr/>
        </p:nvSpPr>
        <p:spPr>
          <a:xfrm>
            <a:off x="395536" y="4293096"/>
            <a:ext cx="6624736" cy="194421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420624" indent="-384048" algn="just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Управление       станком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MBS300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0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дистанционное.</a:t>
            </a:r>
          </a:p>
          <a:p>
            <a:pPr marL="420624" indent="-384048" algn="just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Соединение    с    блоком    управления    может    быть</a:t>
            </a:r>
          </a:p>
          <a:p>
            <a:pPr marL="420624" indent="-384048" algn="just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организованно беспроводным и проводным способами. </a:t>
            </a:r>
          </a:p>
          <a:p>
            <a:pPr marL="420624" indent="-384048" algn="just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Управление   с   безопасного   расстояния   исключает</a:t>
            </a:r>
          </a:p>
          <a:p>
            <a:pPr marL="420624" indent="-384048" algn="just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травмирование рабочего. 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46082" name="Picture 2" descr="MBS 30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18491"/>
            <a:ext cx="5734050" cy="32385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717033"/>
            <a:ext cx="7499176" cy="5760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Рисунок 10 - Токарный станок с системой ЧПУ SE 820 NUMERIC</a:t>
            </a:r>
          </a:p>
          <a:p>
            <a:pPr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7106" name="Picture 2" descr="http://www.asw.ru/images/trens/se820numeri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16632"/>
            <a:ext cx="5256584" cy="3452473"/>
          </a:xfrm>
          <a:prstGeom prst="rect">
            <a:avLst/>
          </a:prstGeom>
          <a:noFill/>
        </p:spPr>
      </p:pic>
      <p:sp>
        <p:nvSpPr>
          <p:cNvPr id="5" name="Содержимое 2"/>
          <p:cNvSpPr txBox="1">
            <a:spLocks/>
          </p:cNvSpPr>
          <p:nvPr/>
        </p:nvSpPr>
        <p:spPr>
          <a:xfrm>
            <a:off x="395536" y="4437112"/>
            <a:ext cx="7499176" cy="194421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На станке реализована система</a:t>
            </a:r>
            <a:r>
              <a:rPr kumimoji="0" lang="ru-RU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контроля и сигнализации.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Система</a:t>
            </a: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сигнализации сообщает о возможных проблемах.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95736" y="3717033"/>
            <a:ext cx="4762872" cy="5760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Рисунок 10 – Сверлильный станок</a:t>
            </a:r>
          </a:p>
          <a:p>
            <a:pPr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Содержимое 2"/>
          <p:cNvSpPr txBox="1">
            <a:spLocks/>
          </p:cNvSpPr>
          <p:nvPr/>
        </p:nvSpPr>
        <p:spPr>
          <a:xfrm>
            <a:off x="395536" y="4437112"/>
            <a:ext cx="7499176" cy="1944216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/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	Все   виды   контроля   безопасности   реализованы   системой</a:t>
            </a: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сигнализации   и   остановки  станка:  машина будет остановлена,</a:t>
            </a: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если дрель  перерывов  сигнализирует  о  неисправности того или</a:t>
            </a: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иного объекта, также при других чрезвычайных ситуациях будет</a:t>
            </a: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произведен останов, чтобы исключить механические повреждения</a:t>
            </a: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машины и рабочего.</a:t>
            </a:r>
            <a:r>
              <a:rPr lang="ru-RU" sz="2000" dirty="0" smtClean="0"/>
              <a:t> 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48130" name="Picture 2" descr="http://www.kitaitorg.ru/uploads/images/goods/1268620893_894950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188641"/>
            <a:ext cx="4392488" cy="32943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2"/>
          <p:cNvSpPr txBox="1">
            <a:spLocks/>
          </p:cNvSpPr>
          <p:nvPr/>
        </p:nvSpPr>
        <p:spPr>
          <a:xfrm>
            <a:off x="179512" y="188640"/>
            <a:ext cx="7992888" cy="60486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>
              <a:spcBef>
                <a:spcPct val="20000"/>
              </a:spcBef>
              <a:buClr>
                <a:schemeClr val="accent1"/>
              </a:buClr>
              <a:buSzPct val="80000"/>
              <a:defRPr/>
            </a:pPr>
            <a:endParaRPr lang="ru-RU" sz="3100" dirty="0" smtClean="0">
              <a:latin typeface="Times New Roman" pitchFamily="18" charset="0"/>
              <a:cs typeface="Times New Roman" pitchFamily="18" charset="0"/>
            </a:endParaRP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конструкция производственного оборудования и (или) его размещение должны исключать контакт его горючих частей с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пожаровзрывоопасными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веществами, если такой контакт может явиться причиной пожара или взрыва, а также исключать возможность соприкосновения работника с горячими или переохлажденными частями или нахождение в непосредственной близости от таких частей, если это может повлечь за собой травмирование, перегрев или переохлаждение работника</a:t>
            </a:r>
            <a:endParaRPr kumimoji="0" lang="ru-RU" sz="24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http://mega-faza.ru/uploads/posts/2009-11/1258469078_siz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548680"/>
            <a:ext cx="4464496" cy="2741480"/>
          </a:xfrm>
          <a:prstGeom prst="rect">
            <a:avLst/>
          </a:prstGeom>
          <a:noFill/>
        </p:spPr>
      </p:pic>
      <p:pic>
        <p:nvPicPr>
          <p:cNvPr id="49156" name="Picture 4" descr="http://www.orient-pro.com/pics/articles/m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476672"/>
            <a:ext cx="1666333" cy="1486728"/>
          </a:xfrm>
          <a:prstGeom prst="rect">
            <a:avLst/>
          </a:prstGeom>
          <a:noFill/>
        </p:spPr>
      </p:pic>
      <p:pic>
        <p:nvPicPr>
          <p:cNvPr id="49158" name="Picture 6" descr="http://www.ukrsiz.com/szopv/szopv-img/pb-2b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33664" y="1988840"/>
            <a:ext cx="1970584" cy="1372840"/>
          </a:xfrm>
          <a:prstGeom prst="rect">
            <a:avLst/>
          </a:prstGeom>
          <a:noFill/>
        </p:spPr>
      </p:pic>
      <p:sp>
        <p:nvSpPr>
          <p:cNvPr id="7" name="Содержимое 2"/>
          <p:cNvSpPr>
            <a:spLocks noGrp="1"/>
          </p:cNvSpPr>
          <p:nvPr>
            <p:ph idx="1"/>
          </p:nvPr>
        </p:nvSpPr>
        <p:spPr>
          <a:xfrm>
            <a:off x="1547664" y="3645024"/>
            <a:ext cx="5760640" cy="43204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Рисунок 11 – Индивидуальные средства защиты</a:t>
            </a:r>
          </a:p>
          <a:p>
            <a:pPr>
              <a:buNone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Содержимое 2"/>
          <p:cNvSpPr txBox="1">
            <a:spLocks/>
          </p:cNvSpPr>
          <p:nvPr/>
        </p:nvSpPr>
        <p:spPr>
          <a:xfrm>
            <a:off x="755576" y="4365104"/>
            <a:ext cx="6984776" cy="151216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Для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определенного оборудования необходимы специальные</a:t>
            </a: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средства индивидуальной защиты, которые определены при</a:t>
            </a: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работе с конкретным оборудованием.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467544" y="260648"/>
            <a:ext cx="7272808" cy="936104"/>
          </a:xfrm>
          <a:prstGeom prst="rect">
            <a:avLst/>
          </a:prstGeom>
        </p:spPr>
        <p:txBody>
          <a:bodyPr vert="horz" lIns="45720" rIns="45720" anchor="ctr">
            <a:normAutofit fontScale="6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600" noProof="0" dirty="0" smtClean="0">
                <a:latin typeface="+mj-lt"/>
                <a:ea typeface="+mj-ea"/>
                <a:cs typeface="+mj-cs"/>
              </a:rPr>
              <a:t>Требования безопасности к оборудованию</a:t>
            </a:r>
            <a:endParaRPr kumimoji="0" lang="ru-RU" sz="46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323528" y="1628800"/>
            <a:ext cx="7992888" cy="266429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kumimoji="0" lang="ru-RU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оградительные сооружения</a:t>
            </a: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предохранительные средства защиты оборудования</a:t>
            </a: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kumimoji="0" lang="ru-RU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тормозные средства защиты</a:t>
            </a: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использование средств дистанционного управления</a:t>
            </a: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kumimoji="0" lang="ru-RU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использование средств автоматического контроля и сигнализации</a:t>
            </a:r>
          </a:p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  <a:defRPr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использование средств индивидуальной защиты</a:t>
            </a:r>
            <a:endParaRPr kumimoji="0" lang="ru-RU" sz="24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593981" y="2636912"/>
            <a:ext cx="7272808" cy="936104"/>
          </a:xfrm>
          <a:prstGeom prst="rect">
            <a:avLst/>
          </a:prstGeom>
        </p:spPr>
        <p:txBody>
          <a:bodyPr vert="horz" lIns="45720" rIns="45720" anchor="ctr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600" dirty="0" smtClean="0">
                <a:latin typeface="+mj-lt"/>
                <a:ea typeface="+mj-ea"/>
                <a:cs typeface="+mj-cs"/>
              </a:rPr>
              <a:t>Спасибо за внимание!  </a:t>
            </a:r>
            <a:endParaRPr kumimoji="0" lang="ru-RU" sz="46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хническая">
  <a:themeElements>
    <a:clrScheme name="Другая 14">
      <a:dk1>
        <a:srgbClr val="2E6ED6"/>
      </a:dk1>
      <a:lt1>
        <a:srgbClr val="000000"/>
      </a:lt1>
      <a:dk2>
        <a:srgbClr val="FFFFFF"/>
      </a:dk2>
      <a:lt2>
        <a:srgbClr val="427CDA"/>
      </a:lt2>
      <a:accent1>
        <a:srgbClr val="427CDA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427CDA"/>
      </a:accent6>
      <a:hlink>
        <a:srgbClr val="25AAD9"/>
      </a:hlink>
      <a:folHlink>
        <a:srgbClr val="A116E0"/>
      </a:folHlink>
    </a:clrScheme>
    <a:fontScheme name="Техническая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Техниче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830</TotalTime>
  <Words>990</Words>
  <Application>Microsoft Office PowerPoint</Application>
  <PresentationFormat>Экран (4:3)</PresentationFormat>
  <Paragraphs>123</Paragraphs>
  <Slides>22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Arial</vt:lpstr>
      <vt:lpstr>Calibri</vt:lpstr>
      <vt:lpstr>Franklin Gothic Book</vt:lpstr>
      <vt:lpstr>Times New Roman</vt:lpstr>
      <vt:lpstr>Wingdings 2</vt:lpstr>
      <vt:lpstr>Техническая</vt:lpstr>
      <vt:lpstr>ТРЕБОВАНИЯ БЕЗОПАСНОСТИ К ОБОРУДОВАНИЮ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ignatov_oleg</dc:creator>
  <cp:lastModifiedBy>Пользователь</cp:lastModifiedBy>
  <cp:revision>84</cp:revision>
  <dcterms:created xsi:type="dcterms:W3CDTF">2011-12-11T12:52:45Z</dcterms:created>
  <dcterms:modified xsi:type="dcterms:W3CDTF">2026-09-04T14:56:59Z</dcterms:modified>
</cp:coreProperties>
</file>