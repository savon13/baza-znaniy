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9" r:id="rId1"/>
  </p:sldMasterIdLst>
  <p:notesMasterIdLst>
    <p:notesMasterId r:id="rId83"/>
  </p:notesMasterIdLst>
  <p:handoutMasterIdLst>
    <p:handoutMasterId r:id="rId84"/>
  </p:handoutMasterIdLst>
  <p:sldIdLst>
    <p:sldId id="650" r:id="rId2"/>
    <p:sldId id="651" r:id="rId3"/>
    <p:sldId id="652" r:id="rId4"/>
    <p:sldId id="653" r:id="rId5"/>
    <p:sldId id="654" r:id="rId6"/>
    <p:sldId id="655" r:id="rId7"/>
    <p:sldId id="656" r:id="rId8"/>
    <p:sldId id="657" r:id="rId9"/>
    <p:sldId id="658" r:id="rId10"/>
    <p:sldId id="659" r:id="rId11"/>
    <p:sldId id="660" r:id="rId12"/>
    <p:sldId id="661" r:id="rId13"/>
    <p:sldId id="662" r:id="rId14"/>
    <p:sldId id="663" r:id="rId15"/>
    <p:sldId id="664" r:id="rId16"/>
    <p:sldId id="665" r:id="rId17"/>
    <p:sldId id="666" r:id="rId18"/>
    <p:sldId id="667" r:id="rId19"/>
    <p:sldId id="668" r:id="rId20"/>
    <p:sldId id="669" r:id="rId21"/>
    <p:sldId id="670" r:id="rId22"/>
    <p:sldId id="671" r:id="rId23"/>
    <p:sldId id="672" r:id="rId24"/>
    <p:sldId id="673" r:id="rId25"/>
    <p:sldId id="674" r:id="rId26"/>
    <p:sldId id="675" r:id="rId27"/>
    <p:sldId id="676" r:id="rId28"/>
    <p:sldId id="677" r:id="rId29"/>
    <p:sldId id="678" r:id="rId30"/>
    <p:sldId id="679" r:id="rId31"/>
    <p:sldId id="680" r:id="rId32"/>
    <p:sldId id="681" r:id="rId33"/>
    <p:sldId id="682" r:id="rId34"/>
    <p:sldId id="683" r:id="rId35"/>
    <p:sldId id="684" r:id="rId36"/>
    <p:sldId id="685" r:id="rId37"/>
    <p:sldId id="686" r:id="rId38"/>
    <p:sldId id="687" r:id="rId39"/>
    <p:sldId id="688" r:id="rId40"/>
    <p:sldId id="689" r:id="rId41"/>
    <p:sldId id="690" r:id="rId42"/>
    <p:sldId id="691" r:id="rId43"/>
    <p:sldId id="692" r:id="rId44"/>
    <p:sldId id="693" r:id="rId45"/>
    <p:sldId id="694" r:id="rId46"/>
    <p:sldId id="695" r:id="rId47"/>
    <p:sldId id="696" r:id="rId48"/>
    <p:sldId id="697" r:id="rId49"/>
    <p:sldId id="698" r:id="rId50"/>
    <p:sldId id="699" r:id="rId51"/>
    <p:sldId id="700" r:id="rId52"/>
    <p:sldId id="701" r:id="rId53"/>
    <p:sldId id="702" r:id="rId54"/>
    <p:sldId id="703" r:id="rId55"/>
    <p:sldId id="705" r:id="rId56"/>
    <p:sldId id="706" r:id="rId57"/>
    <p:sldId id="707" r:id="rId58"/>
    <p:sldId id="708" r:id="rId59"/>
    <p:sldId id="709" r:id="rId60"/>
    <p:sldId id="710" r:id="rId61"/>
    <p:sldId id="711" r:id="rId62"/>
    <p:sldId id="712" r:id="rId63"/>
    <p:sldId id="713" r:id="rId64"/>
    <p:sldId id="714" r:id="rId65"/>
    <p:sldId id="715" r:id="rId66"/>
    <p:sldId id="716" r:id="rId67"/>
    <p:sldId id="717" r:id="rId68"/>
    <p:sldId id="718" r:id="rId69"/>
    <p:sldId id="719" r:id="rId70"/>
    <p:sldId id="720" r:id="rId71"/>
    <p:sldId id="721" r:id="rId72"/>
    <p:sldId id="722" r:id="rId73"/>
    <p:sldId id="723" r:id="rId74"/>
    <p:sldId id="724" r:id="rId75"/>
    <p:sldId id="725" r:id="rId76"/>
    <p:sldId id="726" r:id="rId77"/>
    <p:sldId id="727" r:id="rId78"/>
    <p:sldId id="728" r:id="rId79"/>
    <p:sldId id="729" r:id="rId80"/>
    <p:sldId id="730" r:id="rId81"/>
    <p:sldId id="731" r:id="rId82"/>
  </p:sldIdLst>
  <p:sldSz cx="9144000" cy="6858000" type="screen4x3"/>
  <p:notesSz cx="6797675" cy="9926638"/>
  <p:defaultTextStyle>
    <a:defPPr>
      <a:defRPr lang="ru-RU"/>
    </a:defPPr>
    <a:lvl1pPr algn="l" defTabSz="457200" rtl="0" fontAlgn="base">
      <a:spcBef>
        <a:spcPct val="0"/>
      </a:spcBef>
      <a:spcAft>
        <a:spcPct val="0"/>
      </a:spcAft>
      <a:defRPr kumimoji="1" sz="1400" kern="1200">
        <a:solidFill>
          <a:srgbClr val="002060"/>
        </a:solidFill>
        <a:latin typeface="Times New Roman" pitchFamily="18" charset="0"/>
        <a:ea typeface="+mn-ea"/>
        <a:cs typeface="Arial" charset="0"/>
      </a:defRPr>
    </a:lvl1pPr>
    <a:lvl2pPr marL="457200" algn="l" defTabSz="457200" rtl="0" fontAlgn="base">
      <a:spcBef>
        <a:spcPct val="0"/>
      </a:spcBef>
      <a:spcAft>
        <a:spcPct val="0"/>
      </a:spcAft>
      <a:defRPr kumimoji="1" sz="1400" kern="1200">
        <a:solidFill>
          <a:srgbClr val="002060"/>
        </a:solidFill>
        <a:latin typeface="Times New Roman" pitchFamily="18" charset="0"/>
        <a:ea typeface="+mn-ea"/>
        <a:cs typeface="Arial" charset="0"/>
      </a:defRPr>
    </a:lvl2pPr>
    <a:lvl3pPr marL="914400" algn="l" defTabSz="457200" rtl="0" fontAlgn="base">
      <a:spcBef>
        <a:spcPct val="0"/>
      </a:spcBef>
      <a:spcAft>
        <a:spcPct val="0"/>
      </a:spcAft>
      <a:defRPr kumimoji="1" sz="1400" kern="1200">
        <a:solidFill>
          <a:srgbClr val="002060"/>
        </a:solidFill>
        <a:latin typeface="Times New Roman" pitchFamily="18" charset="0"/>
        <a:ea typeface="+mn-ea"/>
        <a:cs typeface="Arial" charset="0"/>
      </a:defRPr>
    </a:lvl3pPr>
    <a:lvl4pPr marL="1371600" algn="l" defTabSz="457200" rtl="0" fontAlgn="base">
      <a:spcBef>
        <a:spcPct val="0"/>
      </a:spcBef>
      <a:spcAft>
        <a:spcPct val="0"/>
      </a:spcAft>
      <a:defRPr kumimoji="1" sz="1400" kern="1200">
        <a:solidFill>
          <a:srgbClr val="002060"/>
        </a:solidFill>
        <a:latin typeface="Times New Roman" pitchFamily="18" charset="0"/>
        <a:ea typeface="+mn-ea"/>
        <a:cs typeface="Arial" charset="0"/>
      </a:defRPr>
    </a:lvl4pPr>
    <a:lvl5pPr marL="1828800" algn="l" defTabSz="457200" rtl="0" fontAlgn="base">
      <a:spcBef>
        <a:spcPct val="0"/>
      </a:spcBef>
      <a:spcAft>
        <a:spcPct val="0"/>
      </a:spcAft>
      <a:defRPr kumimoji="1" sz="1400" kern="1200">
        <a:solidFill>
          <a:srgbClr val="002060"/>
        </a:solidFill>
        <a:latin typeface="Times New Roman" pitchFamily="18" charset="0"/>
        <a:ea typeface="+mn-ea"/>
        <a:cs typeface="Arial" charset="0"/>
      </a:defRPr>
    </a:lvl5pPr>
    <a:lvl6pPr marL="2286000" algn="l" defTabSz="914400" rtl="0" eaLnBrk="1" latinLnBrk="0" hangingPunct="1">
      <a:defRPr kumimoji="1" sz="1400" kern="1200">
        <a:solidFill>
          <a:srgbClr val="002060"/>
        </a:solidFill>
        <a:latin typeface="Times New Roman" pitchFamily="18" charset="0"/>
        <a:ea typeface="+mn-ea"/>
        <a:cs typeface="Arial" charset="0"/>
      </a:defRPr>
    </a:lvl6pPr>
    <a:lvl7pPr marL="2743200" algn="l" defTabSz="914400" rtl="0" eaLnBrk="1" latinLnBrk="0" hangingPunct="1">
      <a:defRPr kumimoji="1" sz="1400" kern="1200">
        <a:solidFill>
          <a:srgbClr val="002060"/>
        </a:solidFill>
        <a:latin typeface="Times New Roman" pitchFamily="18" charset="0"/>
        <a:ea typeface="+mn-ea"/>
        <a:cs typeface="Arial" charset="0"/>
      </a:defRPr>
    </a:lvl7pPr>
    <a:lvl8pPr marL="3200400" algn="l" defTabSz="914400" rtl="0" eaLnBrk="1" latinLnBrk="0" hangingPunct="1">
      <a:defRPr kumimoji="1" sz="1400" kern="1200">
        <a:solidFill>
          <a:srgbClr val="002060"/>
        </a:solidFill>
        <a:latin typeface="Times New Roman" pitchFamily="18" charset="0"/>
        <a:ea typeface="+mn-ea"/>
        <a:cs typeface="Arial" charset="0"/>
      </a:defRPr>
    </a:lvl8pPr>
    <a:lvl9pPr marL="3657600" algn="l" defTabSz="914400" rtl="0" eaLnBrk="1" latinLnBrk="0" hangingPunct="1">
      <a:defRPr kumimoji="1" sz="1400" kern="1200">
        <a:solidFill>
          <a:srgbClr val="002060"/>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Н. Шаталина"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8381"/>
    <a:srgbClr val="26BCB8"/>
    <a:srgbClr val="E8FCFE"/>
    <a:srgbClr val="1A6B49"/>
    <a:srgbClr val="1F7D55"/>
    <a:srgbClr val="368664"/>
    <a:srgbClr val="6F6F6F"/>
    <a:srgbClr val="BE1F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Стиль из темы 1 - акцент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Светлый стиль 1 - акцент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25E5076-3810-47DD-B79F-674D7AD40C01}" styleName="Темный стиль 1 - акцент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Темный стиль 1 - акцент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Средний стиль 4 - акцент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Средний стиль 4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3"/>
  </p:normalViewPr>
  <p:slideViewPr>
    <p:cSldViewPr snapToGrid="0" snapToObjects="1">
      <p:cViewPr varScale="1">
        <p:scale>
          <a:sx n="105" d="100"/>
          <a:sy n="105" d="100"/>
        </p:scale>
        <p:origin x="171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kumimoji="0" sz="1200">
                <a:solidFill>
                  <a:schemeClr val="tx1"/>
                </a:solidFill>
                <a:latin typeface="+mn-lt"/>
                <a:ea typeface="+mn-ea"/>
                <a:cs typeface="+mn-cs"/>
              </a:defRPr>
            </a:lvl1pPr>
          </a:lstStyle>
          <a:p>
            <a:pPr>
              <a:defRPr/>
            </a:pPr>
            <a:endParaRPr lang="ru-RU"/>
          </a:p>
        </p:txBody>
      </p:sp>
      <p:sp>
        <p:nvSpPr>
          <p:cNvPr id="3" name="Дата 2"/>
          <p:cNvSpPr>
            <a:spLocks noGrp="1"/>
          </p:cNvSpPr>
          <p:nvPr>
            <p:ph type="dt" sz="quarter" idx="1"/>
          </p:nvPr>
        </p:nvSpPr>
        <p:spPr>
          <a:xfrm>
            <a:off x="3849688" y="0"/>
            <a:ext cx="2946400" cy="496888"/>
          </a:xfrm>
          <a:prstGeom prst="rect">
            <a:avLst/>
          </a:prstGeom>
        </p:spPr>
        <p:txBody>
          <a:bodyPr vert="horz" wrap="square" lIns="91440" tIns="45720" rIns="91440" bIns="45720" numCol="1" anchor="t" anchorCtr="0" compatLnSpc="1">
            <a:prstTxWarp prst="textNoShape">
              <a:avLst/>
            </a:prstTxWarp>
          </a:bodyPr>
          <a:lstStyle>
            <a:lvl1pPr algn="r">
              <a:defRPr kumimoji="0" sz="1200">
                <a:solidFill>
                  <a:schemeClr val="tx1"/>
                </a:solidFill>
                <a:latin typeface="Calibri" pitchFamily="34" charset="0"/>
                <a:cs typeface="Arial" pitchFamily="34" charset="0"/>
              </a:defRPr>
            </a:lvl1pPr>
          </a:lstStyle>
          <a:p>
            <a:pPr>
              <a:defRPr/>
            </a:pPr>
            <a:fld id="{B5E6981B-C19A-470B-99D0-5DECCF71985E}" type="datetimeFigureOut">
              <a:rPr lang="ru-RU"/>
              <a:pPr>
                <a:defRPr/>
              </a:pPr>
              <a:t>04.09.2026</a:t>
            </a:fld>
            <a:endParaRPr lang="ru-RU"/>
          </a:p>
        </p:txBody>
      </p:sp>
      <p:sp>
        <p:nvSpPr>
          <p:cNvPr id="4" name="Нижний колонтитул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kumimoji="0" sz="1200">
                <a:solidFill>
                  <a:schemeClr val="tx1"/>
                </a:solidFill>
                <a:latin typeface="+mn-lt"/>
                <a:ea typeface="+mn-ea"/>
                <a:cs typeface="+mn-cs"/>
              </a:defRPr>
            </a:lvl1pPr>
          </a:lstStyle>
          <a:p>
            <a:pPr>
              <a:defRPr/>
            </a:pPr>
            <a:endParaRPr lang="ru-RU"/>
          </a:p>
        </p:txBody>
      </p:sp>
      <p:sp>
        <p:nvSpPr>
          <p:cNvPr id="5" name="Номер слайда 4"/>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kumimoji="0" sz="1200">
                <a:solidFill>
                  <a:schemeClr val="tx1"/>
                </a:solidFill>
                <a:latin typeface="Calibri" pitchFamily="34" charset="0"/>
                <a:cs typeface="Arial" pitchFamily="34" charset="0"/>
              </a:defRPr>
            </a:lvl1pPr>
          </a:lstStyle>
          <a:p>
            <a:pPr>
              <a:defRPr/>
            </a:pPr>
            <a:fld id="{6B65D747-67C2-4C14-AD48-A32D5C0DC8AF}" type="slidenum">
              <a:rPr lang="ru-RU"/>
              <a:pPr>
                <a:defRPr/>
              </a:pPr>
              <a:t>‹#›</a:t>
            </a:fld>
            <a:endParaRPr lang="ru-RU"/>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kumimoji="0" sz="1200">
                <a:solidFill>
                  <a:schemeClr val="tx1"/>
                </a:solidFill>
                <a:latin typeface="+mn-lt"/>
                <a:ea typeface="+mn-ea"/>
                <a:cs typeface="+mn-cs"/>
              </a:defRPr>
            </a:lvl1pPr>
          </a:lstStyle>
          <a:p>
            <a:pPr>
              <a:defRPr/>
            </a:pPr>
            <a:endParaRPr lang="ru-RU"/>
          </a:p>
        </p:txBody>
      </p:sp>
      <p:sp>
        <p:nvSpPr>
          <p:cNvPr id="3" name="Дата 2"/>
          <p:cNvSpPr>
            <a:spLocks noGrp="1"/>
          </p:cNvSpPr>
          <p:nvPr>
            <p:ph type="dt" idx="1"/>
          </p:nvPr>
        </p:nvSpPr>
        <p:spPr>
          <a:xfrm>
            <a:off x="3849688" y="0"/>
            <a:ext cx="2946400" cy="496888"/>
          </a:xfrm>
          <a:prstGeom prst="rect">
            <a:avLst/>
          </a:prstGeom>
        </p:spPr>
        <p:txBody>
          <a:bodyPr vert="horz" wrap="square" lIns="91440" tIns="45720" rIns="91440" bIns="45720" numCol="1" anchor="t" anchorCtr="0" compatLnSpc="1">
            <a:prstTxWarp prst="textNoShape">
              <a:avLst/>
            </a:prstTxWarp>
          </a:bodyPr>
          <a:lstStyle>
            <a:lvl1pPr algn="r">
              <a:defRPr kumimoji="0" sz="1200">
                <a:solidFill>
                  <a:schemeClr val="tx1"/>
                </a:solidFill>
                <a:latin typeface="Calibri" pitchFamily="34" charset="0"/>
                <a:cs typeface="Arial" pitchFamily="34" charset="0"/>
              </a:defRPr>
            </a:lvl1pPr>
          </a:lstStyle>
          <a:p>
            <a:pPr>
              <a:defRPr/>
            </a:pPr>
            <a:fld id="{8147A64A-58A0-4C3F-8F4A-8ABA9C5EDD61}" type="datetimeFigureOut">
              <a:rPr lang="ru-RU"/>
              <a:pPr>
                <a:defRPr/>
              </a:pPr>
              <a:t>04.09.2026</a:t>
            </a:fld>
            <a:endParaRPr lang="ru-RU"/>
          </a:p>
        </p:txBody>
      </p:sp>
      <p:sp>
        <p:nvSpPr>
          <p:cNvPr id="4" name="Образ слайда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Заметки 4"/>
          <p:cNvSpPr>
            <a:spLocks noGrp="1"/>
          </p:cNvSpPr>
          <p:nvPr>
            <p:ph type="body" sz="quarter" idx="3"/>
          </p:nvPr>
        </p:nvSpPr>
        <p:spPr>
          <a:xfrm>
            <a:off x="679450" y="4714875"/>
            <a:ext cx="5438775" cy="4467225"/>
          </a:xfrm>
          <a:prstGeom prst="rect">
            <a:avLst/>
          </a:prstGeom>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6" name="Нижний колонтитул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kumimoji="0" sz="1200">
                <a:solidFill>
                  <a:schemeClr val="tx1"/>
                </a:solidFill>
                <a:latin typeface="+mn-lt"/>
                <a:ea typeface="+mn-ea"/>
                <a:cs typeface="+mn-cs"/>
              </a:defRPr>
            </a:lvl1pPr>
          </a:lstStyle>
          <a:p>
            <a:pPr>
              <a:defRPr/>
            </a:pPr>
            <a:endParaRPr lang="ru-RU"/>
          </a:p>
        </p:txBody>
      </p:sp>
      <p:sp>
        <p:nvSpPr>
          <p:cNvPr id="7" name="Номер слайда 6"/>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kumimoji="0" sz="1200">
                <a:solidFill>
                  <a:schemeClr val="tx1"/>
                </a:solidFill>
                <a:latin typeface="Calibri" pitchFamily="34" charset="0"/>
                <a:cs typeface="Arial" pitchFamily="34" charset="0"/>
              </a:defRPr>
            </a:lvl1pPr>
          </a:lstStyle>
          <a:p>
            <a:pPr>
              <a:defRPr/>
            </a:pPr>
            <a:fld id="{EC178839-0BF6-41CD-A2E0-94E8338A83AF}" type="slidenum">
              <a:rPr lang="ru-RU"/>
              <a:pPr>
                <a:defRPr/>
              </a:pPr>
              <a:t>‹#›</a:t>
            </a:fld>
            <a:endParaRPr lang="ru-RU"/>
          </a:p>
        </p:txBody>
      </p:sp>
    </p:spTree>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defRPr kumimoji="1" sz="1200" kern="1200">
        <a:solidFill>
          <a:schemeClr val="tx1"/>
        </a:solidFill>
        <a:latin typeface="+mn-lt"/>
        <a:ea typeface="Arial" charset="0"/>
        <a:cs typeface="Arial" pitchFamily="34" charset="0"/>
      </a:defRPr>
    </a:lvl1pPr>
    <a:lvl2pPr marL="457200" algn="l" defTabSz="457200" rtl="0" eaLnBrk="0" fontAlgn="base" hangingPunct="0">
      <a:spcBef>
        <a:spcPct val="30000"/>
      </a:spcBef>
      <a:spcAft>
        <a:spcPct val="0"/>
      </a:spcAft>
      <a:defRPr kumimoji="1" sz="1200" kern="1200">
        <a:solidFill>
          <a:schemeClr val="tx1"/>
        </a:solidFill>
        <a:latin typeface="+mn-lt"/>
        <a:ea typeface="Arial" charset="0"/>
        <a:cs typeface="Arial" pitchFamily="34" charset="0"/>
      </a:defRPr>
    </a:lvl2pPr>
    <a:lvl3pPr marL="914400" algn="l" defTabSz="457200" rtl="0" eaLnBrk="0" fontAlgn="base" hangingPunct="0">
      <a:spcBef>
        <a:spcPct val="30000"/>
      </a:spcBef>
      <a:spcAft>
        <a:spcPct val="0"/>
      </a:spcAft>
      <a:defRPr kumimoji="1" sz="1200" kern="1200">
        <a:solidFill>
          <a:schemeClr val="tx1"/>
        </a:solidFill>
        <a:latin typeface="+mn-lt"/>
        <a:ea typeface="Arial" charset="0"/>
        <a:cs typeface="Arial" pitchFamily="34" charset="0"/>
      </a:defRPr>
    </a:lvl3pPr>
    <a:lvl4pPr marL="1371600" algn="l" defTabSz="457200" rtl="0" eaLnBrk="0" fontAlgn="base" hangingPunct="0">
      <a:spcBef>
        <a:spcPct val="30000"/>
      </a:spcBef>
      <a:spcAft>
        <a:spcPct val="0"/>
      </a:spcAft>
      <a:defRPr kumimoji="1" sz="1200" kern="1200">
        <a:solidFill>
          <a:schemeClr val="tx1"/>
        </a:solidFill>
        <a:latin typeface="+mn-lt"/>
        <a:ea typeface="Arial" charset="0"/>
        <a:cs typeface="Arial" pitchFamily="34" charset="0"/>
      </a:defRPr>
    </a:lvl4pPr>
    <a:lvl5pPr marL="1828800" algn="l" defTabSz="457200" rtl="0" eaLnBrk="0" fontAlgn="base" hangingPunct="0">
      <a:spcBef>
        <a:spcPct val="30000"/>
      </a:spcBef>
      <a:spcAft>
        <a:spcPct val="0"/>
      </a:spcAft>
      <a:defRPr kumimoji="1" sz="1200" kern="1200">
        <a:solidFill>
          <a:schemeClr val="tx1"/>
        </a:solidFill>
        <a:latin typeface="+mn-lt"/>
        <a:ea typeface="Arial" charset="0"/>
        <a:cs typeface="Arial"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txBox="1">
            <a:spLocks noGrp="1" noChangeArrowheads="1"/>
          </p:cNvSpPr>
          <p:nvPr/>
        </p:nvSpPr>
        <p:spPr bwMode="auto">
          <a:xfrm>
            <a:off x="3849688" y="9428163"/>
            <a:ext cx="2946400" cy="496887"/>
          </a:xfrm>
          <a:prstGeom prst="rect">
            <a:avLst/>
          </a:prstGeom>
          <a:noFill/>
          <a:ln w="9525">
            <a:noFill/>
            <a:miter lim="800000"/>
            <a:headEnd/>
            <a:tailEnd/>
          </a:ln>
        </p:spPr>
        <p:txBody>
          <a:bodyPr anchor="b"/>
          <a:lstStyle/>
          <a:p>
            <a:pPr algn="r"/>
            <a:fld id="{0D28308F-08B0-43A5-B858-4FB25D8E50EC}" type="slidenum">
              <a:rPr lang="ru-RU" sz="1200">
                <a:solidFill>
                  <a:schemeClr val="tx1"/>
                </a:solidFill>
                <a:latin typeface="Arial" charset="0"/>
              </a:rPr>
              <a:pPr algn="r"/>
              <a:t>17</a:t>
            </a:fld>
            <a:endParaRPr lang="ru-RU" sz="1200">
              <a:solidFill>
                <a:schemeClr val="tx1"/>
              </a:solidFill>
              <a:latin typeface="Arial" charset="0"/>
            </a:endParaRPr>
          </a:p>
        </p:txBody>
      </p:sp>
      <p:sp>
        <p:nvSpPr>
          <p:cNvPr id="1054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5475"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txBox="1">
            <a:spLocks noGrp="1" noChangeArrowheads="1"/>
          </p:cNvSpPr>
          <p:nvPr/>
        </p:nvSpPr>
        <p:spPr bwMode="auto">
          <a:xfrm>
            <a:off x="3849688" y="9428163"/>
            <a:ext cx="2946400" cy="496887"/>
          </a:xfrm>
          <a:prstGeom prst="rect">
            <a:avLst/>
          </a:prstGeom>
          <a:noFill/>
          <a:ln w="9525">
            <a:noFill/>
            <a:miter lim="800000"/>
            <a:headEnd/>
            <a:tailEnd/>
          </a:ln>
        </p:spPr>
        <p:txBody>
          <a:bodyPr anchor="b"/>
          <a:lstStyle/>
          <a:p>
            <a:pPr algn="r"/>
            <a:fld id="{E786FA6D-863E-4639-8905-258E48EB1C93}" type="slidenum">
              <a:rPr lang="ru-RU" sz="1200">
                <a:solidFill>
                  <a:schemeClr val="tx1"/>
                </a:solidFill>
                <a:latin typeface="Arial" charset="0"/>
              </a:rPr>
              <a:pPr algn="r"/>
              <a:t>18</a:t>
            </a:fld>
            <a:endParaRPr lang="ru-RU" sz="1200">
              <a:solidFill>
                <a:schemeClr val="tx1"/>
              </a:solidFill>
              <a:latin typeface="Arial" charset="0"/>
            </a:endParaRPr>
          </a:p>
        </p:txBody>
      </p:sp>
      <p:sp>
        <p:nvSpPr>
          <p:cNvPr id="1075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3"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ln>
            <a:miter lim="800000"/>
            <a:headEnd/>
            <a:tailEnd/>
          </a:ln>
        </p:spPr>
        <p:txBody>
          <a:bodyPr/>
          <a:lstStyle/>
          <a:p>
            <a:fld id="{42217870-20D3-4D5F-A191-3C9DB8599B16}" type="slidenum">
              <a:rPr lang="ru-RU" smtClean="0">
                <a:latin typeface="Arial" charset="0"/>
                <a:cs typeface="Arial" charset="0"/>
              </a:rPr>
              <a:pPr/>
              <a:t>20</a:t>
            </a:fld>
            <a:endParaRPr lang="ru-RU" smtClean="0">
              <a:latin typeface="Arial" charset="0"/>
              <a:cs typeface="Arial"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0595"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a:spLocks noGrp="1" noChangeArrowheads="1"/>
          </p:cNvSpPr>
          <p:nvPr>
            <p:ph type="sldNum" sz="quarter" idx="5"/>
          </p:nvPr>
        </p:nvSpPr>
        <p:spPr bwMode="auto">
          <a:noFill/>
          <a:ln>
            <a:miter lim="800000"/>
            <a:headEnd/>
            <a:tailEnd/>
          </a:ln>
        </p:spPr>
        <p:txBody>
          <a:bodyPr/>
          <a:lstStyle/>
          <a:p>
            <a:fld id="{B298C2EB-0BDE-45E9-89CD-8D6BEDBCEB13}" type="slidenum">
              <a:rPr lang="ru-RU" smtClean="0">
                <a:latin typeface="Arial" charset="0"/>
                <a:cs typeface="Arial" charset="0"/>
              </a:rPr>
              <a:pPr/>
              <a:t>21</a:t>
            </a:fld>
            <a:endParaRPr lang="ru-RU" smtClean="0">
              <a:latin typeface="Arial" charset="0"/>
              <a:cs typeface="Arial" charset="0"/>
            </a:endParaRPr>
          </a:p>
        </p:txBody>
      </p:sp>
      <p:sp>
        <p:nvSpPr>
          <p:cNvPr id="1126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2643" name="Rectangle 3"/>
          <p:cNvSpPr>
            <a:spLocks noGrp="1" noChangeArrowheads="1"/>
          </p:cNvSpPr>
          <p:nvPr>
            <p:ph type="body" idx="1"/>
          </p:nvPr>
        </p:nvSpPr>
        <p:spPr bwMode="auto">
          <a:xfrm>
            <a:off x="679450" y="4716463"/>
            <a:ext cx="5438775" cy="4465637"/>
          </a:xfrm>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sldNum" sz="quarter" idx="5"/>
          </p:nvPr>
        </p:nvSpPr>
        <p:spPr bwMode="auto">
          <a:noFill/>
          <a:ln>
            <a:miter lim="800000"/>
            <a:headEnd/>
            <a:tailEnd/>
          </a:ln>
        </p:spPr>
        <p:txBody>
          <a:bodyPr/>
          <a:lstStyle/>
          <a:p>
            <a:fld id="{26E2C0DD-F35E-412A-9FAE-A9EE66F905C6}" type="slidenum">
              <a:rPr lang="ru-RU" smtClean="0">
                <a:latin typeface="Arial" charset="0"/>
                <a:cs typeface="Arial" charset="0"/>
              </a:rPr>
              <a:pPr/>
              <a:t>22</a:t>
            </a:fld>
            <a:endParaRPr lang="ru-RU" smtClean="0">
              <a:latin typeface="Arial" charset="0"/>
              <a:cs typeface="Arial" charset="0"/>
            </a:endParaRPr>
          </a:p>
        </p:txBody>
      </p:sp>
      <p:sp>
        <p:nvSpPr>
          <p:cNvPr id="1146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4691" name="Rectangle 3"/>
          <p:cNvSpPr>
            <a:spLocks noGrp="1" noChangeArrowheads="1"/>
          </p:cNvSpPr>
          <p:nvPr>
            <p:ph type="body" idx="1"/>
          </p:nvPr>
        </p:nvSpPr>
        <p:spPr bwMode="auto">
          <a:xfrm>
            <a:off x="679450" y="4716463"/>
            <a:ext cx="5438775" cy="4465637"/>
          </a:xfrm>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a:spLocks noGrp="1" noChangeArrowheads="1"/>
          </p:cNvSpPr>
          <p:nvPr>
            <p:ph type="sldNum" sz="quarter" idx="5"/>
          </p:nvPr>
        </p:nvSpPr>
        <p:spPr bwMode="auto">
          <a:noFill/>
          <a:ln>
            <a:miter lim="800000"/>
            <a:headEnd/>
            <a:tailEnd/>
          </a:ln>
        </p:spPr>
        <p:txBody>
          <a:bodyPr/>
          <a:lstStyle/>
          <a:p>
            <a:fld id="{A38CEBAC-CF94-41E7-939A-132A13A60469}" type="slidenum">
              <a:rPr lang="ru-RU" smtClean="0">
                <a:latin typeface="Arial" charset="0"/>
                <a:cs typeface="Arial" charset="0"/>
              </a:rPr>
              <a:pPr/>
              <a:t>23</a:t>
            </a:fld>
            <a:endParaRPr lang="ru-RU" smtClean="0">
              <a:latin typeface="Arial" charset="0"/>
              <a:cs typeface="Arial" charset="0"/>
            </a:endParaRPr>
          </a:p>
        </p:txBody>
      </p:sp>
      <p:sp>
        <p:nvSpPr>
          <p:cNvPr id="1167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6739" name="Rectangle 3"/>
          <p:cNvSpPr>
            <a:spLocks noGrp="1" noChangeArrowheads="1"/>
          </p:cNvSpPr>
          <p:nvPr>
            <p:ph type="body" idx="1"/>
          </p:nvPr>
        </p:nvSpPr>
        <p:spPr bwMode="auto">
          <a:xfrm>
            <a:off x="679450" y="4716463"/>
            <a:ext cx="5438775" cy="4465637"/>
          </a:xfrm>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Образ слайда 1"/>
          <p:cNvSpPr>
            <a:spLocks noGrp="1" noRot="1" noChangeAspect="1" noTextEdit="1"/>
          </p:cNvSpPr>
          <p:nvPr>
            <p:ph type="sldImg"/>
          </p:nvPr>
        </p:nvSpPr>
        <p:spPr bwMode="auto">
          <a:noFill/>
          <a:ln>
            <a:solidFill>
              <a:srgbClr val="000000"/>
            </a:solidFill>
            <a:miter lim="800000"/>
            <a:headEnd/>
            <a:tailEnd/>
          </a:ln>
        </p:spPr>
      </p:sp>
      <p:sp>
        <p:nvSpPr>
          <p:cNvPr id="123906" name="Заметки 2"/>
          <p:cNvSpPr>
            <a:spLocks noGrp="1"/>
          </p:cNvSpPr>
          <p:nvPr>
            <p:ph type="body" idx="1"/>
          </p:nvPr>
        </p:nvSpPr>
        <p:spPr bwMode="auto">
          <a:noFill/>
        </p:spPr>
        <p:txBody>
          <a:bodyPr/>
          <a:lstStyle/>
          <a:p>
            <a:endParaRPr lang="ru-RU" smtClean="0">
              <a:latin typeface="Arial" charset="0"/>
              <a:cs typeface="Arial" charset="0"/>
            </a:endParaRPr>
          </a:p>
        </p:txBody>
      </p:sp>
      <p:sp>
        <p:nvSpPr>
          <p:cNvPr id="123907" name="Номер слайда 3"/>
          <p:cNvSpPr>
            <a:spLocks noGrp="1"/>
          </p:cNvSpPr>
          <p:nvPr>
            <p:ph type="sldNum" sz="quarter" idx="5"/>
          </p:nvPr>
        </p:nvSpPr>
        <p:spPr bwMode="auto">
          <a:noFill/>
          <a:ln>
            <a:miter lim="800000"/>
            <a:headEnd/>
            <a:tailEnd/>
          </a:ln>
        </p:spPr>
        <p:txBody>
          <a:bodyPr/>
          <a:lstStyle/>
          <a:p>
            <a:fld id="{4C2432F6-8361-48BF-991F-0669DDE74EA8}" type="slidenum">
              <a:rPr lang="en-US" smtClean="0">
                <a:latin typeface="Arial" charset="0"/>
                <a:cs typeface="Arial" charset="0"/>
              </a:rPr>
              <a:pPr/>
              <a:t>29</a:t>
            </a:fld>
            <a:endParaRPr lang="en-US" smtClean="0">
              <a:latin typeface="Arial" charset="0"/>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Образ слайда 1"/>
          <p:cNvSpPr>
            <a:spLocks noGrp="1" noRot="1" noChangeAspect="1"/>
          </p:cNvSpPr>
          <p:nvPr>
            <p:ph type="sldImg"/>
          </p:nvPr>
        </p:nvSpPr>
        <p:spPr bwMode="auto">
          <a:noFill/>
          <a:ln>
            <a:solidFill>
              <a:srgbClr val="000000"/>
            </a:solidFill>
            <a:miter lim="800000"/>
            <a:headEnd/>
            <a:tailEnd/>
          </a:ln>
        </p:spPr>
      </p:sp>
      <p:sp>
        <p:nvSpPr>
          <p:cNvPr id="132098" name="Заметки 2"/>
          <p:cNvSpPr>
            <a:spLocks noGrp="1"/>
          </p:cNvSpPr>
          <p:nvPr>
            <p:ph type="body" idx="1"/>
          </p:nvPr>
        </p:nvSpPr>
        <p:spPr bwMode="auto">
          <a:noFill/>
        </p:spPr>
        <p:txBody>
          <a:bodyPr/>
          <a:lstStyle/>
          <a:p>
            <a:endParaRPr lang="ru-RU" smtClean="0">
              <a:cs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a:spLocks noGrp="1" noChangeArrowheads="1"/>
          </p:cNvSpPr>
          <p:nvPr>
            <p:ph type="sldNum" sz="quarter" idx="5"/>
          </p:nvPr>
        </p:nvSpPr>
        <p:spPr bwMode="auto">
          <a:noFill/>
          <a:ln>
            <a:miter lim="800000"/>
            <a:headEnd/>
            <a:tailEnd/>
          </a:ln>
        </p:spPr>
        <p:txBody>
          <a:bodyPr/>
          <a:lstStyle/>
          <a:p>
            <a:fld id="{DB315323-046E-4E60-B15C-C471F85CA244}" type="slidenum">
              <a:rPr lang="ru-RU" smtClean="0">
                <a:latin typeface="Arial" charset="0"/>
                <a:cs typeface="Arial" charset="0"/>
              </a:rPr>
              <a:pPr/>
              <a:t>39</a:t>
            </a:fld>
            <a:endParaRPr lang="ru-RU" smtClean="0">
              <a:latin typeface="Arial" charset="0"/>
              <a:cs typeface="Arial" charset="0"/>
            </a:endParaRPr>
          </a:p>
        </p:txBody>
      </p:sp>
      <p:sp>
        <p:nvSpPr>
          <p:cNvPr id="1372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7219"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p:cNvSpPr>
            <a:spLocks noGrp="1" noChangeArrowheads="1"/>
          </p:cNvSpPr>
          <p:nvPr>
            <p:ph type="sldNum" sz="quarter" idx="5"/>
          </p:nvPr>
        </p:nvSpPr>
        <p:spPr bwMode="auto">
          <a:noFill/>
          <a:ln>
            <a:miter lim="800000"/>
            <a:headEnd/>
            <a:tailEnd/>
          </a:ln>
        </p:spPr>
        <p:txBody>
          <a:bodyPr/>
          <a:lstStyle/>
          <a:p>
            <a:fld id="{899EB194-187A-4924-A357-625E6EA63AAD}" type="slidenum">
              <a:rPr lang="ru-RU" smtClean="0">
                <a:latin typeface="Arial" charset="0"/>
                <a:cs typeface="Arial" charset="0"/>
              </a:rPr>
              <a:pPr/>
              <a:t>40</a:t>
            </a:fld>
            <a:endParaRPr lang="ru-RU" smtClean="0">
              <a:latin typeface="Arial" charset="0"/>
              <a:cs typeface="Arial" charset="0"/>
            </a:endParaRPr>
          </a:p>
        </p:txBody>
      </p:sp>
      <p:sp>
        <p:nvSpPr>
          <p:cNvPr id="1392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9267"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a:spLocks noGrp="1" noChangeArrowheads="1"/>
          </p:cNvSpPr>
          <p:nvPr>
            <p:ph type="sldNum" sz="quarter" idx="5"/>
          </p:nvPr>
        </p:nvSpPr>
        <p:spPr bwMode="auto">
          <a:noFill/>
          <a:ln>
            <a:miter lim="800000"/>
            <a:headEnd/>
            <a:tailEnd/>
          </a:ln>
        </p:spPr>
        <p:txBody>
          <a:bodyPr/>
          <a:lstStyle/>
          <a:p>
            <a:fld id="{5AD43C34-D575-4A8C-998B-B17893B2EF6B}" type="slidenum">
              <a:rPr lang="ru-RU" smtClean="0">
                <a:latin typeface="Arial" charset="0"/>
                <a:cs typeface="Arial" charset="0"/>
              </a:rPr>
              <a:pPr/>
              <a:t>41</a:t>
            </a:fld>
            <a:endParaRPr lang="ru-RU" smtClean="0">
              <a:latin typeface="Arial" charset="0"/>
              <a:cs typeface="Arial" charset="0"/>
            </a:endParaRPr>
          </a:p>
        </p:txBody>
      </p:sp>
      <p:sp>
        <p:nvSpPr>
          <p:cNvPr id="1413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1315"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p:cNvSpPr>
            <a:spLocks noGrp="1" noChangeArrowheads="1"/>
          </p:cNvSpPr>
          <p:nvPr>
            <p:ph type="sldNum" sz="quarter" idx="5"/>
          </p:nvPr>
        </p:nvSpPr>
        <p:spPr bwMode="auto">
          <a:noFill/>
          <a:ln>
            <a:miter lim="800000"/>
            <a:headEnd/>
            <a:tailEnd/>
          </a:ln>
        </p:spPr>
        <p:txBody>
          <a:bodyPr/>
          <a:lstStyle/>
          <a:p>
            <a:fld id="{AE266547-2381-4D0A-8AE6-D62850B63291}" type="slidenum">
              <a:rPr lang="ru-RU" smtClean="0">
                <a:latin typeface="Arial" charset="0"/>
                <a:cs typeface="Arial" charset="0"/>
              </a:rPr>
              <a:pPr/>
              <a:t>42</a:t>
            </a:fld>
            <a:endParaRPr lang="ru-RU" smtClean="0">
              <a:latin typeface="Arial" charset="0"/>
              <a:cs typeface="Arial" charset="0"/>
            </a:endParaRPr>
          </a:p>
        </p:txBody>
      </p:sp>
      <p:sp>
        <p:nvSpPr>
          <p:cNvPr id="1433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363"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a:spLocks noGrp="1" noChangeArrowheads="1"/>
          </p:cNvSpPr>
          <p:nvPr>
            <p:ph type="sldNum" sz="quarter" idx="5"/>
          </p:nvPr>
        </p:nvSpPr>
        <p:spPr bwMode="auto">
          <a:noFill/>
          <a:ln>
            <a:miter lim="800000"/>
            <a:headEnd/>
            <a:tailEnd/>
          </a:ln>
        </p:spPr>
        <p:txBody>
          <a:bodyPr/>
          <a:lstStyle/>
          <a:p>
            <a:fld id="{8897D246-2A77-409C-B575-EEC228B90D83}" type="slidenum">
              <a:rPr lang="ru-RU" smtClean="0">
                <a:latin typeface="Arial" charset="0"/>
                <a:cs typeface="Arial" charset="0"/>
              </a:rPr>
              <a:pPr/>
              <a:t>43</a:t>
            </a:fld>
            <a:endParaRPr lang="ru-RU" smtClean="0">
              <a:latin typeface="Arial" charset="0"/>
              <a:cs typeface="Arial" charset="0"/>
            </a:endParaRPr>
          </a:p>
        </p:txBody>
      </p:sp>
      <p:sp>
        <p:nvSpPr>
          <p:cNvPr id="1454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5411"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a:spLocks noGrp="1" noChangeArrowheads="1"/>
          </p:cNvSpPr>
          <p:nvPr>
            <p:ph type="sldNum" sz="quarter" idx="5"/>
          </p:nvPr>
        </p:nvSpPr>
        <p:spPr bwMode="auto">
          <a:noFill/>
          <a:ln>
            <a:miter lim="800000"/>
            <a:headEnd/>
            <a:tailEnd/>
          </a:ln>
        </p:spPr>
        <p:txBody>
          <a:bodyPr/>
          <a:lstStyle/>
          <a:p>
            <a:fld id="{5CC76774-A738-49FF-BF07-A17FEDD9B05E}" type="slidenum">
              <a:rPr lang="ru-RU" smtClean="0">
                <a:latin typeface="Arial" charset="0"/>
                <a:cs typeface="Arial" charset="0"/>
              </a:rPr>
              <a:pPr/>
              <a:t>44</a:t>
            </a:fld>
            <a:endParaRPr lang="ru-RU" smtClean="0">
              <a:latin typeface="Arial" charset="0"/>
              <a:cs typeface="Arial" charset="0"/>
            </a:endParaRPr>
          </a:p>
        </p:txBody>
      </p:sp>
      <p:sp>
        <p:nvSpPr>
          <p:cNvPr id="1474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7459"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a:spLocks noGrp="1" noChangeArrowheads="1"/>
          </p:cNvSpPr>
          <p:nvPr>
            <p:ph type="sldNum" sz="quarter" idx="5"/>
          </p:nvPr>
        </p:nvSpPr>
        <p:spPr bwMode="auto">
          <a:noFill/>
          <a:ln>
            <a:miter lim="800000"/>
            <a:headEnd/>
            <a:tailEnd/>
          </a:ln>
        </p:spPr>
        <p:txBody>
          <a:bodyPr/>
          <a:lstStyle/>
          <a:p>
            <a:fld id="{3416987A-D8F1-4405-BB76-F6D411389130}" type="slidenum">
              <a:rPr lang="ru-RU" smtClean="0">
                <a:latin typeface="Arial" charset="0"/>
                <a:cs typeface="Arial" charset="0"/>
              </a:rPr>
              <a:pPr/>
              <a:t>45</a:t>
            </a:fld>
            <a:endParaRPr lang="ru-RU" smtClean="0">
              <a:latin typeface="Arial" charset="0"/>
              <a:cs typeface="Arial" charset="0"/>
            </a:endParaRPr>
          </a:p>
        </p:txBody>
      </p:sp>
      <p:sp>
        <p:nvSpPr>
          <p:cNvPr id="1495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9507"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p:cNvSpPr>
            <a:spLocks noGrp="1" noChangeArrowheads="1"/>
          </p:cNvSpPr>
          <p:nvPr>
            <p:ph type="sldNum" sz="quarter" idx="5"/>
          </p:nvPr>
        </p:nvSpPr>
        <p:spPr bwMode="auto">
          <a:noFill/>
          <a:ln>
            <a:miter lim="800000"/>
            <a:headEnd/>
            <a:tailEnd/>
          </a:ln>
        </p:spPr>
        <p:txBody>
          <a:bodyPr/>
          <a:lstStyle/>
          <a:p>
            <a:fld id="{1023A1E1-4389-4040-B504-C2DFC2477036}" type="slidenum">
              <a:rPr lang="ru-RU" smtClean="0">
                <a:latin typeface="Arial" charset="0"/>
                <a:cs typeface="Arial" charset="0"/>
              </a:rPr>
              <a:pPr/>
              <a:t>49</a:t>
            </a:fld>
            <a:endParaRPr lang="ru-RU" smtClean="0">
              <a:latin typeface="Arial" charset="0"/>
              <a:cs typeface="Arial" charset="0"/>
            </a:endParaRPr>
          </a:p>
        </p:txBody>
      </p:sp>
      <p:sp>
        <p:nvSpPr>
          <p:cNvPr id="1546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4627"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noChangeArrowheads="1"/>
          </p:cNvSpPr>
          <p:nvPr>
            <p:ph type="sldNum" sz="quarter" idx="5"/>
          </p:nvPr>
        </p:nvSpPr>
        <p:spPr bwMode="auto">
          <a:noFill/>
          <a:ln>
            <a:miter lim="800000"/>
            <a:headEnd/>
            <a:tailEnd/>
          </a:ln>
        </p:spPr>
        <p:txBody>
          <a:bodyPr/>
          <a:lstStyle/>
          <a:p>
            <a:fld id="{E6850E60-7806-4B81-B81B-3AFC2FEDFA18}" type="slidenum">
              <a:rPr lang="ru-RU" smtClean="0">
                <a:latin typeface="Arial" charset="0"/>
                <a:cs typeface="Arial" charset="0"/>
              </a:rPr>
              <a:pPr/>
              <a:t>50</a:t>
            </a:fld>
            <a:endParaRPr lang="ru-RU" smtClean="0">
              <a:latin typeface="Arial" charset="0"/>
              <a:cs typeface="Arial" charset="0"/>
            </a:endParaRPr>
          </a:p>
        </p:txBody>
      </p:sp>
      <p:sp>
        <p:nvSpPr>
          <p:cNvPr id="1566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6675"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p:cNvSpPr>
            <a:spLocks noGrp="1" noChangeArrowheads="1"/>
          </p:cNvSpPr>
          <p:nvPr>
            <p:ph type="sldNum" sz="quarter" idx="5"/>
          </p:nvPr>
        </p:nvSpPr>
        <p:spPr bwMode="auto">
          <a:noFill/>
          <a:ln>
            <a:miter lim="800000"/>
            <a:headEnd/>
            <a:tailEnd/>
          </a:ln>
        </p:spPr>
        <p:txBody>
          <a:bodyPr/>
          <a:lstStyle/>
          <a:p>
            <a:fld id="{31CB6BC3-3C8D-4F33-94A3-1A69238EBD0E}" type="slidenum">
              <a:rPr lang="ru-RU" smtClean="0">
                <a:latin typeface="Arial" charset="0"/>
                <a:cs typeface="Arial" charset="0"/>
              </a:rPr>
              <a:pPr/>
              <a:t>51</a:t>
            </a:fld>
            <a:endParaRPr lang="ru-RU" smtClean="0">
              <a:latin typeface="Arial" charset="0"/>
              <a:cs typeface="Arial" charset="0"/>
            </a:endParaRPr>
          </a:p>
        </p:txBody>
      </p:sp>
      <p:sp>
        <p:nvSpPr>
          <p:cNvPr id="1587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8723"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p:cNvSpPr>
            <a:spLocks noGrp="1" noChangeArrowheads="1"/>
          </p:cNvSpPr>
          <p:nvPr>
            <p:ph type="sldNum" sz="quarter" idx="5"/>
          </p:nvPr>
        </p:nvSpPr>
        <p:spPr bwMode="auto">
          <a:noFill/>
          <a:ln>
            <a:miter lim="800000"/>
            <a:headEnd/>
            <a:tailEnd/>
          </a:ln>
        </p:spPr>
        <p:txBody>
          <a:bodyPr/>
          <a:lstStyle/>
          <a:p>
            <a:fld id="{D372371A-2E8F-43CE-832C-539E490E2B7F}" type="slidenum">
              <a:rPr lang="ru-RU" smtClean="0">
                <a:latin typeface="Arial" charset="0"/>
                <a:cs typeface="Arial" charset="0"/>
              </a:rPr>
              <a:pPr/>
              <a:t>52</a:t>
            </a:fld>
            <a:endParaRPr lang="ru-RU" smtClean="0">
              <a:latin typeface="Arial" charset="0"/>
              <a:cs typeface="Arial" charset="0"/>
            </a:endParaRPr>
          </a:p>
        </p:txBody>
      </p:sp>
      <p:sp>
        <p:nvSpPr>
          <p:cNvPr id="1607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0771" name="Rectangle 3"/>
          <p:cNvSpPr>
            <a:spLocks noGrp="1" noChangeArrowheads="1"/>
          </p:cNvSpPr>
          <p:nvPr>
            <p:ph type="body" idx="1"/>
          </p:nvPr>
        </p:nvSpPr>
        <p:spPr bwMode="auto">
          <a:noFill/>
        </p:spPr>
        <p:txBody>
          <a:bodyPr/>
          <a:lstStyle/>
          <a:p>
            <a:pPr eaLnBrk="1" hangingPunct="1"/>
            <a:endParaRPr lang="ru-RU" smtClean="0">
              <a:latin typeface="Arial" charset="0"/>
              <a:cs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noChangeArrowheads="1"/>
          </p:cNvSpPr>
          <p:nvPr>
            <p:ph type="sldNum" sz="quarter" idx="5"/>
          </p:nvPr>
        </p:nvSpPr>
        <p:spPr bwMode="auto">
          <a:noFill/>
          <a:ln>
            <a:miter lim="800000"/>
            <a:headEnd/>
            <a:tailEnd/>
          </a:ln>
        </p:spPr>
        <p:txBody>
          <a:bodyPr/>
          <a:lstStyle/>
          <a:p>
            <a:fld id="{D1CC6D74-47B2-4185-82F2-928F904E555F}" type="slidenum">
              <a:rPr lang="ru-RU" smtClean="0">
                <a:cs typeface="Arial" charset="0"/>
              </a:rPr>
              <a:pPr/>
              <a:t>75</a:t>
            </a:fld>
            <a:endParaRPr lang="ru-RU" smtClean="0">
              <a:cs typeface="Arial" charset="0"/>
            </a:endParaRPr>
          </a:p>
        </p:txBody>
      </p:sp>
      <p:sp>
        <p:nvSpPr>
          <p:cNvPr id="1873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7395" name="Rectangle 3"/>
          <p:cNvSpPr>
            <a:spLocks noGrp="1" noChangeArrowheads="1"/>
          </p:cNvSpPr>
          <p:nvPr>
            <p:ph type="body" idx="1"/>
          </p:nvPr>
        </p:nvSpPr>
        <p:spPr bwMode="auto">
          <a:noFill/>
        </p:spPr>
        <p:txBody>
          <a:bodyPr/>
          <a:lstStyle/>
          <a:p>
            <a:pPr eaLnBrk="1" hangingPunct="1"/>
            <a:endParaRPr lang="ru-RU" smtClean="0">
              <a:cs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noChangeArrowheads="1"/>
          </p:cNvSpPr>
          <p:nvPr>
            <p:ph type="sldNum" sz="quarter" idx="5"/>
          </p:nvPr>
        </p:nvSpPr>
        <p:spPr bwMode="auto">
          <a:noFill/>
          <a:ln>
            <a:miter lim="800000"/>
            <a:headEnd/>
            <a:tailEnd/>
          </a:ln>
        </p:spPr>
        <p:txBody>
          <a:bodyPr/>
          <a:lstStyle/>
          <a:p>
            <a:fld id="{5AAA4308-91DE-4D14-AF32-B377810E2B5E}" type="slidenum">
              <a:rPr lang="ru-RU" smtClean="0">
                <a:cs typeface="Arial" charset="0"/>
              </a:rPr>
              <a:pPr/>
              <a:t>76</a:t>
            </a:fld>
            <a:endParaRPr lang="ru-RU" smtClean="0">
              <a:cs typeface="Arial" charset="0"/>
            </a:endParaRPr>
          </a:p>
        </p:txBody>
      </p:sp>
      <p:sp>
        <p:nvSpPr>
          <p:cNvPr id="1894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9443" name="Rectangle 3"/>
          <p:cNvSpPr>
            <a:spLocks noGrp="1" noChangeArrowheads="1"/>
          </p:cNvSpPr>
          <p:nvPr>
            <p:ph type="body" idx="1"/>
          </p:nvPr>
        </p:nvSpPr>
        <p:spPr bwMode="auto">
          <a:noFill/>
        </p:spPr>
        <p:txBody>
          <a:bodyPr/>
          <a:lstStyle/>
          <a:p>
            <a:pPr eaLnBrk="1" hangingPunct="1"/>
            <a:endParaRPr lang="ru-RU" smtClean="0">
              <a:cs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Образ слайда 1"/>
          <p:cNvSpPr>
            <a:spLocks noGrp="1" noRot="1" noChangeAspect="1" noTextEdit="1"/>
          </p:cNvSpPr>
          <p:nvPr>
            <p:ph type="sldImg"/>
          </p:nvPr>
        </p:nvSpPr>
        <p:spPr bwMode="auto">
          <a:noFill/>
          <a:ln>
            <a:solidFill>
              <a:srgbClr val="000000"/>
            </a:solidFill>
            <a:miter lim="800000"/>
            <a:headEnd/>
            <a:tailEnd/>
          </a:ln>
        </p:spPr>
      </p:sp>
      <p:sp>
        <p:nvSpPr>
          <p:cNvPr id="195586" name="Заметки 2"/>
          <p:cNvSpPr>
            <a:spLocks noGrp="1"/>
          </p:cNvSpPr>
          <p:nvPr>
            <p:ph type="body" idx="1"/>
          </p:nvPr>
        </p:nvSpPr>
        <p:spPr bwMode="auto">
          <a:noFill/>
        </p:spPr>
        <p:txBody>
          <a:bodyPr/>
          <a:lstStyle/>
          <a:p>
            <a:pPr eaLnBrk="1" hangingPunct="1">
              <a:spcBef>
                <a:spcPct val="0"/>
              </a:spcBef>
            </a:pPr>
            <a:endParaRPr lang="ru-RU" smtClean="0">
              <a:cs typeface="Arial" charset="0"/>
            </a:endParaRPr>
          </a:p>
        </p:txBody>
      </p:sp>
      <p:sp>
        <p:nvSpPr>
          <p:cNvPr id="54276" name="Номер слайда 3"/>
          <p:cNvSpPr txBox="1">
            <a:spLocks noGrp="1"/>
          </p:cNvSpPr>
          <p:nvPr/>
        </p:nvSpPr>
        <p:spPr bwMode="auto">
          <a:xfrm>
            <a:off x="3849688" y="9428163"/>
            <a:ext cx="2946400" cy="496887"/>
          </a:xfrm>
          <a:prstGeom prst="rect">
            <a:avLst/>
          </a:prstGeom>
          <a:noFill/>
          <a:ln>
            <a:miter lim="800000"/>
            <a:headEnd/>
            <a:tailEnd/>
          </a:ln>
        </p:spPr>
        <p:txBody>
          <a:bodyPr anchor="b"/>
          <a:lstStyle/>
          <a:p>
            <a:pPr algn="r">
              <a:defRPr/>
            </a:pPr>
            <a:fld id="{75DE42B1-418B-44FF-83F1-2F482D9509C8}" type="slidenum">
              <a:rPr lang="ru-RU" sz="1200">
                <a:solidFill>
                  <a:schemeClr val="tx1"/>
                </a:solidFill>
                <a:latin typeface="+mn-lt"/>
                <a:cs typeface="+mn-cs"/>
              </a:rPr>
              <a:pPr algn="r">
                <a:defRPr/>
              </a:pPr>
              <a:t>81</a:t>
            </a:fld>
            <a:endParaRPr lang="ru-RU" sz="1200">
              <a:solidFill>
                <a:schemeClr val="tx1"/>
              </a:solidFill>
              <a:latin typeface="+mn-lt"/>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4" name="Прямоугольный треугольник 9"/>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sz="1800"/>
          </a:p>
        </p:txBody>
      </p:sp>
      <p:grpSp>
        <p:nvGrpSpPr>
          <p:cNvPr id="5" name="Группа 1"/>
          <p:cNvGrpSpPr>
            <a:grpSpLocks/>
          </p:cNvGrpSpPr>
          <p:nvPr/>
        </p:nvGrpSpPr>
        <p:grpSpPr bwMode="auto">
          <a:xfrm>
            <a:off x="-3175" y="4953000"/>
            <a:ext cx="9147175" cy="1911350"/>
            <a:chOff x="-3765" y="4832896"/>
            <a:chExt cx="9147765" cy="2032192"/>
          </a:xfrm>
        </p:grpSpPr>
        <p:sp>
          <p:nvSpPr>
            <p:cNvPr id="6" name="Полилиния 6"/>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kumimoji="0" lang="en-US" sz="1800">
                <a:solidFill>
                  <a:schemeClr val="tx1"/>
                </a:solidFill>
                <a:latin typeface="Arial" pitchFamily="34" charset="0"/>
                <a:cs typeface="Arial" pitchFamily="34" charset="0"/>
              </a:endParaRPr>
            </a:p>
          </p:txBody>
        </p:sp>
        <p:sp>
          <p:nvSpPr>
            <p:cNvPr id="7" name="Полилиния 7"/>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kumimoji="0" lang="en-US" sz="1800">
                <a:solidFill>
                  <a:schemeClr val="tx1"/>
                </a:solidFill>
                <a:latin typeface="Arial" pitchFamily="34" charset="0"/>
                <a:cs typeface="Arial" pitchFamily="34" charset="0"/>
              </a:endParaRPr>
            </a:p>
          </p:txBody>
        </p:sp>
        <p:sp>
          <p:nvSpPr>
            <p:cNvPr id="8" name="Полилиния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sz="1800"/>
            </a:p>
          </p:txBody>
        </p:sp>
        <p:cxnSp>
          <p:nvCxnSpPr>
            <p:cNvPr id="10" name="Прямая соединительная линия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Заголовок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ru-RU"/>
              <a:t>Образец заголовка</a:t>
            </a:r>
            <a:endParaRPr lang="en-US"/>
          </a:p>
        </p:txBody>
      </p:sp>
      <p:sp>
        <p:nvSpPr>
          <p:cNvPr id="17" name="Подзаголовок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ru-RU"/>
              <a:t>Образец подзаголовка</a:t>
            </a:r>
            <a:endParaRPr lang="en-US"/>
          </a:p>
        </p:txBody>
      </p:sp>
      <p:sp>
        <p:nvSpPr>
          <p:cNvPr id="11" name="Дата 29"/>
          <p:cNvSpPr>
            <a:spLocks noGrp="1"/>
          </p:cNvSpPr>
          <p:nvPr>
            <p:ph type="dt" sz="half" idx="10"/>
          </p:nvPr>
        </p:nvSpPr>
        <p:spPr/>
        <p:txBody>
          <a:bodyPr/>
          <a:lstStyle>
            <a:lvl1pPr>
              <a:defRPr>
                <a:solidFill>
                  <a:srgbClr val="FFFFFF"/>
                </a:solidFill>
              </a:defRPr>
            </a:lvl1pPr>
            <a:extLst/>
          </a:lstStyle>
          <a:p>
            <a:pPr>
              <a:defRPr/>
            </a:pPr>
            <a:endParaRPr lang="ru-RU"/>
          </a:p>
        </p:txBody>
      </p:sp>
      <p:sp>
        <p:nvSpPr>
          <p:cNvPr id="12" name="Нижний колонтитул 18"/>
          <p:cNvSpPr>
            <a:spLocks noGrp="1"/>
          </p:cNvSpPr>
          <p:nvPr>
            <p:ph type="ftr" sz="quarter" idx="11"/>
          </p:nvPr>
        </p:nvSpPr>
        <p:spPr/>
        <p:txBody>
          <a:bodyPr/>
          <a:lstStyle>
            <a:lvl1pPr>
              <a:defRPr>
                <a:solidFill>
                  <a:schemeClr val="accent1">
                    <a:tint val="20000"/>
                  </a:schemeClr>
                </a:solidFill>
              </a:defRPr>
            </a:lvl1pPr>
            <a:extLst/>
          </a:lstStyle>
          <a:p>
            <a:pPr>
              <a:defRPr/>
            </a:pPr>
            <a:r>
              <a:rPr lang="ru-RU"/>
              <a:t>Министерство здравоохранения и социального развития Российской Федерации </a:t>
            </a:r>
          </a:p>
        </p:txBody>
      </p:sp>
      <p:sp>
        <p:nvSpPr>
          <p:cNvPr id="13" name="Номер слайда 26"/>
          <p:cNvSpPr>
            <a:spLocks noGrp="1"/>
          </p:cNvSpPr>
          <p:nvPr>
            <p:ph type="sldNum" sz="quarter" idx="12"/>
          </p:nvPr>
        </p:nvSpPr>
        <p:spPr/>
        <p:txBody>
          <a:bodyPr/>
          <a:lstStyle>
            <a:lvl1pPr>
              <a:defRPr smtClean="0">
                <a:solidFill>
                  <a:srgbClr val="FFFFFF"/>
                </a:solidFill>
              </a:defRPr>
            </a:lvl1pPr>
            <a:extLst/>
          </a:lstStyle>
          <a:p>
            <a:pPr>
              <a:defRPr/>
            </a:pPr>
            <a:fld id="{ACB0FB79-0BAF-48C6-97E5-50EB290A755D}" type="slidenum">
              <a:rPr lang="ru-RU"/>
              <a:pPr>
                <a:defRPr/>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Заголовок 6"/>
          <p:cNvSpPr>
            <a:spLocks noGrp="1"/>
          </p:cNvSpPr>
          <p:nvPr>
            <p:ph type="title"/>
          </p:nvPr>
        </p:nvSpPr>
        <p:spPr/>
        <p:txBody>
          <a:bodyPr rtlCol="0"/>
          <a:lstStyle/>
          <a:p>
            <a:r>
              <a:rPr lang="ru-RU"/>
              <a:t>Образец заголовка</a:t>
            </a:r>
            <a:endParaRPr lang="en-US"/>
          </a:p>
        </p:txBody>
      </p:sp>
      <p:sp>
        <p:nvSpPr>
          <p:cNvPr id="4" name="Дата 9"/>
          <p:cNvSpPr>
            <a:spLocks noGrp="1"/>
          </p:cNvSpPr>
          <p:nvPr>
            <p:ph type="dt" sz="half" idx="10"/>
          </p:nvPr>
        </p:nvSpPr>
        <p:spPr/>
        <p:txBody>
          <a:bodyPr/>
          <a:lstStyle>
            <a:lvl1pPr>
              <a:defRPr/>
            </a:lvl1pPr>
          </a:lstStyle>
          <a:p>
            <a:pPr>
              <a:defRPr/>
            </a:pPr>
            <a:endParaRPr lang="ru-RU"/>
          </a:p>
        </p:txBody>
      </p:sp>
      <p:sp>
        <p:nvSpPr>
          <p:cNvPr id="5" name="Нижний колонтитул 21"/>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6" name="Номер слайда 17"/>
          <p:cNvSpPr>
            <a:spLocks noGrp="1"/>
          </p:cNvSpPr>
          <p:nvPr>
            <p:ph type="sldNum" sz="quarter" idx="12"/>
          </p:nvPr>
        </p:nvSpPr>
        <p:spPr/>
        <p:txBody>
          <a:bodyPr/>
          <a:lstStyle>
            <a:lvl1pPr>
              <a:defRPr/>
            </a:lvl1pPr>
          </a:lstStyle>
          <a:p>
            <a:pPr>
              <a:defRPr/>
            </a:pPr>
            <a:fld id="{A3260757-89F8-447D-9FC6-E9260ADB3591}" type="slidenum">
              <a:rPr lang="ru-RU"/>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2">
        <a:schemeClr val="bg1"/>
      </p:bgRef>
    </p:bg>
    <p:spTree>
      <p:nvGrpSpPr>
        <p:cNvPr id="1" name=""/>
        <p:cNvGrpSpPr/>
        <p:nvPr/>
      </p:nvGrpSpPr>
      <p:grpSpPr>
        <a:xfrm>
          <a:off x="0" y="0"/>
          <a:ext cx="0" cy="0"/>
          <a:chOff x="0" y="0"/>
          <a:chExt cx="0" cy="0"/>
        </a:xfrm>
      </p:grpSpPr>
      <p:sp>
        <p:nvSpPr>
          <p:cNvPr id="4" name="Нашивка 6"/>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sz="1800"/>
          </a:p>
        </p:txBody>
      </p:sp>
      <p:sp>
        <p:nvSpPr>
          <p:cNvPr id="5" name="Нашивка 7"/>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sz="1800"/>
          </a:p>
        </p:txBody>
      </p:sp>
      <p:sp>
        <p:nvSpPr>
          <p:cNvPr id="2" name="Заголовок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ru-RU"/>
              <a:t>Образец заголовка</a:t>
            </a:r>
            <a:endParaRPr lang="en-US"/>
          </a:p>
        </p:txBody>
      </p:sp>
      <p:sp>
        <p:nvSpPr>
          <p:cNvPr id="3" name="Текст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ru-RU"/>
              <a:t>Образец текста</a:t>
            </a:r>
          </a:p>
        </p:txBody>
      </p:sp>
      <p:sp>
        <p:nvSpPr>
          <p:cNvPr id="6" name="Дата 3"/>
          <p:cNvSpPr>
            <a:spLocks noGrp="1"/>
          </p:cNvSpPr>
          <p:nvPr>
            <p:ph type="dt" sz="half" idx="10"/>
          </p:nvPr>
        </p:nvSpPr>
        <p:spPr/>
        <p:txBody>
          <a:bodyPr/>
          <a:lstStyle>
            <a:lvl1pPr>
              <a:defRPr/>
            </a:lvl1pPr>
          </a:lstStyle>
          <a:p>
            <a:pPr>
              <a:defRPr/>
            </a:pPr>
            <a:endParaRPr lang="ru-RU"/>
          </a:p>
        </p:txBody>
      </p:sp>
      <p:sp>
        <p:nvSpPr>
          <p:cNvPr id="7" name="Нижний колонтитул 4"/>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8" name="Номер слайда 5"/>
          <p:cNvSpPr>
            <a:spLocks noGrp="1"/>
          </p:cNvSpPr>
          <p:nvPr>
            <p:ph type="sldNum" sz="quarter" idx="12"/>
          </p:nvPr>
        </p:nvSpPr>
        <p:spPr/>
        <p:txBody>
          <a:bodyPr/>
          <a:lstStyle>
            <a:lvl1pPr>
              <a:defRPr/>
            </a:lvl1pPr>
          </a:lstStyle>
          <a:p>
            <a:pPr>
              <a:defRPr/>
            </a:pPr>
            <a:fld id="{A307958D-0B33-4B9D-A48D-737D51521D49}" type="slidenum">
              <a:rPr lang="ru-RU"/>
              <a:pPr>
                <a:defRPr/>
              </a:pPr>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bg>
      <p:bgRef idx="1002">
        <a:schemeClr val="bg1"/>
      </p:bgRef>
    </p:bg>
    <p:spTree>
      <p:nvGrpSpPr>
        <p:cNvPr id="1" name=""/>
        <p:cNvGrpSpPr/>
        <p:nvPr/>
      </p:nvGrpSpPr>
      <p:grpSpPr>
        <a:xfrm>
          <a:off x="0" y="0"/>
          <a:ext cx="0" cy="0"/>
          <a:chOff x="0" y="0"/>
          <a:chExt cx="0" cy="0"/>
        </a:xfrm>
      </p:grpSpPr>
      <p:sp>
        <p:nvSpPr>
          <p:cNvPr id="3" name="Содержимое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Содержимое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8" name="Заголовок 7"/>
          <p:cNvSpPr>
            <a:spLocks noGrp="1"/>
          </p:cNvSpPr>
          <p:nvPr>
            <p:ph type="title"/>
          </p:nvPr>
        </p:nvSpPr>
        <p:spPr/>
        <p:txBody>
          <a:bodyPr rtlCol="0"/>
          <a:lstStyle/>
          <a:p>
            <a:r>
              <a:rPr lang="ru-RU"/>
              <a:t>Образец заголовка</a:t>
            </a:r>
            <a:endParaRPr lang="en-US"/>
          </a:p>
        </p:txBody>
      </p:sp>
      <p:sp>
        <p:nvSpPr>
          <p:cNvPr id="5" name="Дата 4"/>
          <p:cNvSpPr>
            <a:spLocks noGrp="1"/>
          </p:cNvSpPr>
          <p:nvPr>
            <p:ph type="dt" sz="half" idx="10"/>
          </p:nvPr>
        </p:nvSpPr>
        <p:spPr/>
        <p:txBody>
          <a:bodyPr/>
          <a:lstStyle>
            <a:lvl1pPr>
              <a:defRPr/>
            </a:lvl1pPr>
          </a:lstStyle>
          <a:p>
            <a:pPr>
              <a:defRPr/>
            </a:pPr>
            <a:endParaRPr lang="ru-RU"/>
          </a:p>
        </p:txBody>
      </p:sp>
      <p:sp>
        <p:nvSpPr>
          <p:cNvPr id="6" name="Нижний колонтитул 5"/>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7" name="Номер слайда 6"/>
          <p:cNvSpPr>
            <a:spLocks noGrp="1"/>
          </p:cNvSpPr>
          <p:nvPr>
            <p:ph type="sldNum" sz="quarter" idx="12"/>
          </p:nvPr>
        </p:nvSpPr>
        <p:spPr/>
        <p:txBody>
          <a:bodyPr/>
          <a:lstStyle>
            <a:lvl1pPr>
              <a:defRPr/>
            </a:lvl1pPr>
          </a:lstStyle>
          <a:p>
            <a:pPr>
              <a:defRPr/>
            </a:pPr>
            <a:fld id="{5714CDA0-3E2A-4A9C-94ED-8EE575AB93B1}" type="slidenum">
              <a:rPr lang="ru-RU"/>
              <a:pPr>
                <a:defRPr/>
              </a:pPr>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bg>
      <p:bgRef idx="1003">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8229600" cy="1143000"/>
          </a:xfrm>
        </p:spPr>
        <p:txBody>
          <a:bodyPr/>
          <a:lstStyle>
            <a:lvl1pPr>
              <a:defRPr/>
            </a:lvl1pPr>
            <a:extLst/>
          </a:lstStyle>
          <a:p>
            <a:r>
              <a:rPr lang="ru-RU"/>
              <a:t>Образец заголовка</a:t>
            </a:r>
            <a:endParaRPr lang="en-US"/>
          </a:p>
        </p:txBody>
      </p:sp>
      <p:sp>
        <p:nvSpPr>
          <p:cNvPr id="3" name="Текст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ru-RU"/>
              <a:t>Образец текста</a:t>
            </a:r>
          </a:p>
        </p:txBody>
      </p:sp>
      <p:sp>
        <p:nvSpPr>
          <p:cNvPr id="4" name="Текст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ru-RU"/>
              <a:t>Образец текста</a:t>
            </a:r>
          </a:p>
        </p:txBody>
      </p:sp>
      <p:sp>
        <p:nvSpPr>
          <p:cNvPr id="5" name="Содержимое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Содержимое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p:cNvSpPr>
            <a:spLocks noGrp="1"/>
          </p:cNvSpPr>
          <p:nvPr>
            <p:ph type="dt" sz="half" idx="10"/>
          </p:nvPr>
        </p:nvSpPr>
        <p:spPr/>
        <p:txBody>
          <a:bodyPr/>
          <a:lstStyle>
            <a:lvl1pPr>
              <a:defRPr/>
            </a:lvl1pPr>
          </a:lstStyle>
          <a:p>
            <a:pPr>
              <a:defRPr/>
            </a:pPr>
            <a:endParaRPr lang="ru-RU"/>
          </a:p>
        </p:txBody>
      </p:sp>
      <p:sp>
        <p:nvSpPr>
          <p:cNvPr id="8" name="Нижний колонтитул 7"/>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9" name="Номер слайда 8"/>
          <p:cNvSpPr>
            <a:spLocks noGrp="1"/>
          </p:cNvSpPr>
          <p:nvPr>
            <p:ph type="sldNum" sz="quarter" idx="12"/>
          </p:nvPr>
        </p:nvSpPr>
        <p:spPr/>
        <p:txBody>
          <a:bodyPr/>
          <a:lstStyle>
            <a:lvl1pPr>
              <a:defRPr/>
            </a:lvl1pPr>
          </a:lstStyle>
          <a:p>
            <a:pPr>
              <a:defRPr/>
            </a:pPr>
            <a:fld id="{8E688673-5C2F-40FF-AE35-62ADC779FACA}" type="slidenum">
              <a:rPr lang="ru-RU"/>
              <a:pPr>
                <a:defRPr/>
              </a:pPr>
              <a:t>‹#›</a:t>
            </a:fld>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Ref idx="1002">
        <a:schemeClr val="bg1"/>
      </p:bgRef>
    </p:bg>
    <p:spTree>
      <p:nvGrpSpPr>
        <p:cNvPr id="1" name=""/>
        <p:cNvGrpSpPr/>
        <p:nvPr/>
      </p:nvGrpSpPr>
      <p:grpSpPr>
        <a:xfrm>
          <a:off x="0" y="0"/>
          <a:ext cx="0" cy="0"/>
          <a:chOff x="0" y="0"/>
          <a:chExt cx="0" cy="0"/>
        </a:xfrm>
      </p:grpSpPr>
      <p:sp>
        <p:nvSpPr>
          <p:cNvPr id="6" name="Заголовок 5"/>
          <p:cNvSpPr>
            <a:spLocks noGrp="1"/>
          </p:cNvSpPr>
          <p:nvPr>
            <p:ph type="title"/>
          </p:nvPr>
        </p:nvSpPr>
        <p:spPr/>
        <p:txBody>
          <a:bodyPr rtlCol="0"/>
          <a:lstStyle/>
          <a:p>
            <a:r>
              <a:rPr lang="ru-RU"/>
              <a:t>Образец заголовка</a:t>
            </a:r>
            <a:endParaRPr lang="en-US"/>
          </a:p>
        </p:txBody>
      </p:sp>
      <p:sp>
        <p:nvSpPr>
          <p:cNvPr id="3" name="Дата 2"/>
          <p:cNvSpPr>
            <a:spLocks noGrp="1"/>
          </p:cNvSpPr>
          <p:nvPr>
            <p:ph type="dt" sz="half" idx="10"/>
          </p:nvPr>
        </p:nvSpPr>
        <p:spPr/>
        <p:txBody>
          <a:bodyPr/>
          <a:lstStyle>
            <a:lvl1pPr>
              <a:defRPr/>
            </a:lvl1pPr>
          </a:lstStyle>
          <a:p>
            <a:pPr>
              <a:defRPr/>
            </a:pPr>
            <a:endParaRPr lang="ru-RU"/>
          </a:p>
        </p:txBody>
      </p:sp>
      <p:sp>
        <p:nvSpPr>
          <p:cNvPr id="4" name="Нижний колонтитул 3"/>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5" name="Номер слайда 4"/>
          <p:cNvSpPr>
            <a:spLocks noGrp="1"/>
          </p:cNvSpPr>
          <p:nvPr>
            <p:ph type="sldNum" sz="quarter" idx="12"/>
          </p:nvPr>
        </p:nvSpPr>
        <p:spPr/>
        <p:txBody>
          <a:bodyPr/>
          <a:lstStyle>
            <a:lvl1pPr>
              <a:defRPr/>
            </a:lvl1pPr>
          </a:lstStyle>
          <a:p>
            <a:pPr>
              <a:defRPr/>
            </a:pPr>
            <a:fld id="{BB15BDD6-AAA1-42B8-BE16-30D4F7262FF2}" type="slidenum">
              <a:rPr lang="ru-RU"/>
              <a:pPr>
                <a:defRPr/>
              </a:pPr>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9"/>
          <p:cNvSpPr>
            <a:spLocks noGrp="1"/>
          </p:cNvSpPr>
          <p:nvPr>
            <p:ph type="dt" sz="half" idx="10"/>
          </p:nvPr>
        </p:nvSpPr>
        <p:spPr/>
        <p:txBody>
          <a:bodyPr/>
          <a:lstStyle>
            <a:lvl1pPr>
              <a:defRPr/>
            </a:lvl1pPr>
          </a:lstStyle>
          <a:p>
            <a:pPr>
              <a:defRPr/>
            </a:pPr>
            <a:endParaRPr lang="ru-RU"/>
          </a:p>
        </p:txBody>
      </p:sp>
      <p:sp>
        <p:nvSpPr>
          <p:cNvPr id="3" name="Нижний колонтитул 21"/>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4" name="Номер слайда 17"/>
          <p:cNvSpPr>
            <a:spLocks noGrp="1"/>
          </p:cNvSpPr>
          <p:nvPr>
            <p:ph type="sldNum" sz="quarter" idx="12"/>
          </p:nvPr>
        </p:nvSpPr>
        <p:spPr/>
        <p:txBody>
          <a:bodyPr/>
          <a:lstStyle>
            <a:lvl1pPr>
              <a:defRPr/>
            </a:lvl1pPr>
          </a:lstStyle>
          <a:p>
            <a:pPr>
              <a:defRPr/>
            </a:pPr>
            <a:fld id="{4D82CACF-B9E1-43B5-9F76-B1AAD9D12151}" type="slidenum">
              <a:rPr lang="ru-RU"/>
              <a:pPr>
                <a:defRPr/>
              </a:pPr>
              <a:t>‹#›</a:t>
            </a:fld>
            <a:endParaRPr lang="ru-RU"/>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bg>
      <p:bgRef idx="1003">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ru-RU"/>
              <a:t>Образец заголовка</a:t>
            </a:r>
            <a:endParaRPr lang="en-US"/>
          </a:p>
        </p:txBody>
      </p:sp>
      <p:sp>
        <p:nvSpPr>
          <p:cNvPr id="3" name="Текст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ru-RU"/>
              <a:t>Образец текста</a:t>
            </a:r>
          </a:p>
        </p:txBody>
      </p:sp>
      <p:sp>
        <p:nvSpPr>
          <p:cNvPr id="4" name="Содержимое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p:cNvSpPr>
            <a:spLocks noGrp="1"/>
          </p:cNvSpPr>
          <p:nvPr>
            <p:ph type="dt" sz="half" idx="10"/>
          </p:nvPr>
        </p:nvSpPr>
        <p:spPr/>
        <p:txBody>
          <a:bodyPr/>
          <a:lstStyle>
            <a:lvl1pPr>
              <a:defRPr/>
            </a:lvl1pPr>
          </a:lstStyle>
          <a:p>
            <a:pPr>
              <a:defRPr/>
            </a:pPr>
            <a:endParaRPr lang="ru-RU"/>
          </a:p>
        </p:txBody>
      </p:sp>
      <p:sp>
        <p:nvSpPr>
          <p:cNvPr id="6" name="Нижний колонтитул 5"/>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7" name="Номер слайда 6"/>
          <p:cNvSpPr>
            <a:spLocks noGrp="1"/>
          </p:cNvSpPr>
          <p:nvPr>
            <p:ph type="sldNum" sz="quarter" idx="12"/>
          </p:nvPr>
        </p:nvSpPr>
        <p:spPr/>
        <p:txBody>
          <a:bodyPr/>
          <a:lstStyle>
            <a:lvl1pPr>
              <a:defRPr/>
            </a:lvl1pPr>
          </a:lstStyle>
          <a:p>
            <a:pPr>
              <a:defRPr/>
            </a:pPr>
            <a:fld id="{8170968D-BD45-4100-BADC-1F69459D36C0}" type="slidenum">
              <a:rPr lang="ru-RU"/>
              <a:pPr>
                <a:defRPr/>
              </a:pPr>
              <a:t>‹#›</a:t>
            </a:fld>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bg>
      <p:bgRef idx="1002">
        <a:schemeClr val="bg1"/>
      </p:bgRef>
    </p:bg>
    <p:spTree>
      <p:nvGrpSpPr>
        <p:cNvPr id="1" name=""/>
        <p:cNvGrpSpPr/>
        <p:nvPr/>
      </p:nvGrpSpPr>
      <p:grpSpPr>
        <a:xfrm>
          <a:off x="0" y="0"/>
          <a:ext cx="0" cy="0"/>
          <a:chOff x="0" y="0"/>
          <a:chExt cx="0" cy="0"/>
        </a:xfrm>
      </p:grpSpPr>
      <p:sp>
        <p:nvSpPr>
          <p:cNvPr id="5" name="Полилиния 7"/>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kumimoji="0" lang="en-US" sz="1800">
              <a:solidFill>
                <a:schemeClr val="tx1"/>
              </a:solidFill>
              <a:latin typeface="Arial" pitchFamily="34" charset="0"/>
              <a:cs typeface="Arial" pitchFamily="34" charset="0"/>
            </a:endParaRPr>
          </a:p>
        </p:txBody>
      </p:sp>
      <p:sp>
        <p:nvSpPr>
          <p:cNvPr id="6" name="Полилиния 8"/>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kumimoji="0" lang="en-US" sz="1800">
              <a:solidFill>
                <a:schemeClr val="tx1"/>
              </a:solidFill>
              <a:latin typeface="Arial" pitchFamily="34" charset="0"/>
              <a:cs typeface="Arial" pitchFamily="34" charset="0"/>
            </a:endParaRPr>
          </a:p>
        </p:txBody>
      </p:sp>
      <p:sp>
        <p:nvSpPr>
          <p:cNvPr id="7" name="Прямоугольный треугольник 9"/>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sz="1800"/>
          </a:p>
        </p:txBody>
      </p:sp>
      <p:cxnSp>
        <p:nvCxnSpPr>
          <p:cNvPr id="8" name="Прямая соединительная линия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Нашивка 11"/>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sz="1800"/>
          </a:p>
        </p:txBody>
      </p:sp>
      <p:sp>
        <p:nvSpPr>
          <p:cNvPr id="10" name="Нашивка 12"/>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sz="1800"/>
          </a:p>
        </p:txBody>
      </p:sp>
      <p:sp>
        <p:nvSpPr>
          <p:cNvPr id="4" name="Текст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ru-RU"/>
              <a:t>Образец текста</a:t>
            </a:r>
          </a:p>
        </p:txBody>
      </p:sp>
      <p:sp>
        <p:nvSpPr>
          <p:cNvPr id="3" name="Рисунок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ru-RU" noProof="0"/>
              <a:t>Вставка рисунка</a:t>
            </a:r>
            <a:endParaRPr lang="en-US" noProof="0" dirty="0"/>
          </a:p>
        </p:txBody>
      </p:sp>
      <p:sp>
        <p:nvSpPr>
          <p:cNvPr id="2" name="Заголовок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ru-RU"/>
              <a:t>Образец заголовка</a:t>
            </a:r>
            <a:endParaRPr lang="en-US"/>
          </a:p>
        </p:txBody>
      </p:sp>
      <p:sp>
        <p:nvSpPr>
          <p:cNvPr id="11" name="Дата 4"/>
          <p:cNvSpPr>
            <a:spLocks noGrp="1"/>
          </p:cNvSpPr>
          <p:nvPr>
            <p:ph type="dt" sz="half" idx="10"/>
          </p:nvPr>
        </p:nvSpPr>
        <p:spPr/>
        <p:txBody>
          <a:bodyPr/>
          <a:lstStyle>
            <a:lvl1pPr>
              <a:defRPr>
                <a:solidFill>
                  <a:schemeClr val="tx1"/>
                </a:solidFill>
              </a:defRPr>
            </a:lvl1pPr>
            <a:extLst/>
          </a:lstStyle>
          <a:p>
            <a:pPr>
              <a:defRPr/>
            </a:pPr>
            <a:endParaRPr lang="ru-RU"/>
          </a:p>
        </p:txBody>
      </p:sp>
      <p:sp>
        <p:nvSpPr>
          <p:cNvPr id="12" name="Нижний колонтитул 5"/>
          <p:cNvSpPr>
            <a:spLocks noGrp="1"/>
          </p:cNvSpPr>
          <p:nvPr>
            <p:ph type="ftr" sz="quarter" idx="11"/>
          </p:nvPr>
        </p:nvSpPr>
        <p:spPr/>
        <p:txBody>
          <a:bodyPr/>
          <a:lstStyle>
            <a:lvl1pPr>
              <a:defRPr>
                <a:solidFill>
                  <a:schemeClr val="tx1"/>
                </a:solidFill>
              </a:defRPr>
            </a:lvl1pPr>
            <a:extLst/>
          </a:lstStyle>
          <a:p>
            <a:pPr>
              <a:defRPr/>
            </a:pPr>
            <a:r>
              <a:rPr lang="ru-RU"/>
              <a:t>Министерство здравоохранения и социального развития Российской Федерации </a:t>
            </a:r>
          </a:p>
        </p:txBody>
      </p:sp>
      <p:sp>
        <p:nvSpPr>
          <p:cNvPr id="13" name="Номер слайда 6"/>
          <p:cNvSpPr>
            <a:spLocks noGrp="1"/>
          </p:cNvSpPr>
          <p:nvPr>
            <p:ph type="sldNum" sz="quarter" idx="12"/>
          </p:nvPr>
        </p:nvSpPr>
        <p:spPr/>
        <p:txBody>
          <a:bodyPr/>
          <a:lstStyle>
            <a:lvl1pPr>
              <a:defRPr smtClean="0">
                <a:solidFill>
                  <a:schemeClr val="tx1"/>
                </a:solidFill>
              </a:defRPr>
            </a:lvl1pPr>
            <a:extLst/>
          </a:lstStyle>
          <a:p>
            <a:pPr>
              <a:defRPr/>
            </a:pPr>
            <a:fld id="{8EADC47E-1980-4241-B021-A9751BE2CF11}" type="slidenum">
              <a:rPr lang="ru-RU"/>
              <a:pPr>
                <a:defRPr/>
              </a:pPr>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Вертикальный текст 2"/>
          <p:cNvSpPr>
            <a:spLocks noGrp="1"/>
          </p:cNvSpPr>
          <p:nvPr>
            <p:ph type="body" orient="vert" idx="1"/>
          </p:nvPr>
        </p:nvSpPr>
        <p:spPr>
          <a:xfrm>
            <a:off x="457200" y="1481329"/>
            <a:ext cx="8229600" cy="438607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9"/>
          <p:cNvSpPr>
            <a:spLocks noGrp="1"/>
          </p:cNvSpPr>
          <p:nvPr>
            <p:ph type="dt" sz="half" idx="10"/>
          </p:nvPr>
        </p:nvSpPr>
        <p:spPr/>
        <p:txBody>
          <a:bodyPr/>
          <a:lstStyle>
            <a:lvl1pPr>
              <a:defRPr/>
            </a:lvl1pPr>
          </a:lstStyle>
          <a:p>
            <a:pPr>
              <a:defRPr/>
            </a:pPr>
            <a:endParaRPr lang="ru-RU"/>
          </a:p>
        </p:txBody>
      </p:sp>
      <p:sp>
        <p:nvSpPr>
          <p:cNvPr id="5" name="Нижний колонтитул 21"/>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6" name="Номер слайда 17"/>
          <p:cNvSpPr>
            <a:spLocks noGrp="1"/>
          </p:cNvSpPr>
          <p:nvPr>
            <p:ph type="sldNum" sz="quarter" idx="12"/>
          </p:nvPr>
        </p:nvSpPr>
        <p:spPr/>
        <p:txBody>
          <a:bodyPr/>
          <a:lstStyle>
            <a:lvl1pPr>
              <a:defRPr/>
            </a:lvl1pPr>
          </a:lstStyle>
          <a:p>
            <a:pPr>
              <a:defRPr/>
            </a:pPr>
            <a:fld id="{1A68ECB7-EE44-4BDC-821C-E877C070B06E}" type="slidenum">
              <a:rPr lang="ru-RU"/>
              <a:pPr>
                <a:defRPr/>
              </a:pPr>
              <a:t>‹#›</a:t>
            </a:fld>
            <a:endParaRPr lang="ru-RU"/>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844013" y="274640"/>
            <a:ext cx="1777470" cy="5592761"/>
          </a:xfrm>
        </p:spPr>
        <p:txBody>
          <a:bodyPr vert="eaVert"/>
          <a:lstStyle/>
          <a:p>
            <a:r>
              <a:rPr lang="ru-RU"/>
              <a:t>Образец заголовка</a:t>
            </a:r>
            <a:endParaRPr lang="en-US"/>
          </a:p>
        </p:txBody>
      </p:sp>
      <p:sp>
        <p:nvSpPr>
          <p:cNvPr id="3" name="Вертикальный текст 2"/>
          <p:cNvSpPr>
            <a:spLocks noGrp="1"/>
          </p:cNvSpPr>
          <p:nvPr>
            <p:ph type="body" orient="vert" idx="1"/>
          </p:nvPr>
        </p:nvSpPr>
        <p:spPr>
          <a:xfrm>
            <a:off x="457200" y="274641"/>
            <a:ext cx="6324600" cy="559276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9"/>
          <p:cNvSpPr>
            <a:spLocks noGrp="1"/>
          </p:cNvSpPr>
          <p:nvPr>
            <p:ph type="dt" sz="half" idx="10"/>
          </p:nvPr>
        </p:nvSpPr>
        <p:spPr/>
        <p:txBody>
          <a:bodyPr/>
          <a:lstStyle>
            <a:lvl1pPr>
              <a:defRPr/>
            </a:lvl1pPr>
          </a:lstStyle>
          <a:p>
            <a:pPr>
              <a:defRPr/>
            </a:pPr>
            <a:endParaRPr lang="ru-RU"/>
          </a:p>
        </p:txBody>
      </p:sp>
      <p:sp>
        <p:nvSpPr>
          <p:cNvPr id="5" name="Нижний колонтитул 21"/>
          <p:cNvSpPr>
            <a:spLocks noGrp="1"/>
          </p:cNvSpPr>
          <p:nvPr>
            <p:ph type="ftr" sz="quarter" idx="11"/>
          </p:nvPr>
        </p:nvSpPr>
        <p:spPr/>
        <p:txBody>
          <a:bodyPr/>
          <a:lstStyle>
            <a:lvl1pPr>
              <a:defRPr/>
            </a:lvl1pPr>
          </a:lstStyle>
          <a:p>
            <a:pPr>
              <a:defRPr/>
            </a:pPr>
            <a:r>
              <a:rPr lang="ru-RU"/>
              <a:t>Министерство здравоохранения и социального развития Российской Федерации </a:t>
            </a:r>
          </a:p>
        </p:txBody>
      </p:sp>
      <p:sp>
        <p:nvSpPr>
          <p:cNvPr id="6" name="Номер слайда 17"/>
          <p:cNvSpPr>
            <a:spLocks noGrp="1"/>
          </p:cNvSpPr>
          <p:nvPr>
            <p:ph type="sldNum" sz="quarter" idx="12"/>
          </p:nvPr>
        </p:nvSpPr>
        <p:spPr/>
        <p:txBody>
          <a:bodyPr/>
          <a:lstStyle>
            <a:lvl1pPr>
              <a:defRPr/>
            </a:lvl1pPr>
          </a:lstStyle>
          <a:p>
            <a:pPr>
              <a:defRPr/>
            </a:pPr>
            <a:fld id="{D2A4DDEC-7BCD-46F5-A5AB-D139C8318FC3}" type="slidenum">
              <a:rPr lang="ru-RU"/>
              <a:pPr>
                <a:defRPr/>
              </a:pPr>
              <a:t>‹#›</a:t>
            </a:fld>
            <a:endParaRPr lang="ru-RU"/>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57200" y="274638"/>
            <a:ext cx="8229600" cy="582136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Дата 2"/>
          <p:cNvSpPr>
            <a:spLocks noGrp="1"/>
          </p:cNvSpPr>
          <p:nvPr>
            <p:ph type="dt" sz="half" idx="10"/>
          </p:nvPr>
        </p:nvSpPr>
        <p:spPr>
          <a:xfrm>
            <a:off x="457200" y="6248400"/>
            <a:ext cx="2133600" cy="457200"/>
          </a:xfrm>
        </p:spPr>
        <p:txBody>
          <a:bodyPr/>
          <a:lstStyle>
            <a:lvl1pPr>
              <a:defRPr/>
            </a:lvl1pPr>
          </a:lstStyle>
          <a:p>
            <a:pPr>
              <a:defRPr/>
            </a:pPr>
            <a:endParaRPr lang="ru-RU"/>
          </a:p>
        </p:txBody>
      </p:sp>
      <p:sp>
        <p:nvSpPr>
          <p:cNvPr id="4" name="Нижний колонтитул 3"/>
          <p:cNvSpPr>
            <a:spLocks noGrp="1"/>
          </p:cNvSpPr>
          <p:nvPr>
            <p:ph type="ftr" sz="quarter" idx="11"/>
          </p:nvPr>
        </p:nvSpPr>
        <p:spPr>
          <a:xfrm>
            <a:off x="3124200" y="6248400"/>
            <a:ext cx="2895600" cy="457200"/>
          </a:xfrm>
        </p:spPr>
        <p:txBody>
          <a:bodyPr/>
          <a:lstStyle>
            <a:lvl1pPr>
              <a:defRPr/>
            </a:lvl1pPr>
          </a:lstStyle>
          <a:p>
            <a:pPr>
              <a:defRPr/>
            </a:pPr>
            <a:endParaRPr lang="ru-RU"/>
          </a:p>
        </p:txBody>
      </p:sp>
      <p:sp>
        <p:nvSpPr>
          <p:cNvPr id="5" name="Номер слайда 4"/>
          <p:cNvSpPr>
            <a:spLocks noGrp="1"/>
          </p:cNvSpPr>
          <p:nvPr>
            <p:ph type="sldNum" sz="quarter" idx="12"/>
          </p:nvPr>
        </p:nvSpPr>
        <p:spPr>
          <a:xfrm>
            <a:off x="6553200" y="6248400"/>
            <a:ext cx="2133600" cy="457200"/>
          </a:xfrm>
        </p:spPr>
        <p:txBody>
          <a:bodyPr/>
          <a:lstStyle>
            <a:lvl1pPr>
              <a:defRPr/>
            </a:lvl1pPr>
          </a:lstStyle>
          <a:p>
            <a:pPr>
              <a:defRPr/>
            </a:pPr>
            <a:fld id="{CAC1A0A9-210F-4201-9D67-D47013966FCF}"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Полилиния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kumimoji="0" lang="en-US" sz="1800">
              <a:solidFill>
                <a:schemeClr val="tx1"/>
              </a:solidFill>
              <a:latin typeface="Arial" pitchFamily="34" charset="0"/>
              <a:cs typeface="Arial" pitchFamily="34" charset="0"/>
            </a:endParaRPr>
          </a:p>
        </p:txBody>
      </p:sp>
      <p:sp>
        <p:nvSpPr>
          <p:cNvPr id="12" name="Полилиния 11"/>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kumimoji="0" lang="en-US" sz="1800">
              <a:solidFill>
                <a:schemeClr val="tx1"/>
              </a:solidFill>
              <a:latin typeface="Arial" pitchFamily="34" charset="0"/>
              <a:cs typeface="Arial" pitchFamily="34" charset="0"/>
            </a:endParaRPr>
          </a:p>
        </p:txBody>
      </p:sp>
      <p:sp>
        <p:nvSpPr>
          <p:cNvPr id="14" name="Прямоугольный треугольник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sz="1800"/>
          </a:p>
        </p:txBody>
      </p:sp>
      <p:cxnSp>
        <p:nvCxnSpPr>
          <p:cNvPr id="15" name="Прямая соединительная линия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Заголовок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ru-RU"/>
              <a:t>Образец заголовка</a:t>
            </a:r>
            <a:endParaRPr lang="en-US"/>
          </a:p>
        </p:txBody>
      </p:sp>
      <p:sp>
        <p:nvSpPr>
          <p:cNvPr id="135177" name="Текст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smtClean="0"/>
          </a:p>
        </p:txBody>
      </p:sp>
      <p:sp>
        <p:nvSpPr>
          <p:cNvPr id="10" name="Дата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latin typeface="Arial" pitchFamily="34" charset="0"/>
                <a:cs typeface="Arial" pitchFamily="34" charset="0"/>
              </a:defRPr>
            </a:lvl1pPr>
            <a:extLst/>
          </a:lstStyle>
          <a:p>
            <a:pPr>
              <a:defRPr/>
            </a:pPr>
            <a:endParaRPr lang="ru-RU"/>
          </a:p>
        </p:txBody>
      </p:sp>
      <p:sp>
        <p:nvSpPr>
          <p:cNvPr id="22" name="Нижний колонтитул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latin typeface="Arial" pitchFamily="34" charset="0"/>
                <a:cs typeface="Arial" pitchFamily="34" charset="0"/>
              </a:defRPr>
            </a:lvl1pPr>
            <a:extLst/>
          </a:lstStyle>
          <a:p>
            <a:pPr>
              <a:defRPr/>
            </a:pPr>
            <a:r>
              <a:rPr lang="ru-RU"/>
              <a:t>Министерство здравоохранения и социального развития Российской Федерации </a:t>
            </a:r>
          </a:p>
        </p:txBody>
      </p:sp>
      <p:sp>
        <p:nvSpPr>
          <p:cNvPr id="18" name="Номер слайда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smtClean="0">
                <a:solidFill>
                  <a:schemeClr val="tx1"/>
                </a:solidFill>
                <a:latin typeface="Arial" pitchFamily="34" charset="0"/>
                <a:cs typeface="Arial" pitchFamily="34" charset="0"/>
              </a:defRPr>
            </a:lvl1pPr>
            <a:extLst/>
          </a:lstStyle>
          <a:p>
            <a:pPr>
              <a:defRPr/>
            </a:pPr>
            <a:fld id="{26134ABE-6DC9-4AFA-BF3D-DE0BFA992598}"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878" r:id="rId1"/>
    <p:sldLayoutId id="2147483874" r:id="rId2"/>
    <p:sldLayoutId id="2147483879" r:id="rId3"/>
    <p:sldLayoutId id="2147483880" r:id="rId4"/>
    <p:sldLayoutId id="2147483881" r:id="rId5"/>
    <p:sldLayoutId id="2147483882" r:id="rId6"/>
    <p:sldLayoutId id="2147483875" r:id="rId7"/>
    <p:sldLayoutId id="2147483883" r:id="rId8"/>
    <p:sldLayoutId id="2147483884" r:id="rId9"/>
    <p:sldLayoutId id="2147483876" r:id="rId10"/>
    <p:sldLayoutId id="2147483877" r:id="rId11"/>
    <p:sldLayoutId id="2147483885" r:id="rId12"/>
  </p:sldLayoutIdLst>
  <p:hf sldNum="0" hdr="0" ftr="0" dt="0"/>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itchFamily="34" charset="0"/>
        </a:defRPr>
      </a:lvl2pPr>
      <a:lvl3pPr algn="l" rtl="0" fontAlgn="base">
        <a:spcBef>
          <a:spcPct val="0"/>
        </a:spcBef>
        <a:spcAft>
          <a:spcPct val="0"/>
        </a:spcAft>
        <a:defRPr sz="4100" b="1">
          <a:solidFill>
            <a:schemeClr val="tx2"/>
          </a:solidFill>
          <a:latin typeface="Lucida Sans Unicode" pitchFamily="34" charset="0"/>
        </a:defRPr>
      </a:lvl3pPr>
      <a:lvl4pPr algn="l" rtl="0" fontAlgn="base">
        <a:spcBef>
          <a:spcPct val="0"/>
        </a:spcBef>
        <a:spcAft>
          <a:spcPct val="0"/>
        </a:spcAft>
        <a:defRPr sz="4100" b="1">
          <a:solidFill>
            <a:schemeClr val="tx2"/>
          </a:solidFill>
          <a:latin typeface="Lucida Sans Unicode" pitchFamily="34" charset="0"/>
        </a:defRPr>
      </a:lvl4pPr>
      <a:lvl5pPr algn="l" rtl="0" fontAlgn="base">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fontAlgn="base">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fontAlgn="base">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fontAlgn="base">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docs.cntd.ru/picture/get?id=P0060&amp;doc_id=1200008490"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eg"/><Relationship Id="rId7" Type="http://schemas.openxmlformats.org/officeDocument/2006/relationships/image" Target="../media/image45.jpeg"/><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jpeg"/><Relationship Id="rId4" Type="http://schemas.openxmlformats.org/officeDocument/2006/relationships/image" Target="../media/image42.jpeg"/></Relationships>
</file>

<file path=ppt/slides/_rels/slide2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jpeg"/><Relationship Id="rId3" Type="http://schemas.openxmlformats.org/officeDocument/2006/relationships/image" Target="../media/image52.jpeg"/><Relationship Id="rId7" Type="http://schemas.openxmlformats.org/officeDocument/2006/relationships/image" Target="../media/image56.jpeg"/><Relationship Id="rId12" Type="http://schemas.openxmlformats.org/officeDocument/2006/relationships/image" Target="../media/image61.jpe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5.jpeg"/><Relationship Id="rId11" Type="http://schemas.openxmlformats.org/officeDocument/2006/relationships/image" Target="../media/image60.jpeg"/><Relationship Id="rId5" Type="http://schemas.openxmlformats.org/officeDocument/2006/relationships/image" Target="../media/image54.png"/><Relationship Id="rId15" Type="http://schemas.openxmlformats.org/officeDocument/2006/relationships/image" Target="../media/image64.jpeg"/><Relationship Id="rId10" Type="http://schemas.openxmlformats.org/officeDocument/2006/relationships/image" Target="../media/image59.jpeg"/><Relationship Id="rId4" Type="http://schemas.openxmlformats.org/officeDocument/2006/relationships/image" Target="../media/image53.jpeg"/><Relationship Id="rId9" Type="http://schemas.openxmlformats.org/officeDocument/2006/relationships/image" Target="../media/image58.png"/><Relationship Id="rId14"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1.xml"/><Relationship Id="rId5" Type="http://schemas.openxmlformats.org/officeDocument/2006/relationships/image" Target="../media/image68.jpeg"/><Relationship Id="rId4" Type="http://schemas.openxmlformats.org/officeDocument/2006/relationships/image" Target="../media/image67.jpeg"/></Relationships>
</file>

<file path=ppt/slides/_rels/slide34.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3.wmf"/></Relationships>
</file>

<file path=ppt/slides/_rels/slide3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7.jpeg"/></Relationships>
</file>

<file path=ppt/slides/_rels/slide43.x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image" Target="../media/image82.w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88.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89.emf"/></Relationships>
</file>

<file path=ppt/slides/_rels/slide55.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hyperlink" Target="http://www.docload.ru/Basesdoc/11/11332/index.htm"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1.xml"/><Relationship Id="rId5" Type="http://schemas.openxmlformats.org/officeDocument/2006/relationships/image" Target="../media/image99.jpeg"/><Relationship Id="rId4" Type="http://schemas.openxmlformats.org/officeDocument/2006/relationships/image" Target="../media/image98.jpeg"/></Relationships>
</file>

<file path=ppt/slides/_rels/slide62.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jpeg"/><Relationship Id="rId1" Type="http://schemas.openxmlformats.org/officeDocument/2006/relationships/slideLayout" Target="../slideLayouts/slideLayout1.xml"/><Relationship Id="rId4" Type="http://schemas.openxmlformats.org/officeDocument/2006/relationships/image" Target="../media/image112.jpeg"/></Relationships>
</file>

<file path=ppt/slides/_rels/slide71.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113.jpeg"/><Relationship Id="rId1" Type="http://schemas.openxmlformats.org/officeDocument/2006/relationships/slideLayout" Target="../slideLayouts/slideLayout1.xml"/><Relationship Id="rId4" Type="http://schemas.openxmlformats.org/officeDocument/2006/relationships/image" Target="../media/image115.png"/></Relationships>
</file>

<file path=ppt/slides/_rels/slide72.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1.jpeg"/></Relationships>
</file>

<file path=ppt/slides/_rels/slide76.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2.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image" Target="../media/image120.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24.wmf"/><Relationship Id="rId7" Type="http://schemas.openxmlformats.org/officeDocument/2006/relationships/image" Target="../media/image128.wmf"/><Relationship Id="rId2" Type="http://schemas.openxmlformats.org/officeDocument/2006/relationships/image" Target="../media/image120.jpeg"/><Relationship Id="rId1" Type="http://schemas.openxmlformats.org/officeDocument/2006/relationships/slideLayout" Target="../slideLayouts/slideLayout7.xml"/><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5" name="Рисунок 7" descr="fon_obl_2015_green.png"/>
          <p:cNvPicPr>
            <a:picLocks noChangeAspect="1"/>
          </p:cNvPicPr>
          <p:nvPr/>
        </p:nvPicPr>
        <p:blipFill>
          <a:blip r:embed="rId2"/>
          <a:srcRect/>
          <a:stretch>
            <a:fillRect/>
          </a:stretch>
        </p:blipFill>
        <p:spPr bwMode="auto">
          <a:xfrm>
            <a:off x="1588" y="0"/>
            <a:ext cx="9140825" cy="6858000"/>
          </a:xfrm>
          <a:prstGeom prst="rect">
            <a:avLst/>
          </a:prstGeom>
          <a:noFill/>
          <a:ln w="9525">
            <a:noFill/>
            <a:miter lim="800000"/>
            <a:headEnd/>
            <a:tailEnd/>
          </a:ln>
        </p:spPr>
      </p:pic>
      <p:sp>
        <p:nvSpPr>
          <p:cNvPr id="88066" name="Прямоугольник 1"/>
          <p:cNvSpPr>
            <a:spLocks noChangeArrowheads="1"/>
          </p:cNvSpPr>
          <p:nvPr/>
        </p:nvSpPr>
        <p:spPr bwMode="auto">
          <a:xfrm>
            <a:off x="592138" y="2068513"/>
            <a:ext cx="8151812" cy="1754187"/>
          </a:xfrm>
          <a:prstGeom prst="rect">
            <a:avLst/>
          </a:prstGeom>
          <a:noFill/>
          <a:ln w="9525">
            <a:noFill/>
            <a:miter lim="800000"/>
            <a:headEnd/>
            <a:tailEnd/>
          </a:ln>
        </p:spPr>
        <p:txBody>
          <a:bodyPr>
            <a:spAutoFit/>
          </a:bodyPr>
          <a:lstStyle/>
          <a:p>
            <a:pPr algn="ctr"/>
            <a:r>
              <a:rPr lang="ru-RU" sz="3600" smtClean="0">
                <a:solidFill>
                  <a:schemeClr val="bg1"/>
                </a:solidFill>
                <a:latin typeface="Arial" charset="0"/>
              </a:rPr>
              <a:t>Оценка  </a:t>
            </a:r>
            <a:r>
              <a:rPr lang="ru-RU" sz="3600" dirty="0">
                <a:solidFill>
                  <a:schemeClr val="bg1"/>
                </a:solidFill>
                <a:latin typeface="Arial" charset="0"/>
              </a:rPr>
              <a:t>и управление профессиональными рисками в организации</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8"/>
          <p:cNvSpPr>
            <a:spLocks noChangeArrowheads="1"/>
          </p:cNvSpPr>
          <p:nvPr/>
        </p:nvSpPr>
        <p:spPr bwMode="auto">
          <a:xfrm>
            <a:off x="2879725" y="3879850"/>
            <a:ext cx="6264275" cy="2492375"/>
          </a:xfrm>
          <a:prstGeom prst="rect">
            <a:avLst/>
          </a:prstGeom>
          <a:noFill/>
          <a:ln w="9525">
            <a:noFill/>
            <a:miter lim="800000"/>
            <a:headEnd/>
            <a:tailEnd/>
          </a:ln>
        </p:spPr>
        <p:txBody>
          <a:bodyPr/>
          <a:lstStyle/>
          <a:p>
            <a:pPr algn="ctr">
              <a:lnSpc>
                <a:spcPct val="175000"/>
              </a:lnSpc>
              <a:spcBef>
                <a:spcPct val="20000"/>
              </a:spcBef>
            </a:pPr>
            <a:r>
              <a:rPr lang="ru-RU" sz="2400" b="1">
                <a:latin typeface="Arial" charset="0"/>
              </a:rPr>
              <a:t>Термины и определения</a:t>
            </a:r>
          </a:p>
        </p:txBody>
      </p:sp>
      <p:pic>
        <p:nvPicPr>
          <p:cNvPr id="89090" name="Рисунок 2" descr="Oшибкb в системе «Человек-Машина» "/>
          <p:cNvPicPr>
            <a:picLocks noChangeAspect="1" noChangeArrowheads="1"/>
          </p:cNvPicPr>
          <p:nvPr/>
        </p:nvPicPr>
        <p:blipFill>
          <a:blip r:embed="rId2"/>
          <a:srcRect/>
          <a:stretch>
            <a:fillRect/>
          </a:stretch>
        </p:blipFill>
        <p:spPr bwMode="auto">
          <a:xfrm>
            <a:off x="0" y="0"/>
            <a:ext cx="4451350" cy="3854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
          <p:cNvSpPr>
            <a:spLocks noGrp="1" noChangeArrowheads="1"/>
          </p:cNvSpPr>
          <p:nvPr>
            <p:ph idx="1"/>
          </p:nvPr>
        </p:nvSpPr>
        <p:spPr>
          <a:xfrm>
            <a:off x="395288" y="836613"/>
            <a:ext cx="8497887" cy="1512887"/>
          </a:xfrm>
        </p:spPr>
        <p:txBody>
          <a:bodyPr>
            <a:normAutofit lnSpcReduction="10000"/>
          </a:bodyPr>
          <a:lstStyle/>
          <a:p>
            <a:pPr marL="365760" indent="-256032" fontAlgn="auto">
              <a:spcBef>
                <a:spcPct val="10000"/>
              </a:spcBef>
              <a:spcAft>
                <a:spcPts val="0"/>
              </a:spcAft>
              <a:buFont typeface="Wingdings 3"/>
              <a:buNone/>
              <a:defRPr/>
            </a:pPr>
            <a:r>
              <a:rPr lang="ru-RU" b="1" i="1" u="sng" dirty="0">
                <a:solidFill>
                  <a:srgbClr val="002060"/>
                </a:solidFill>
              </a:rPr>
              <a:t>Опасность</a:t>
            </a:r>
            <a:r>
              <a:rPr lang="ru-RU" sz="2800" dirty="0">
                <a:solidFill>
                  <a:srgbClr val="002060"/>
                </a:solidFill>
              </a:rPr>
              <a:t> – п</a:t>
            </a:r>
            <a:r>
              <a:rPr lang="ru-RU" dirty="0">
                <a:solidFill>
                  <a:srgbClr val="002060"/>
                </a:solidFill>
              </a:rPr>
              <a:t>отенциальный источник возникновения ущерба</a:t>
            </a:r>
            <a:r>
              <a:rPr lang="ru-RU" sz="2800" dirty="0">
                <a:solidFill>
                  <a:srgbClr val="002060"/>
                </a:solidFill>
              </a:rPr>
              <a:t>.	</a:t>
            </a:r>
          </a:p>
          <a:p>
            <a:pPr marL="365760" indent="-256032" algn="ctr" fontAlgn="auto">
              <a:spcBef>
                <a:spcPct val="10000"/>
              </a:spcBef>
              <a:spcAft>
                <a:spcPts val="0"/>
              </a:spcAft>
              <a:buFont typeface="Wingdings 3"/>
              <a:buNone/>
              <a:defRPr/>
            </a:pPr>
            <a:r>
              <a:rPr lang="ru-RU" sz="1900" dirty="0">
                <a:solidFill>
                  <a:srgbClr val="002060"/>
                </a:solidFill>
              </a:rPr>
              <a:t>(ГОСТ Р 51898-2002 «Аспекты безопасности. Правила включения в стандарты»)	</a:t>
            </a:r>
          </a:p>
        </p:txBody>
      </p:sp>
      <p:pic>
        <p:nvPicPr>
          <p:cNvPr id="78859" name="Picture 11"/>
          <p:cNvPicPr>
            <a:picLocks noChangeAspect="1" noChangeArrowheads="1"/>
          </p:cNvPicPr>
          <p:nvPr/>
        </p:nvPicPr>
        <p:blipFill>
          <a:blip r:embed="rId2"/>
          <a:srcRect/>
          <a:stretch>
            <a:fillRect/>
          </a:stretch>
        </p:blipFill>
        <p:spPr bwMode="auto">
          <a:xfrm>
            <a:off x="3348038" y="2708275"/>
            <a:ext cx="3252787" cy="3600450"/>
          </a:xfrm>
          <a:prstGeom prst="rect">
            <a:avLst/>
          </a:prstGeom>
          <a:noFill/>
          <a:ln w="9525">
            <a:noFill/>
            <a:miter lim="800000"/>
            <a:headEnd/>
            <a:tailEnd/>
          </a:ln>
        </p:spPr>
      </p:pic>
      <p:sp>
        <p:nvSpPr>
          <p:cNvPr id="78860" name="Text Box 12"/>
          <p:cNvSpPr txBox="1">
            <a:spLocks noChangeArrowheads="1"/>
          </p:cNvSpPr>
          <p:nvPr/>
        </p:nvSpPr>
        <p:spPr bwMode="auto">
          <a:xfrm>
            <a:off x="179388" y="3068638"/>
            <a:ext cx="3313112" cy="396875"/>
          </a:xfrm>
          <a:prstGeom prst="rect">
            <a:avLst/>
          </a:prstGeom>
          <a:noFill/>
          <a:ln w="9525">
            <a:noFill/>
            <a:miter lim="800000"/>
            <a:headEnd/>
            <a:tailEnd/>
          </a:ln>
        </p:spPr>
        <p:txBody>
          <a:bodyPr>
            <a:spAutoFit/>
          </a:bodyPr>
          <a:lstStyle/>
          <a:p>
            <a:pPr>
              <a:spcBef>
                <a:spcPct val="50000"/>
              </a:spcBef>
            </a:pPr>
            <a:r>
              <a:rPr lang="ru-RU" sz="2000" b="1">
                <a:latin typeface="Arial" charset="0"/>
              </a:rPr>
              <a:t>Агрессивное поведение</a:t>
            </a:r>
            <a:endParaRPr lang="en-US" sz="2000" b="1">
              <a:latin typeface="Arial" charset="0"/>
            </a:endParaRPr>
          </a:p>
        </p:txBody>
      </p:sp>
      <p:sp>
        <p:nvSpPr>
          <p:cNvPr id="78861" name="Text Box 13"/>
          <p:cNvSpPr txBox="1">
            <a:spLocks noChangeArrowheads="1"/>
          </p:cNvSpPr>
          <p:nvPr/>
        </p:nvSpPr>
        <p:spPr bwMode="auto">
          <a:xfrm>
            <a:off x="1403350" y="4076700"/>
            <a:ext cx="1944688" cy="396875"/>
          </a:xfrm>
          <a:prstGeom prst="rect">
            <a:avLst/>
          </a:prstGeom>
          <a:noFill/>
          <a:ln w="9525">
            <a:noFill/>
            <a:miter lim="800000"/>
            <a:headEnd/>
            <a:tailEnd/>
          </a:ln>
        </p:spPr>
        <p:txBody>
          <a:bodyPr>
            <a:spAutoFit/>
          </a:bodyPr>
          <a:lstStyle/>
          <a:p>
            <a:pPr>
              <a:spcBef>
                <a:spcPct val="50000"/>
              </a:spcBef>
            </a:pPr>
            <a:r>
              <a:rPr lang="ru-RU" sz="2000" b="1">
                <a:latin typeface="Arial" charset="0"/>
              </a:rPr>
              <a:t>Острые зубы</a:t>
            </a:r>
            <a:endParaRPr lang="en-US" sz="2000" b="1">
              <a:latin typeface="Arial" charset="0"/>
            </a:endParaRPr>
          </a:p>
        </p:txBody>
      </p:sp>
      <p:sp>
        <p:nvSpPr>
          <p:cNvPr id="78862" name="Text Box 14"/>
          <p:cNvSpPr txBox="1">
            <a:spLocks noChangeArrowheads="1"/>
          </p:cNvSpPr>
          <p:nvPr/>
        </p:nvSpPr>
        <p:spPr bwMode="auto">
          <a:xfrm>
            <a:off x="1619250" y="5445125"/>
            <a:ext cx="2089150" cy="396875"/>
          </a:xfrm>
          <a:prstGeom prst="rect">
            <a:avLst/>
          </a:prstGeom>
          <a:noFill/>
          <a:ln w="9525">
            <a:noFill/>
            <a:miter lim="800000"/>
            <a:headEnd/>
            <a:tailEnd/>
          </a:ln>
        </p:spPr>
        <p:txBody>
          <a:bodyPr>
            <a:spAutoFit/>
          </a:bodyPr>
          <a:lstStyle/>
          <a:p>
            <a:pPr>
              <a:spcBef>
                <a:spcPct val="50000"/>
              </a:spcBef>
            </a:pPr>
            <a:r>
              <a:rPr lang="ru-RU" sz="2000" b="1">
                <a:latin typeface="Arial" charset="0"/>
              </a:rPr>
              <a:t>Острые когти</a:t>
            </a:r>
            <a:endParaRPr lang="en-US" sz="2000" b="1">
              <a:latin typeface="Arial" charset="0"/>
            </a:endParaRPr>
          </a:p>
        </p:txBody>
      </p:sp>
      <p:sp>
        <p:nvSpPr>
          <p:cNvPr id="78863" name="Text Box 15"/>
          <p:cNvSpPr txBox="1">
            <a:spLocks noChangeArrowheads="1"/>
          </p:cNvSpPr>
          <p:nvPr/>
        </p:nvSpPr>
        <p:spPr bwMode="auto">
          <a:xfrm>
            <a:off x="5292725" y="2852738"/>
            <a:ext cx="2665413" cy="396875"/>
          </a:xfrm>
          <a:prstGeom prst="rect">
            <a:avLst/>
          </a:prstGeom>
          <a:noFill/>
          <a:ln w="9525">
            <a:noFill/>
            <a:miter lim="800000"/>
            <a:headEnd/>
            <a:tailEnd/>
          </a:ln>
        </p:spPr>
        <p:txBody>
          <a:bodyPr>
            <a:spAutoFit/>
          </a:bodyPr>
          <a:lstStyle/>
          <a:p>
            <a:pPr>
              <a:spcBef>
                <a:spcPct val="50000"/>
              </a:spcBef>
            </a:pPr>
            <a:r>
              <a:rPr lang="ru-RU" sz="2000" b="1">
                <a:latin typeface="Arial" charset="0"/>
              </a:rPr>
              <a:t>Неприятный запах</a:t>
            </a:r>
            <a:endParaRPr lang="en-US" sz="2000" b="1">
              <a:latin typeface="Arial" charset="0"/>
            </a:endParaRPr>
          </a:p>
        </p:txBody>
      </p:sp>
      <p:sp>
        <p:nvSpPr>
          <p:cNvPr id="78864" name="Text Box 16"/>
          <p:cNvSpPr txBox="1">
            <a:spLocks noChangeArrowheads="1"/>
          </p:cNvSpPr>
          <p:nvPr/>
        </p:nvSpPr>
        <p:spPr bwMode="auto">
          <a:xfrm>
            <a:off x="6731000" y="4076700"/>
            <a:ext cx="1512888" cy="396875"/>
          </a:xfrm>
          <a:prstGeom prst="rect">
            <a:avLst/>
          </a:prstGeom>
          <a:noFill/>
          <a:ln w="9525">
            <a:noFill/>
            <a:miter lim="800000"/>
            <a:headEnd/>
            <a:tailEnd/>
          </a:ln>
        </p:spPr>
        <p:txBody>
          <a:bodyPr>
            <a:spAutoFit/>
          </a:bodyPr>
          <a:lstStyle/>
          <a:p>
            <a:pPr>
              <a:spcBef>
                <a:spcPct val="50000"/>
              </a:spcBef>
            </a:pPr>
            <a:r>
              <a:rPr lang="ru-RU" sz="2000" b="1">
                <a:latin typeface="Arial" charset="0"/>
              </a:rPr>
              <a:t>Паразиты</a:t>
            </a:r>
          </a:p>
        </p:txBody>
      </p:sp>
      <p:sp>
        <p:nvSpPr>
          <p:cNvPr id="78865" name="Text Box 17"/>
          <p:cNvSpPr txBox="1">
            <a:spLocks noChangeArrowheads="1"/>
          </p:cNvSpPr>
          <p:nvPr/>
        </p:nvSpPr>
        <p:spPr bwMode="auto">
          <a:xfrm>
            <a:off x="5076825" y="5695950"/>
            <a:ext cx="4032250" cy="396875"/>
          </a:xfrm>
          <a:prstGeom prst="rect">
            <a:avLst/>
          </a:prstGeom>
          <a:noFill/>
          <a:ln w="9525">
            <a:noFill/>
            <a:miter lim="800000"/>
            <a:headEnd/>
            <a:tailEnd/>
          </a:ln>
        </p:spPr>
        <p:txBody>
          <a:bodyPr>
            <a:spAutoFit/>
          </a:bodyPr>
          <a:lstStyle/>
          <a:p>
            <a:pPr>
              <a:spcBef>
                <a:spcPct val="50000"/>
              </a:spcBef>
            </a:pPr>
            <a:r>
              <a:rPr lang="ru-RU" sz="2000" b="1">
                <a:latin typeface="Arial" charset="0"/>
              </a:rPr>
              <a:t>Неконтролируемые движения</a:t>
            </a:r>
            <a:endParaRPr lang="en-US" sz="2000" b="1">
              <a:latin typeface="Arial" charset="0"/>
            </a:endParaRPr>
          </a:p>
        </p:txBody>
      </p:sp>
      <p:sp>
        <p:nvSpPr>
          <p:cNvPr id="78866" name="Text Box 18"/>
          <p:cNvSpPr txBox="1">
            <a:spLocks noChangeArrowheads="1"/>
          </p:cNvSpPr>
          <p:nvPr/>
        </p:nvSpPr>
        <p:spPr bwMode="auto">
          <a:xfrm>
            <a:off x="6372225" y="3213100"/>
            <a:ext cx="1439863" cy="396875"/>
          </a:xfrm>
          <a:prstGeom prst="rect">
            <a:avLst/>
          </a:prstGeom>
          <a:noFill/>
          <a:ln w="9525">
            <a:noFill/>
            <a:miter lim="800000"/>
            <a:headEnd/>
            <a:tailEnd/>
          </a:ln>
        </p:spPr>
        <p:txBody>
          <a:bodyPr>
            <a:spAutoFit/>
          </a:bodyPr>
          <a:lstStyle/>
          <a:p>
            <a:pPr>
              <a:spcBef>
                <a:spcPct val="50000"/>
              </a:spcBef>
            </a:pPr>
            <a:r>
              <a:rPr lang="ru-RU" sz="2000" b="1">
                <a:solidFill>
                  <a:srgbClr val="FF0066"/>
                </a:solidFill>
                <a:latin typeface="Arial" charset="0"/>
              </a:rPr>
              <a:t>Аллергия</a:t>
            </a:r>
            <a:endParaRPr lang="en-US" sz="2000" b="1">
              <a:solidFill>
                <a:srgbClr val="FF0066"/>
              </a:solidFill>
              <a:latin typeface="Arial" charset="0"/>
            </a:endParaRPr>
          </a:p>
        </p:txBody>
      </p:sp>
      <p:sp>
        <p:nvSpPr>
          <p:cNvPr id="78867" name="Rectangle 19"/>
          <p:cNvSpPr>
            <a:spLocks noChangeArrowheads="1"/>
          </p:cNvSpPr>
          <p:nvPr/>
        </p:nvSpPr>
        <p:spPr bwMode="auto">
          <a:xfrm>
            <a:off x="6588125" y="4508500"/>
            <a:ext cx="1800225" cy="701675"/>
          </a:xfrm>
          <a:prstGeom prst="rect">
            <a:avLst/>
          </a:prstGeom>
          <a:noFill/>
          <a:ln w="9525">
            <a:noFill/>
            <a:miter lim="800000"/>
            <a:headEnd/>
            <a:tailEnd/>
          </a:ln>
        </p:spPr>
        <p:txBody>
          <a:bodyPr>
            <a:spAutoFit/>
          </a:bodyPr>
          <a:lstStyle/>
          <a:p>
            <a:pPr algn="ctr">
              <a:spcBef>
                <a:spcPct val="50000"/>
              </a:spcBef>
            </a:pPr>
            <a:r>
              <a:rPr lang="ru-RU" sz="2000" b="1">
                <a:solidFill>
                  <a:srgbClr val="FF0066"/>
                </a:solidFill>
                <a:latin typeface="Arial" charset="0"/>
              </a:rPr>
              <a:t>Заражение паразитами</a:t>
            </a:r>
            <a:endParaRPr lang="en-US" sz="2000" b="1">
              <a:solidFill>
                <a:srgbClr val="FF0066"/>
              </a:solidFill>
              <a:latin typeface="Arial" charset="0"/>
            </a:endParaRPr>
          </a:p>
        </p:txBody>
      </p:sp>
      <p:sp>
        <p:nvSpPr>
          <p:cNvPr id="78868" name="Text Box 20"/>
          <p:cNvSpPr txBox="1">
            <a:spLocks noChangeArrowheads="1"/>
          </p:cNvSpPr>
          <p:nvPr/>
        </p:nvSpPr>
        <p:spPr bwMode="auto">
          <a:xfrm>
            <a:off x="5435600" y="6092825"/>
            <a:ext cx="1223963" cy="396875"/>
          </a:xfrm>
          <a:prstGeom prst="rect">
            <a:avLst/>
          </a:prstGeom>
          <a:noFill/>
          <a:ln w="9525">
            <a:noFill/>
            <a:miter lim="800000"/>
            <a:headEnd/>
            <a:tailEnd/>
          </a:ln>
        </p:spPr>
        <p:txBody>
          <a:bodyPr>
            <a:spAutoFit/>
          </a:bodyPr>
          <a:lstStyle/>
          <a:p>
            <a:pPr>
              <a:spcBef>
                <a:spcPct val="50000"/>
              </a:spcBef>
            </a:pPr>
            <a:r>
              <a:rPr lang="ru-RU" sz="2000" b="1">
                <a:solidFill>
                  <a:srgbClr val="FF0066"/>
                </a:solidFill>
                <a:latin typeface="Arial" charset="0"/>
              </a:rPr>
              <a:t>Ушибы</a:t>
            </a:r>
            <a:endParaRPr lang="en-US" sz="2000" b="1">
              <a:solidFill>
                <a:srgbClr val="FF0066"/>
              </a:solidFill>
              <a:latin typeface="Arial" charset="0"/>
            </a:endParaRPr>
          </a:p>
        </p:txBody>
      </p:sp>
      <p:sp>
        <p:nvSpPr>
          <p:cNvPr id="78869" name="Text Box 21"/>
          <p:cNvSpPr txBox="1">
            <a:spLocks noChangeArrowheads="1"/>
          </p:cNvSpPr>
          <p:nvPr/>
        </p:nvSpPr>
        <p:spPr bwMode="auto">
          <a:xfrm>
            <a:off x="2051050" y="4508500"/>
            <a:ext cx="936625" cy="396875"/>
          </a:xfrm>
          <a:prstGeom prst="rect">
            <a:avLst/>
          </a:prstGeom>
          <a:noFill/>
          <a:ln w="9525">
            <a:noFill/>
            <a:miter lim="800000"/>
            <a:headEnd/>
            <a:tailEnd/>
          </a:ln>
        </p:spPr>
        <p:txBody>
          <a:bodyPr>
            <a:spAutoFit/>
          </a:bodyPr>
          <a:lstStyle/>
          <a:p>
            <a:pPr>
              <a:spcBef>
                <a:spcPct val="50000"/>
              </a:spcBef>
            </a:pPr>
            <a:r>
              <a:rPr lang="ru-RU" sz="2000" b="1">
                <a:solidFill>
                  <a:srgbClr val="FF0066"/>
                </a:solidFill>
                <a:latin typeface="Arial" charset="0"/>
              </a:rPr>
              <a:t>Раны</a:t>
            </a:r>
            <a:endParaRPr lang="en-US" sz="2000" b="1">
              <a:solidFill>
                <a:srgbClr val="FF0066"/>
              </a:solidFill>
              <a:latin typeface="Arial" charset="0"/>
            </a:endParaRPr>
          </a:p>
        </p:txBody>
      </p:sp>
      <p:sp>
        <p:nvSpPr>
          <p:cNvPr id="78870" name="Text Box 22"/>
          <p:cNvSpPr txBox="1">
            <a:spLocks noChangeArrowheads="1"/>
          </p:cNvSpPr>
          <p:nvPr/>
        </p:nvSpPr>
        <p:spPr bwMode="auto">
          <a:xfrm>
            <a:off x="1836738" y="5876925"/>
            <a:ext cx="1511300" cy="396875"/>
          </a:xfrm>
          <a:prstGeom prst="rect">
            <a:avLst/>
          </a:prstGeom>
          <a:noFill/>
          <a:ln w="9525">
            <a:noFill/>
            <a:miter lim="800000"/>
            <a:headEnd/>
            <a:tailEnd/>
          </a:ln>
        </p:spPr>
        <p:txBody>
          <a:bodyPr>
            <a:spAutoFit/>
          </a:bodyPr>
          <a:lstStyle/>
          <a:p>
            <a:pPr>
              <a:spcBef>
                <a:spcPct val="50000"/>
              </a:spcBef>
            </a:pPr>
            <a:r>
              <a:rPr lang="ru-RU" sz="2000" b="1">
                <a:solidFill>
                  <a:srgbClr val="FF0066"/>
                </a:solidFill>
                <a:latin typeface="Arial" charset="0"/>
              </a:rPr>
              <a:t>Царапины</a:t>
            </a:r>
            <a:endParaRPr lang="en-US" sz="2000" b="1">
              <a:solidFill>
                <a:srgbClr val="FF0066"/>
              </a:solidFill>
              <a:latin typeface="Arial" charset="0"/>
            </a:endParaRPr>
          </a:p>
        </p:txBody>
      </p:sp>
      <p:sp>
        <p:nvSpPr>
          <p:cNvPr id="78871" name="Text Box 23"/>
          <p:cNvSpPr txBox="1">
            <a:spLocks noChangeArrowheads="1"/>
          </p:cNvSpPr>
          <p:nvPr/>
        </p:nvSpPr>
        <p:spPr bwMode="auto">
          <a:xfrm>
            <a:off x="1044575" y="3536950"/>
            <a:ext cx="1295400" cy="396875"/>
          </a:xfrm>
          <a:prstGeom prst="rect">
            <a:avLst/>
          </a:prstGeom>
          <a:noFill/>
          <a:ln w="9525">
            <a:noFill/>
            <a:miter lim="800000"/>
            <a:headEnd/>
            <a:tailEnd/>
          </a:ln>
        </p:spPr>
        <p:txBody>
          <a:bodyPr>
            <a:spAutoFit/>
          </a:bodyPr>
          <a:lstStyle/>
          <a:p>
            <a:pPr>
              <a:spcBef>
                <a:spcPct val="50000"/>
              </a:spcBef>
            </a:pPr>
            <a:r>
              <a:rPr lang="ru-RU" sz="2000" b="1">
                <a:solidFill>
                  <a:srgbClr val="FF0066"/>
                </a:solidFill>
                <a:latin typeface="Arial" charset="0"/>
              </a:rPr>
              <a:t>Травмы</a:t>
            </a:r>
            <a:endParaRPr lang="en-US" sz="2000" b="1">
              <a:solidFill>
                <a:srgbClr val="FF0066"/>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iterate type="lt">
                                    <p:tmPct val="0"/>
                                  </p:iterate>
                                  <p:childTnLst>
                                    <p:set>
                                      <p:cBhvr>
                                        <p:cTn id="10" dur="1" fill="hold">
                                          <p:stCondLst>
                                            <p:cond delay="0"/>
                                          </p:stCondLst>
                                        </p:cTn>
                                        <p:tgtEl>
                                          <p:spTgt spid="78860"/>
                                        </p:tgtEl>
                                        <p:attrNameLst>
                                          <p:attrName>style.visibility</p:attrName>
                                        </p:attrNameLst>
                                      </p:cBhvr>
                                      <p:to>
                                        <p:strVal val="visible"/>
                                      </p:to>
                                    </p:set>
                                    <p:animEffect transition="in" filter="dissolve">
                                      <p:cBhvr>
                                        <p:cTn id="11" dur="500"/>
                                        <p:tgtEl>
                                          <p:spTgt spid="7886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iterate type="lt">
                                    <p:tmPct val="0"/>
                                  </p:iterate>
                                  <p:childTnLst>
                                    <p:set>
                                      <p:cBhvr>
                                        <p:cTn id="15" dur="1" fill="hold">
                                          <p:stCondLst>
                                            <p:cond delay="0"/>
                                          </p:stCondLst>
                                        </p:cTn>
                                        <p:tgtEl>
                                          <p:spTgt spid="78865"/>
                                        </p:tgtEl>
                                        <p:attrNameLst>
                                          <p:attrName>style.visibility</p:attrName>
                                        </p:attrNameLst>
                                      </p:cBhvr>
                                      <p:to>
                                        <p:strVal val="visible"/>
                                      </p:to>
                                    </p:set>
                                    <p:animEffect transition="in" filter="dissolve">
                                      <p:cBhvr>
                                        <p:cTn id="16" dur="500"/>
                                        <p:tgtEl>
                                          <p:spTgt spid="7886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iterate type="lt">
                                    <p:tmPct val="0"/>
                                  </p:iterate>
                                  <p:childTnLst>
                                    <p:set>
                                      <p:cBhvr>
                                        <p:cTn id="20" dur="1" fill="hold">
                                          <p:stCondLst>
                                            <p:cond delay="0"/>
                                          </p:stCondLst>
                                        </p:cTn>
                                        <p:tgtEl>
                                          <p:spTgt spid="78863"/>
                                        </p:tgtEl>
                                        <p:attrNameLst>
                                          <p:attrName>style.visibility</p:attrName>
                                        </p:attrNameLst>
                                      </p:cBhvr>
                                      <p:to>
                                        <p:strVal val="visible"/>
                                      </p:to>
                                    </p:set>
                                    <p:animEffect transition="in" filter="dissolve">
                                      <p:cBhvr>
                                        <p:cTn id="21" dur="500"/>
                                        <p:tgtEl>
                                          <p:spTgt spid="7886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iterate type="lt">
                                    <p:tmPct val="0"/>
                                  </p:iterate>
                                  <p:childTnLst>
                                    <p:set>
                                      <p:cBhvr>
                                        <p:cTn id="25" dur="1" fill="hold">
                                          <p:stCondLst>
                                            <p:cond delay="0"/>
                                          </p:stCondLst>
                                        </p:cTn>
                                        <p:tgtEl>
                                          <p:spTgt spid="78861"/>
                                        </p:tgtEl>
                                        <p:attrNameLst>
                                          <p:attrName>style.visibility</p:attrName>
                                        </p:attrNameLst>
                                      </p:cBhvr>
                                      <p:to>
                                        <p:strVal val="visible"/>
                                      </p:to>
                                    </p:set>
                                    <p:animEffect transition="in" filter="dissolve">
                                      <p:cBhvr>
                                        <p:cTn id="26" dur="500"/>
                                        <p:tgtEl>
                                          <p:spTgt spid="7886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iterate type="lt">
                                    <p:tmPct val="0"/>
                                  </p:iterate>
                                  <p:childTnLst>
                                    <p:set>
                                      <p:cBhvr>
                                        <p:cTn id="30" dur="1" fill="hold">
                                          <p:stCondLst>
                                            <p:cond delay="0"/>
                                          </p:stCondLst>
                                        </p:cTn>
                                        <p:tgtEl>
                                          <p:spTgt spid="78864">
                                            <p:txEl>
                                              <p:pRg st="0" end="0"/>
                                            </p:txEl>
                                          </p:spTgt>
                                        </p:tgtEl>
                                        <p:attrNameLst>
                                          <p:attrName>style.visibility</p:attrName>
                                        </p:attrNameLst>
                                      </p:cBhvr>
                                      <p:to>
                                        <p:strVal val="visible"/>
                                      </p:to>
                                    </p:set>
                                    <p:animEffect transition="in" filter="dissolve">
                                      <p:cBhvr>
                                        <p:cTn id="31" dur="500"/>
                                        <p:tgtEl>
                                          <p:spTgt spid="7886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lt">
                                    <p:tmPct val="0"/>
                                  </p:iterate>
                                  <p:childTnLst>
                                    <p:set>
                                      <p:cBhvr>
                                        <p:cTn id="35" dur="1" fill="hold">
                                          <p:stCondLst>
                                            <p:cond delay="0"/>
                                          </p:stCondLst>
                                        </p:cTn>
                                        <p:tgtEl>
                                          <p:spTgt spid="78862"/>
                                        </p:tgtEl>
                                        <p:attrNameLst>
                                          <p:attrName>style.visibility</p:attrName>
                                        </p:attrNameLst>
                                      </p:cBhvr>
                                      <p:to>
                                        <p:strVal val="visible"/>
                                      </p:to>
                                    </p:set>
                                    <p:animEffect transition="in" filter="dissolve">
                                      <p:cBhvr>
                                        <p:cTn id="36" dur="500"/>
                                        <p:tgtEl>
                                          <p:spTgt spid="7886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78866"/>
                                        </p:tgtEl>
                                        <p:attrNameLst>
                                          <p:attrName>style.visibility</p:attrName>
                                        </p:attrNameLst>
                                      </p:cBhvr>
                                      <p:to>
                                        <p:strVal val="visible"/>
                                      </p:to>
                                    </p:set>
                                    <p:animEffect transition="in" filter="dissolve">
                                      <p:cBhvr>
                                        <p:cTn id="41" dur="500"/>
                                        <p:tgtEl>
                                          <p:spTgt spid="78866"/>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8867"/>
                                        </p:tgtEl>
                                        <p:attrNameLst>
                                          <p:attrName>style.visibility</p:attrName>
                                        </p:attrNameLst>
                                      </p:cBhvr>
                                      <p:to>
                                        <p:strVal val="visible"/>
                                      </p:to>
                                    </p:set>
                                    <p:animEffect transition="in" filter="dissolve">
                                      <p:cBhvr>
                                        <p:cTn id="46" dur="500"/>
                                        <p:tgtEl>
                                          <p:spTgt spid="7886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78868"/>
                                        </p:tgtEl>
                                        <p:attrNameLst>
                                          <p:attrName>style.visibility</p:attrName>
                                        </p:attrNameLst>
                                      </p:cBhvr>
                                      <p:to>
                                        <p:strVal val="visible"/>
                                      </p:to>
                                    </p:set>
                                    <p:animEffect transition="in" filter="dissolve">
                                      <p:cBhvr>
                                        <p:cTn id="51" dur="500"/>
                                        <p:tgtEl>
                                          <p:spTgt spid="7886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78869"/>
                                        </p:tgtEl>
                                        <p:attrNameLst>
                                          <p:attrName>style.visibility</p:attrName>
                                        </p:attrNameLst>
                                      </p:cBhvr>
                                      <p:to>
                                        <p:strVal val="visible"/>
                                      </p:to>
                                    </p:set>
                                    <p:animEffect transition="in" filter="dissolve">
                                      <p:cBhvr>
                                        <p:cTn id="56" dur="500"/>
                                        <p:tgtEl>
                                          <p:spTgt spid="78869"/>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78870"/>
                                        </p:tgtEl>
                                        <p:attrNameLst>
                                          <p:attrName>style.visibility</p:attrName>
                                        </p:attrNameLst>
                                      </p:cBhvr>
                                      <p:to>
                                        <p:strVal val="visible"/>
                                      </p:to>
                                    </p:set>
                                    <p:animEffect transition="in" filter="dissolve">
                                      <p:cBhvr>
                                        <p:cTn id="61" dur="500"/>
                                        <p:tgtEl>
                                          <p:spTgt spid="7887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78871"/>
                                        </p:tgtEl>
                                        <p:attrNameLst>
                                          <p:attrName>style.visibility</p:attrName>
                                        </p:attrNameLst>
                                      </p:cBhvr>
                                      <p:to>
                                        <p:strVal val="visible"/>
                                      </p:to>
                                    </p:set>
                                    <p:animEffect transition="in" filter="dissolve">
                                      <p:cBhvr>
                                        <p:cTn id="66" dur="500"/>
                                        <p:tgtEl>
                                          <p:spTgt spid="78871"/>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1" nodeType="clickEffect">
                                  <p:stCondLst>
                                    <p:cond delay="0"/>
                                  </p:stCondLst>
                                  <p:childTnLst>
                                    <p:set>
                                      <p:cBhvr>
                                        <p:cTn id="70" dur="1" fill="hold">
                                          <p:stCondLst>
                                            <p:cond delay="0"/>
                                          </p:stCondLst>
                                        </p:cTn>
                                        <p:tgtEl>
                                          <p:spTgt spid="78871"/>
                                        </p:tgtEl>
                                        <p:attrNameLst>
                                          <p:attrName>style.visibility</p:attrName>
                                        </p:attrNameLst>
                                      </p:cBhvr>
                                      <p:to>
                                        <p:strVal val="visible"/>
                                      </p:to>
                                    </p:set>
                                    <p:animEffect transition="in" filter="dissolve">
                                      <p:cBhvr>
                                        <p:cTn id="71" dur="500"/>
                                        <p:tgtEl>
                                          <p:spTgt spid="78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0" grpId="0"/>
      <p:bldP spid="78861" grpId="0"/>
      <p:bldP spid="78862" grpId="0"/>
      <p:bldP spid="78863" grpId="0"/>
      <p:bldP spid="78864" grpId="0" build="allAtOnce"/>
      <p:bldP spid="78865" grpId="0"/>
      <p:bldP spid="78866" grpId="0"/>
      <p:bldP spid="78867" grpId="0"/>
      <p:bldP spid="78868" grpId="0"/>
      <p:bldP spid="78869" grpId="0"/>
      <p:bldP spid="78870" grpId="0"/>
      <p:bldP spid="78871" grpId="0"/>
      <p:bldP spid="78871"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250825" y="981075"/>
            <a:ext cx="8642350" cy="442913"/>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901700" y="1627188"/>
            <a:ext cx="7813675" cy="150177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ru-RU" altLang="ja-JP" sz="1800" b="1">
                <a:solidFill>
                  <a:srgbClr val="002060"/>
                </a:solidFill>
                <a:latin typeface="Times New Roman" pitchFamily="18" charset="0"/>
                <a:cs typeface="Arial" charset="0"/>
              </a:rPr>
              <a:t>Федеральный закон от 24.07.1998 г. № 125-ФЗ «Об обязательном социальном страховании от несчастных случаев на производстве и профессиональных заболеваний»</a:t>
            </a:r>
            <a:endParaRPr lang="ru-RU" sz="1800" b="1">
              <a:solidFill>
                <a:srgbClr val="002060"/>
              </a:solidFill>
              <a:latin typeface="Times New Roman" pitchFamily="18" charset="0"/>
              <a:cs typeface="Arial" charset="0"/>
            </a:endParaRPr>
          </a:p>
        </p:txBody>
      </p:sp>
      <p:sp>
        <p:nvSpPr>
          <p:cNvPr id="2" name="Скругленный прямоугольник 6"/>
          <p:cNvSpPr/>
          <p:nvPr/>
        </p:nvSpPr>
        <p:spPr>
          <a:xfrm>
            <a:off x="903288" y="3376613"/>
            <a:ext cx="7813675" cy="243998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r>
              <a:rPr lang="ru-RU" altLang="ja-JP" b="1">
                <a:solidFill>
                  <a:srgbClr val="002060"/>
                </a:solidFill>
                <a:latin typeface="Times New Roman" pitchFamily="18" charset="0"/>
                <a:cs typeface="Arial" charset="0"/>
              </a:rPr>
              <a:t>Статья 3</a:t>
            </a:r>
          </a:p>
          <a:p>
            <a:pPr>
              <a:buFontTx/>
              <a:buChar char="•"/>
            </a:pPr>
            <a:r>
              <a:rPr lang="ru-RU" altLang="ja-JP" b="1">
                <a:solidFill>
                  <a:srgbClr val="002060"/>
                </a:solidFill>
                <a:latin typeface="Times New Roman" pitchFamily="18" charset="0"/>
                <a:cs typeface="Arial" charset="0"/>
              </a:rPr>
              <a:t> </a:t>
            </a:r>
            <a:r>
              <a:rPr lang="ru-RU" altLang="ja-JP" b="1" i="1">
                <a:solidFill>
                  <a:srgbClr val="002060"/>
                </a:solidFill>
                <a:latin typeface="Times New Roman" pitchFamily="18" charset="0"/>
                <a:cs typeface="Arial" charset="0"/>
              </a:rPr>
              <a:t>профессиональный риск</a:t>
            </a:r>
            <a:r>
              <a:rPr lang="ru-RU" altLang="ja-JP" b="1">
                <a:solidFill>
                  <a:srgbClr val="002060"/>
                </a:solidFill>
                <a:latin typeface="Times New Roman" pitchFamily="18" charset="0"/>
                <a:cs typeface="Arial" charset="0"/>
              </a:rPr>
              <a:t> – вероятность повреждения (утраты) здоровья или смерти застрахованного, связанная с исполнением им обязанностей по трудовому договору (контракту) и в иных установленных настоящим Федеральным законом случаях.</a:t>
            </a:r>
          </a:p>
          <a:p>
            <a:pPr>
              <a:buFontTx/>
              <a:buChar char="•"/>
            </a:pPr>
            <a:r>
              <a:rPr lang="ru-RU" altLang="ja-JP" b="1">
                <a:solidFill>
                  <a:srgbClr val="002060"/>
                </a:solidFill>
                <a:latin typeface="Times New Roman" pitchFamily="18" charset="0"/>
                <a:cs typeface="Arial" charset="0"/>
              </a:rPr>
              <a:t> </a:t>
            </a:r>
            <a:r>
              <a:rPr lang="ru-RU" altLang="ja-JP" b="1" i="1">
                <a:solidFill>
                  <a:srgbClr val="002060"/>
                </a:solidFill>
                <a:latin typeface="Times New Roman" pitchFamily="18" charset="0"/>
                <a:cs typeface="Arial" charset="0"/>
              </a:rPr>
              <a:t>класс профессионального риска</a:t>
            </a:r>
            <a:r>
              <a:rPr lang="ru-RU" altLang="ja-JP" b="1">
                <a:solidFill>
                  <a:srgbClr val="002060"/>
                </a:solidFill>
                <a:latin typeface="Times New Roman" pitchFamily="18" charset="0"/>
                <a:cs typeface="Arial" charset="0"/>
              </a:rPr>
              <a:t> - уровень производственного травматизма, профессиональной заболеваемости и расходов на обеспечение по страхованию, сжившийся в отраслях (подотраслях) экономики</a:t>
            </a:r>
          </a:p>
        </p:txBody>
      </p:sp>
      <p:pic>
        <p:nvPicPr>
          <p:cNvPr id="91140" name="Picture 10" descr="что такое эдо Блог ЦНТИ &quot;Прогресс&quot;: семинары, обучение персо…"/>
          <p:cNvPicPr>
            <a:picLocks noChangeAspect="1" noChangeArrowheads="1"/>
          </p:cNvPicPr>
          <p:nvPr/>
        </p:nvPicPr>
        <p:blipFill>
          <a:blip r:embed="rId2"/>
          <a:srcRect/>
          <a:stretch>
            <a:fillRect/>
          </a:stretch>
        </p:blipFill>
        <p:spPr bwMode="auto">
          <a:xfrm>
            <a:off x="0" y="0"/>
            <a:ext cx="1979613" cy="14843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395288" y="1196975"/>
            <a:ext cx="5400675" cy="439738"/>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830263" y="2108200"/>
            <a:ext cx="7813675" cy="1027113"/>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spcBef>
                <a:spcPct val="20000"/>
              </a:spcBef>
              <a:buClr>
                <a:srgbClr val="0BD0D9"/>
              </a:buClr>
              <a:buSzPct val="95000"/>
            </a:pPr>
            <a:r>
              <a:rPr lang="ru-RU" altLang="ja-JP" sz="2000" b="1">
                <a:solidFill>
                  <a:srgbClr val="002060"/>
                </a:solidFill>
                <a:cs typeface="Arial" charset="0"/>
              </a:rPr>
              <a:t>Трудовой кодекс Российской Федерации</a:t>
            </a:r>
          </a:p>
        </p:txBody>
      </p:sp>
      <p:sp>
        <p:nvSpPr>
          <p:cNvPr id="2" name="Скругленный прямоугольник 6"/>
          <p:cNvSpPr/>
          <p:nvPr/>
        </p:nvSpPr>
        <p:spPr>
          <a:xfrm>
            <a:off x="901700" y="3357563"/>
            <a:ext cx="7813675" cy="243998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r>
              <a:rPr lang="ru-RU" altLang="ja-JP" sz="1600" b="1">
                <a:solidFill>
                  <a:srgbClr val="002060"/>
                </a:solidFill>
                <a:latin typeface="Arial" charset="0"/>
                <a:cs typeface="Arial" charset="0"/>
              </a:rPr>
              <a:t>Статья 209</a:t>
            </a:r>
          </a:p>
          <a:p>
            <a:r>
              <a:rPr lang="ru-RU" altLang="ja-JP" sz="1600" b="1">
                <a:solidFill>
                  <a:srgbClr val="002060"/>
                </a:solidFill>
                <a:latin typeface="Arial" charset="0"/>
                <a:cs typeface="Arial" charset="0"/>
              </a:rPr>
              <a:t>Профессиональный риск</a:t>
            </a:r>
            <a:r>
              <a:rPr lang="ru-RU" altLang="ja-JP" sz="1600">
                <a:solidFill>
                  <a:srgbClr val="002060"/>
                </a:solidFill>
                <a:latin typeface="Arial" charset="0"/>
                <a:cs typeface="Arial" charset="0"/>
              </a:rPr>
              <a:t> </a:t>
            </a:r>
            <a:r>
              <a:rPr lang="ru-RU" altLang="ja-JP" sz="1600">
                <a:solidFill>
                  <a:srgbClr val="002060"/>
                </a:solidFill>
                <a:cs typeface="Arial" charset="0"/>
              </a:rPr>
              <a:t>–</a:t>
            </a:r>
            <a:r>
              <a:rPr lang="ru-RU" altLang="ja-JP" sz="1600">
                <a:solidFill>
                  <a:srgbClr val="002060"/>
                </a:solidFill>
                <a:latin typeface="Arial" charset="0"/>
                <a:cs typeface="Arial" charset="0"/>
              </a:rPr>
              <a:t> вероятность причинения вреда здоровью в результате воздействия вредных и (или) опасных факторов при исполнении работником обязанностей по трудовому договору или в иных случаях, установленных настоящим Кодексом, другими федеральными законами.</a:t>
            </a:r>
            <a:r>
              <a:rPr lang="ru-RU" altLang="ja-JP" sz="1600">
                <a:solidFill>
                  <a:schemeClr val="tx1"/>
                </a:solidFill>
                <a:latin typeface="Arial" charset="0"/>
                <a:cs typeface="Arial" charset="0"/>
              </a:rPr>
              <a:t> </a:t>
            </a:r>
          </a:p>
        </p:txBody>
      </p:sp>
      <p:pic>
        <p:nvPicPr>
          <p:cNvPr id="92164" name="Picture 10" descr="Современные технологии электронного документооборота ДитаД - делопроизводство, документоведение, информационные технологии и арх"/>
          <p:cNvPicPr>
            <a:picLocks noChangeAspect="1" noChangeArrowheads="1"/>
          </p:cNvPicPr>
          <p:nvPr/>
        </p:nvPicPr>
        <p:blipFill>
          <a:blip r:embed="rId2"/>
          <a:srcRect/>
          <a:stretch>
            <a:fillRect/>
          </a:stretch>
        </p:blipFill>
        <p:spPr bwMode="auto">
          <a:xfrm>
            <a:off x="6893169" y="378032"/>
            <a:ext cx="2025747" cy="134774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250825" y="981075"/>
            <a:ext cx="8642350" cy="442913"/>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901700" y="1701800"/>
            <a:ext cx="7813675" cy="206533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800" b="1" dirty="0">
                <a:solidFill>
                  <a:srgbClr val="002060"/>
                </a:solidFill>
                <a:cs typeface="Arial" pitchFamily="34" charset="0"/>
              </a:rPr>
              <a:t>ГОСТ </a:t>
            </a:r>
            <a:r>
              <a:rPr lang="ru-RU" altLang="ja-JP" sz="1800" b="1" dirty="0" smtClean="0">
                <a:solidFill>
                  <a:srgbClr val="002060"/>
                </a:solidFill>
                <a:cs typeface="Arial" pitchFamily="34" charset="0"/>
              </a:rPr>
              <a:t>12.0.230-2007 «ССБТ. Система управления охраной труда. Общие требования»</a:t>
            </a:r>
            <a:endParaRPr lang="ru-RU" altLang="ja-JP" sz="1800" b="1" dirty="0">
              <a:solidFill>
                <a:srgbClr val="002060"/>
              </a:solidFill>
              <a:cs typeface="Arial" pitchFamily="34" charset="0"/>
            </a:endParaRPr>
          </a:p>
          <a:p>
            <a:pPr>
              <a:defRPr/>
            </a:pPr>
            <a:r>
              <a:rPr lang="ru-RU" altLang="ja-JP" sz="1800" b="1" dirty="0">
                <a:solidFill>
                  <a:srgbClr val="002060"/>
                </a:solidFill>
                <a:latin typeface="Garamond" pitchFamily="18" charset="0"/>
                <a:cs typeface="Arial" pitchFamily="34" charset="0"/>
              </a:rPr>
              <a:t>Риск </a:t>
            </a:r>
            <a:r>
              <a:rPr lang="ru-RU" altLang="ja-JP" sz="1800" dirty="0">
                <a:solidFill>
                  <a:srgbClr val="002060"/>
                </a:solidFill>
                <a:latin typeface="Garamond" pitchFamily="18" charset="0"/>
                <a:cs typeface="Arial" pitchFamily="34" charset="0"/>
              </a:rPr>
              <a:t>– сочетание вероятности возникновения в процессе трудовой деятельности опасного события, тяжести травмы или другого ущерба для здоровья человека, вызванных этим событием</a:t>
            </a:r>
          </a:p>
        </p:txBody>
      </p:sp>
      <p:sp>
        <p:nvSpPr>
          <p:cNvPr id="2" name="Скругленный прямоугольник 6"/>
          <p:cNvSpPr/>
          <p:nvPr/>
        </p:nvSpPr>
        <p:spPr>
          <a:xfrm>
            <a:off x="831850" y="3938588"/>
            <a:ext cx="7813675" cy="206533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800" b="1" dirty="0">
                <a:solidFill>
                  <a:srgbClr val="002060"/>
                </a:solidFill>
                <a:cs typeface="Arial" pitchFamily="34" charset="0"/>
              </a:rPr>
              <a:t>ГОСТ </a:t>
            </a:r>
            <a:r>
              <a:rPr lang="ru-RU" altLang="ja-JP" sz="1800" b="1" dirty="0" smtClean="0">
                <a:solidFill>
                  <a:srgbClr val="002060"/>
                </a:solidFill>
                <a:cs typeface="Arial" pitchFamily="34" charset="0"/>
              </a:rPr>
              <a:t>12.0.010-2009 «ССБТ. Система управления охраной труда. Определение опасностей и оценка рисков»</a:t>
            </a:r>
            <a:endParaRPr lang="ru-RU" altLang="ja-JP" sz="1800" b="1" dirty="0">
              <a:solidFill>
                <a:srgbClr val="002060"/>
              </a:solidFill>
              <a:cs typeface="Arial" pitchFamily="34" charset="0"/>
            </a:endParaRPr>
          </a:p>
          <a:p>
            <a:pPr>
              <a:defRPr/>
            </a:pPr>
            <a:r>
              <a:rPr lang="ru-RU" altLang="ja-JP" sz="1800" b="1" dirty="0">
                <a:solidFill>
                  <a:srgbClr val="002060"/>
                </a:solidFill>
                <a:latin typeface="Garamond" pitchFamily="18" charset="0"/>
                <a:cs typeface="Arial" pitchFamily="34" charset="0"/>
              </a:rPr>
              <a:t>Риск </a:t>
            </a:r>
            <a:r>
              <a:rPr lang="ru-RU" altLang="ja-JP" sz="1800" dirty="0">
                <a:solidFill>
                  <a:srgbClr val="002060"/>
                </a:solidFill>
                <a:latin typeface="Garamond" pitchFamily="18" charset="0"/>
                <a:cs typeface="Arial" pitchFamily="34" charset="0"/>
              </a:rPr>
              <a:t>– сочетание (произведение) вероятности (или частоты) нанесения ущерба и тяжести этого ущерба</a:t>
            </a:r>
          </a:p>
        </p:txBody>
      </p:sp>
      <p:pic>
        <p:nvPicPr>
          <p:cNvPr id="93188" name="Picture 10" descr="8aee60667720"/>
          <p:cNvPicPr>
            <a:picLocks noChangeAspect="1" noChangeArrowheads="1"/>
          </p:cNvPicPr>
          <p:nvPr/>
        </p:nvPicPr>
        <p:blipFill>
          <a:blip r:embed="rId2"/>
          <a:srcRect/>
          <a:stretch>
            <a:fillRect/>
          </a:stretch>
        </p:blipFill>
        <p:spPr bwMode="auto">
          <a:xfrm>
            <a:off x="0" y="0"/>
            <a:ext cx="1935163" cy="15922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09" name="Picture 2" descr="http://www.studfiles.ru/html/2706/143/html_kV7r_cN6eH.FcW9/htmlconvd-I3A6Q2_html_m3d78b848.png"/>
          <p:cNvPicPr>
            <a:picLocks noChangeAspect="1" noChangeArrowheads="1"/>
          </p:cNvPicPr>
          <p:nvPr/>
        </p:nvPicPr>
        <p:blipFill>
          <a:blip r:embed="rId2"/>
          <a:srcRect/>
          <a:stretch>
            <a:fillRect/>
          </a:stretch>
        </p:blipFill>
        <p:spPr bwMode="auto">
          <a:xfrm>
            <a:off x="5043488" y="23813"/>
            <a:ext cx="4100512" cy="892175"/>
          </a:xfrm>
          <a:prstGeom prst="rect">
            <a:avLst/>
          </a:prstGeom>
          <a:noFill/>
          <a:ln w="9525">
            <a:noFill/>
            <a:miter lim="800000"/>
            <a:headEnd/>
            <a:tailEnd/>
          </a:ln>
        </p:spPr>
      </p:pic>
      <p:sp>
        <p:nvSpPr>
          <p:cNvPr id="4" name="Заголовок 1"/>
          <p:cNvSpPr txBox="1">
            <a:spLocks/>
          </p:cNvSpPr>
          <p:nvPr/>
        </p:nvSpPr>
        <p:spPr>
          <a:xfrm>
            <a:off x="908050" y="166688"/>
            <a:ext cx="4535488" cy="439737"/>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354013" y="2817813"/>
            <a:ext cx="8402637" cy="96043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600" dirty="0">
                <a:solidFill>
                  <a:srgbClr val="002060"/>
                </a:solidFill>
                <a:latin typeface="Garamond" pitchFamily="18" charset="0"/>
                <a:cs typeface="Arial" pitchFamily="34" charset="0"/>
              </a:rPr>
              <a:t> </a:t>
            </a:r>
            <a:r>
              <a:rPr lang="ru-RU" sz="1600" dirty="0">
                <a:solidFill>
                  <a:srgbClr val="002060"/>
                </a:solidFill>
              </a:rPr>
              <a:t>Под следствием влияния неопределенности необходимо понимать отклонение от ожидаемого результата или события (позитивное и/или негативное)</a:t>
            </a:r>
            <a:endParaRPr lang="ru-RU" altLang="ja-JP" sz="1600" dirty="0">
              <a:solidFill>
                <a:srgbClr val="002060"/>
              </a:solidFill>
              <a:latin typeface="Garamond" pitchFamily="18" charset="0"/>
              <a:cs typeface="Arial" pitchFamily="34" charset="0"/>
            </a:endParaRPr>
          </a:p>
        </p:txBody>
      </p:sp>
      <p:sp>
        <p:nvSpPr>
          <p:cNvPr id="2" name="Скругленный прямоугольник 6"/>
          <p:cNvSpPr/>
          <p:nvPr/>
        </p:nvSpPr>
        <p:spPr>
          <a:xfrm>
            <a:off x="354013" y="3990975"/>
            <a:ext cx="8402637" cy="112553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sz="1600" dirty="0">
                <a:solidFill>
                  <a:srgbClr val="002060"/>
                </a:solidFill>
              </a:rPr>
              <a:t>Цели могут быть различными по содержанию (в области экономики, здоровья, экологии и т.п.) и назначению (стратегические, общеорганизационные, относящиеся к разработке проекта, конкретной продукции и процессу)</a:t>
            </a:r>
            <a:endParaRPr lang="ru-RU" altLang="ja-JP" sz="1600" dirty="0">
              <a:solidFill>
                <a:srgbClr val="002060"/>
              </a:solidFill>
              <a:latin typeface="Garamond" pitchFamily="18" charset="0"/>
              <a:cs typeface="Arial" pitchFamily="34" charset="0"/>
            </a:endParaRPr>
          </a:p>
        </p:txBody>
      </p:sp>
      <p:sp>
        <p:nvSpPr>
          <p:cNvPr id="3" name="Скругленный прямоугольник 6"/>
          <p:cNvSpPr/>
          <p:nvPr/>
        </p:nvSpPr>
        <p:spPr>
          <a:xfrm>
            <a:off x="471488" y="5370513"/>
            <a:ext cx="8285162"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sz="1600" dirty="0">
                <a:solidFill>
                  <a:srgbClr val="002060"/>
                </a:solidFill>
              </a:rPr>
              <a:t>Неопределенность - это состояние полного или частичного отсутствия информации, необходимой для понимания события, его последствий и их вероятностей</a:t>
            </a:r>
            <a:endParaRPr lang="ru-RU" altLang="ja-JP" sz="1600" dirty="0">
              <a:solidFill>
                <a:srgbClr val="002060"/>
              </a:solidFill>
              <a:latin typeface="Garamond" pitchFamily="18" charset="0"/>
              <a:cs typeface="Arial" pitchFamily="34" charset="0"/>
            </a:endParaRPr>
          </a:p>
        </p:txBody>
      </p:sp>
      <p:sp>
        <p:nvSpPr>
          <p:cNvPr id="9" name="Скругленный прямоугольник 6"/>
          <p:cNvSpPr/>
          <p:nvPr/>
        </p:nvSpPr>
        <p:spPr>
          <a:xfrm>
            <a:off x="354013" y="1838325"/>
            <a:ext cx="8402637"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1800" b="1" dirty="0">
                <a:solidFill>
                  <a:srgbClr val="002060"/>
                </a:solidFill>
              </a:rPr>
              <a:t>Риск</a:t>
            </a:r>
            <a:r>
              <a:rPr lang="ru-RU" sz="1800" dirty="0">
                <a:solidFill>
                  <a:srgbClr val="002060"/>
                </a:solidFill>
              </a:rPr>
              <a:t>: следствие влияния неопределенности на достижение поставленных целей</a:t>
            </a:r>
            <a:endParaRPr lang="ru-RU" altLang="ja-JP" sz="1800" dirty="0">
              <a:solidFill>
                <a:srgbClr val="002060"/>
              </a:solidFill>
              <a:latin typeface="Garamond" pitchFamily="18" charset="0"/>
              <a:cs typeface="Arial" pitchFamily="34" charset="0"/>
            </a:endParaRPr>
          </a:p>
        </p:txBody>
      </p:sp>
      <p:sp>
        <p:nvSpPr>
          <p:cNvPr id="5" name="Скругленный прямоугольник 6"/>
          <p:cNvSpPr/>
          <p:nvPr/>
        </p:nvSpPr>
        <p:spPr>
          <a:xfrm>
            <a:off x="908050" y="915988"/>
            <a:ext cx="7588250"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600" b="1" dirty="0">
                <a:solidFill>
                  <a:srgbClr val="002060"/>
                </a:solidFill>
                <a:cs typeface="Arial" pitchFamily="34" charset="0"/>
              </a:rPr>
              <a:t>ГОСТ Р 51897-2011 / Руководство ИСО 73:2009 «Менеджмент риска. Термины и определения»</a:t>
            </a:r>
            <a:endParaRPr lang="ru-RU" altLang="ja-JP" sz="1600" b="1" dirty="0">
              <a:solidFill>
                <a:srgbClr val="002060"/>
              </a:solidFill>
              <a:latin typeface="Garamond" pitchFamily="18"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908050" y="166688"/>
            <a:ext cx="4535488" cy="439737"/>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682624" y="2363788"/>
            <a:ext cx="8010525" cy="96202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600" dirty="0" smtClean="0">
                <a:solidFill>
                  <a:srgbClr val="002060"/>
                </a:solidFill>
                <a:latin typeface="Garamond" pitchFamily="18" charset="0"/>
                <a:cs typeface="Arial" pitchFamily="34" charset="0"/>
              </a:rPr>
              <a:t> </a:t>
            </a:r>
            <a:r>
              <a:rPr lang="ru-RU" altLang="ja-JP" sz="1600" b="1" dirty="0" smtClean="0">
                <a:solidFill>
                  <a:srgbClr val="FF0000"/>
                </a:solidFill>
                <a:latin typeface="Garamond" pitchFamily="18" charset="0"/>
                <a:cs typeface="Arial" pitchFamily="34" charset="0"/>
              </a:rPr>
              <a:t>Д</a:t>
            </a:r>
            <a:r>
              <a:rPr lang="ru-RU" sz="1600" b="1" dirty="0" smtClean="0">
                <a:solidFill>
                  <a:srgbClr val="FF0000"/>
                </a:solidFill>
              </a:rPr>
              <a:t>опустимый риск </a:t>
            </a:r>
            <a:r>
              <a:rPr lang="ru-RU" sz="1600" dirty="0" smtClean="0">
                <a:solidFill>
                  <a:srgbClr val="002060"/>
                </a:solidFill>
              </a:rPr>
              <a:t>- </a:t>
            </a:r>
            <a:r>
              <a:rPr lang="ru-RU" sz="1600" dirty="0">
                <a:solidFill>
                  <a:srgbClr val="002060"/>
                </a:solidFill>
              </a:rPr>
              <a:t>риск, который организация и причастные стороны готовы сохранять после обработки риска для достижения своих целей.</a:t>
            </a:r>
            <a:endParaRPr lang="ru-RU" altLang="ja-JP" sz="1600" dirty="0">
              <a:solidFill>
                <a:srgbClr val="002060"/>
              </a:solidFill>
              <a:latin typeface="Garamond" pitchFamily="18" charset="0"/>
              <a:cs typeface="Arial" pitchFamily="34" charset="0"/>
            </a:endParaRPr>
          </a:p>
        </p:txBody>
      </p:sp>
      <p:sp>
        <p:nvSpPr>
          <p:cNvPr id="2" name="Скругленный прямоугольник 6"/>
          <p:cNvSpPr/>
          <p:nvPr/>
        </p:nvSpPr>
        <p:spPr>
          <a:xfrm>
            <a:off x="682624" y="3427413"/>
            <a:ext cx="8010526" cy="112553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sz="1600" dirty="0">
                <a:solidFill>
                  <a:srgbClr val="002060"/>
                </a:solidFill>
              </a:rPr>
              <a:t>Допустимость риска связана с законодательными и обязательными требованиями.</a:t>
            </a:r>
            <a:endParaRPr lang="ru-RU" altLang="ja-JP" sz="1600" dirty="0">
              <a:solidFill>
                <a:srgbClr val="002060"/>
              </a:solidFill>
              <a:latin typeface="Garamond" pitchFamily="18" charset="0"/>
              <a:cs typeface="Arial" pitchFamily="34" charset="0"/>
            </a:endParaRPr>
          </a:p>
        </p:txBody>
      </p:sp>
      <p:sp>
        <p:nvSpPr>
          <p:cNvPr id="3" name="Скругленный прямоугольник 6"/>
          <p:cNvSpPr/>
          <p:nvPr/>
        </p:nvSpPr>
        <p:spPr>
          <a:xfrm>
            <a:off x="682624" y="4738688"/>
            <a:ext cx="8010525"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sz="1600" b="1" dirty="0">
                <a:solidFill>
                  <a:srgbClr val="FF0000"/>
                </a:solidFill>
              </a:rPr>
              <a:t>Остаточный риск </a:t>
            </a:r>
            <a:r>
              <a:rPr lang="ru-RU" sz="1600" dirty="0">
                <a:solidFill>
                  <a:srgbClr val="002060"/>
                </a:solidFill>
              </a:rPr>
              <a:t>- риск, оставшийся после обработки риска. </a:t>
            </a:r>
          </a:p>
          <a:p>
            <a:pPr>
              <a:defRPr/>
            </a:pPr>
            <a:r>
              <a:rPr lang="ru-RU" sz="1600" dirty="0">
                <a:solidFill>
                  <a:srgbClr val="002060"/>
                </a:solidFill>
              </a:rPr>
              <a:t>Остаточный риск может представлять собой неопределенный риск. </a:t>
            </a:r>
            <a:endParaRPr lang="ru-RU" altLang="ja-JP" sz="1600" dirty="0">
              <a:solidFill>
                <a:srgbClr val="002060"/>
              </a:solidFill>
              <a:latin typeface="Garamond" pitchFamily="18" charset="0"/>
              <a:cs typeface="Arial" pitchFamily="34" charset="0"/>
            </a:endParaRPr>
          </a:p>
        </p:txBody>
      </p:sp>
      <p:pic>
        <p:nvPicPr>
          <p:cNvPr id="95237" name="Picture 16" descr="kaska"/>
          <p:cNvPicPr>
            <a:picLocks noChangeAspect="1" noChangeArrowheads="1"/>
          </p:cNvPicPr>
          <p:nvPr/>
        </p:nvPicPr>
        <p:blipFill>
          <a:blip r:embed="rId2"/>
          <a:srcRect/>
          <a:stretch>
            <a:fillRect/>
          </a:stretch>
        </p:blipFill>
        <p:spPr bwMode="auto">
          <a:xfrm>
            <a:off x="6635750" y="0"/>
            <a:ext cx="2508250" cy="1422400"/>
          </a:xfrm>
          <a:prstGeom prst="rect">
            <a:avLst/>
          </a:prstGeom>
          <a:noFill/>
          <a:ln w="9525">
            <a:noFill/>
            <a:miter lim="800000"/>
            <a:headEnd/>
            <a:tailEnd/>
          </a:ln>
        </p:spPr>
      </p:pic>
      <p:sp>
        <p:nvSpPr>
          <p:cNvPr id="5" name="Скругленный прямоугольник 6"/>
          <p:cNvSpPr/>
          <p:nvPr/>
        </p:nvSpPr>
        <p:spPr>
          <a:xfrm>
            <a:off x="682625" y="1255713"/>
            <a:ext cx="7277100"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600" b="1" dirty="0">
                <a:solidFill>
                  <a:srgbClr val="002060"/>
                </a:solidFill>
                <a:cs typeface="Arial" pitchFamily="34" charset="0"/>
              </a:rPr>
              <a:t>ГОСТ Р 51897-2011 / Руководство ИСО 73:2009 «Менеджмент риска. Термины и определения»</a:t>
            </a:r>
            <a:endParaRPr lang="ru-RU" altLang="ja-JP" sz="1600" b="1" dirty="0">
              <a:solidFill>
                <a:srgbClr val="002060"/>
              </a:solidFill>
              <a:latin typeface="Garamond" pitchFamily="18"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7" name="Рисунок 6" descr="Новости - Журнал Пригород"/>
          <p:cNvPicPr>
            <a:picLocks noChangeAspect="1" noChangeArrowheads="1"/>
          </p:cNvPicPr>
          <p:nvPr/>
        </p:nvPicPr>
        <p:blipFill>
          <a:blip r:embed="rId2"/>
          <a:srcRect/>
          <a:stretch>
            <a:fillRect/>
          </a:stretch>
        </p:blipFill>
        <p:spPr bwMode="auto">
          <a:xfrm>
            <a:off x="6840391" y="2087710"/>
            <a:ext cx="2124222" cy="2440163"/>
          </a:xfrm>
          <a:prstGeom prst="rect">
            <a:avLst/>
          </a:prstGeom>
          <a:noFill/>
          <a:ln w="9525">
            <a:noFill/>
            <a:miter lim="800000"/>
            <a:headEnd/>
            <a:tailEnd/>
          </a:ln>
        </p:spPr>
      </p:pic>
      <p:sp>
        <p:nvSpPr>
          <p:cNvPr id="96258" name="Text Box 4"/>
          <p:cNvSpPr txBox="1">
            <a:spLocks noChangeArrowheads="1"/>
          </p:cNvSpPr>
          <p:nvPr/>
        </p:nvSpPr>
        <p:spPr bwMode="auto">
          <a:xfrm>
            <a:off x="847725" y="425450"/>
            <a:ext cx="8116888" cy="5492750"/>
          </a:xfrm>
          <a:prstGeom prst="rect">
            <a:avLst/>
          </a:prstGeom>
          <a:noFill/>
          <a:ln w="9525" algn="ctr">
            <a:noFill/>
            <a:miter lim="800000"/>
            <a:headEnd/>
            <a:tailEnd/>
          </a:ln>
        </p:spPr>
        <p:txBody>
          <a:bodyPr anchor="ctr"/>
          <a:lstStyle/>
          <a:p>
            <a:endParaRPr lang="ru-RU" sz="1800" b="1">
              <a:latin typeface="Arial" charset="0"/>
            </a:endParaRPr>
          </a:p>
        </p:txBody>
      </p:sp>
      <p:sp>
        <p:nvSpPr>
          <p:cNvPr id="5" name="Заголовок 1"/>
          <p:cNvSpPr txBox="1">
            <a:spLocks/>
          </p:cNvSpPr>
          <p:nvPr/>
        </p:nvSpPr>
        <p:spPr>
          <a:xfrm>
            <a:off x="323850" y="127239"/>
            <a:ext cx="7961313" cy="861774"/>
          </a:xfrm>
          <a:prstGeom prst="rect">
            <a:avLst/>
          </a:prstGeom>
        </p:spPr>
        <p:txBody>
          <a:bodyPr lIns="0" tIns="0" rIns="0" bIns="0" anchor="b">
            <a:spAutoFit/>
          </a:bodyPr>
          <a:lstStyle/>
          <a:p>
            <a:pPr algn="ctr">
              <a:defRPr/>
            </a:pPr>
            <a:r>
              <a:rPr lang="ru-RU" sz="2000" b="1" dirty="0">
                <a:effectLst>
                  <a:outerShdw blurRad="38100" dist="38100" dir="2700000" algn="tl">
                    <a:srgbClr val="C0C0C0"/>
                  </a:outerShdw>
                </a:effectLst>
                <a:latin typeface="Arial" charset="0"/>
              </a:rPr>
              <a:t>ISO 14001:2015 </a:t>
            </a:r>
            <a:endParaRPr lang="ru-RU" sz="2000" dirty="0">
              <a:latin typeface="Arial" pitchFamily="34" charset="0"/>
              <a:cs typeface="Arial" pitchFamily="34" charset="0"/>
            </a:endParaRPr>
          </a:p>
          <a:p>
            <a:pPr algn="ctr">
              <a:defRPr/>
            </a:pPr>
            <a:r>
              <a:rPr lang="ru-RU" sz="1800" dirty="0">
                <a:latin typeface="Arial" pitchFamily="34" charset="0"/>
                <a:cs typeface="Arial" pitchFamily="34" charset="0"/>
              </a:rPr>
              <a:t> (по аналогии с ГОСТ Р 51897-2011/Руководство ИСО 73:2009 Менеджмент риска. Термины и определения)</a:t>
            </a:r>
            <a:endParaRPr lang="ru-RU" sz="1800" dirty="0">
              <a:effectLst>
                <a:outerShdw blurRad="38100" dist="38100" dir="2700000" algn="tl">
                  <a:srgbClr val="C0C0C0"/>
                </a:outerShdw>
              </a:effectLst>
              <a:latin typeface="Arial" charset="0"/>
            </a:endParaRPr>
          </a:p>
        </p:txBody>
      </p:sp>
      <p:sp>
        <p:nvSpPr>
          <p:cNvPr id="6" name="Прямоугольник 5"/>
          <p:cNvSpPr/>
          <p:nvPr/>
        </p:nvSpPr>
        <p:spPr>
          <a:xfrm>
            <a:off x="323850" y="989013"/>
            <a:ext cx="6421974" cy="534144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1600" b="1" i="1" dirty="0">
              <a:solidFill>
                <a:schemeClr val="tx1"/>
              </a:solidFill>
            </a:endParaRPr>
          </a:p>
          <a:p>
            <a:pPr>
              <a:defRPr/>
            </a:pPr>
            <a:r>
              <a:rPr lang="ru-RU" sz="1600" b="1" dirty="0">
                <a:solidFill>
                  <a:srgbClr val="002060"/>
                </a:solidFill>
              </a:rPr>
              <a:t>6.1 Действия по обработке рисков и реализации возможностей </a:t>
            </a:r>
          </a:p>
          <a:p>
            <a:pPr>
              <a:defRPr/>
            </a:pPr>
            <a:endParaRPr lang="ru-RU" sz="800" b="1" dirty="0">
              <a:solidFill>
                <a:srgbClr val="002060"/>
              </a:solidFill>
            </a:endParaRPr>
          </a:p>
          <a:p>
            <a:pPr>
              <a:defRPr/>
            </a:pPr>
            <a:r>
              <a:rPr lang="ru-RU" sz="1600" b="1" dirty="0">
                <a:solidFill>
                  <a:srgbClr val="002060"/>
                </a:solidFill>
              </a:rPr>
              <a:t>риск (</a:t>
            </a:r>
            <a:r>
              <a:rPr lang="ru-RU" sz="1600" b="1" dirty="0" err="1">
                <a:solidFill>
                  <a:srgbClr val="002060"/>
                </a:solidFill>
              </a:rPr>
              <a:t>risk</a:t>
            </a:r>
            <a:r>
              <a:rPr lang="ru-RU" sz="1600" b="1" dirty="0">
                <a:solidFill>
                  <a:srgbClr val="002060"/>
                </a:solidFill>
              </a:rPr>
              <a:t>) - влияние неопределенности </a:t>
            </a:r>
          </a:p>
          <a:p>
            <a:pPr>
              <a:defRPr/>
            </a:pPr>
            <a:r>
              <a:rPr lang="ru-RU" sz="1600" b="1" i="1" dirty="0">
                <a:solidFill>
                  <a:schemeClr val="tx1"/>
                </a:solidFill>
              </a:rPr>
              <a:t>Примечание 1 к определению: Влияние – это отклонение от ожидаемого – положительное или отрицательное. </a:t>
            </a:r>
          </a:p>
          <a:p>
            <a:pPr>
              <a:defRPr/>
            </a:pPr>
            <a:r>
              <a:rPr lang="ru-RU" sz="1600" b="1" i="1" dirty="0">
                <a:solidFill>
                  <a:schemeClr val="tx1"/>
                </a:solidFill>
              </a:rPr>
              <a:t>Примечание 2 к определению: Неопределенность – состояние, даже частичное, недостаточности информации, связанное с пониманием события или знанием о нем, его последствий или вероятности. </a:t>
            </a:r>
          </a:p>
          <a:p>
            <a:pPr>
              <a:defRPr/>
            </a:pPr>
            <a:r>
              <a:rPr lang="ru-RU" sz="1600" b="1" i="1" dirty="0">
                <a:solidFill>
                  <a:schemeClr val="tx1"/>
                </a:solidFill>
              </a:rPr>
              <a:t>Примечание 3 к определению: Риск часто характеризуется указанием возможных «событий» и «последствий», или их комбинации. </a:t>
            </a:r>
          </a:p>
          <a:p>
            <a:pPr>
              <a:defRPr/>
            </a:pPr>
            <a:r>
              <a:rPr lang="ru-RU" sz="1600" b="1" i="1" dirty="0">
                <a:solidFill>
                  <a:schemeClr val="tx1"/>
                </a:solidFill>
              </a:rPr>
              <a:t>Примечание 4 к определению: Риск часто выражается в форме комбинации последствий события (включая изменения в обстоятельствах) и связанной с ним «вероятности» возникновения. </a:t>
            </a:r>
          </a:p>
          <a:p>
            <a:pPr>
              <a:defRPr/>
            </a:pPr>
            <a:endParaRPr lang="ru-RU" sz="800" b="1" dirty="0">
              <a:solidFill>
                <a:srgbClr val="002060"/>
              </a:solidFill>
            </a:endParaRPr>
          </a:p>
          <a:p>
            <a:pPr>
              <a:defRPr/>
            </a:pPr>
            <a:r>
              <a:rPr lang="ru-RU" sz="1600" b="1" dirty="0">
                <a:solidFill>
                  <a:srgbClr val="002060"/>
                </a:solidFill>
              </a:rPr>
              <a:t>риски и возможности </a:t>
            </a:r>
            <a:r>
              <a:rPr lang="ru-RU" sz="1600" b="1" i="1" dirty="0">
                <a:solidFill>
                  <a:schemeClr val="tx1"/>
                </a:solidFill>
              </a:rPr>
              <a:t>(</a:t>
            </a:r>
            <a:r>
              <a:rPr lang="ru-RU" sz="1600" b="1" i="1" dirty="0" err="1">
                <a:solidFill>
                  <a:schemeClr val="tx1"/>
                </a:solidFill>
              </a:rPr>
              <a:t>risks</a:t>
            </a:r>
            <a:r>
              <a:rPr lang="ru-RU" sz="1600" b="1" i="1" dirty="0">
                <a:solidFill>
                  <a:schemeClr val="tx1"/>
                </a:solidFill>
              </a:rPr>
              <a:t> </a:t>
            </a:r>
            <a:r>
              <a:rPr lang="ru-RU" sz="1600" b="1" i="1" dirty="0" err="1">
                <a:solidFill>
                  <a:schemeClr val="tx1"/>
                </a:solidFill>
              </a:rPr>
              <a:t>and</a:t>
            </a:r>
            <a:r>
              <a:rPr lang="ru-RU" sz="1600" b="1" i="1" dirty="0">
                <a:solidFill>
                  <a:schemeClr val="tx1"/>
                </a:solidFill>
              </a:rPr>
              <a:t> </a:t>
            </a:r>
            <a:r>
              <a:rPr lang="ru-RU" sz="1600" b="1" i="1" dirty="0" err="1">
                <a:solidFill>
                  <a:schemeClr val="tx1"/>
                </a:solidFill>
              </a:rPr>
              <a:t>opportunities</a:t>
            </a:r>
            <a:r>
              <a:rPr lang="ru-RU" sz="1600" b="1" i="1" dirty="0">
                <a:solidFill>
                  <a:schemeClr val="tx1"/>
                </a:solidFill>
              </a:rPr>
              <a:t>) - возможные негативные последствия (угрозы) и возможные благоприятные последствия (перспективы) </a:t>
            </a:r>
          </a:p>
          <a:p>
            <a:pPr marL="285750" indent="-285750">
              <a:buFontTx/>
              <a:buChar char="-"/>
              <a:defRPr/>
            </a:pPr>
            <a:endParaRPr lang="ru-RU" sz="1600" b="1" i="1" dirty="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3814763" y="687388"/>
            <a:ext cx="4535487" cy="441325"/>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682625" y="2565400"/>
            <a:ext cx="7813675" cy="5842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600" dirty="0">
                <a:solidFill>
                  <a:srgbClr val="002060"/>
                </a:solidFill>
                <a:latin typeface="Garamond" pitchFamily="18" charset="0"/>
                <a:cs typeface="Arial" pitchFamily="34" charset="0"/>
              </a:rPr>
              <a:t> </a:t>
            </a:r>
            <a:r>
              <a:rPr lang="ru-RU" altLang="ja-JP" sz="1600" b="1" dirty="0">
                <a:solidFill>
                  <a:srgbClr val="FF0000"/>
                </a:solidFill>
                <a:cs typeface="Arial" pitchFamily="34" charset="0"/>
              </a:rPr>
              <a:t>Безопасность</a:t>
            </a:r>
            <a:r>
              <a:rPr lang="ru-RU" altLang="ja-JP" sz="1600" b="1" dirty="0">
                <a:solidFill>
                  <a:srgbClr val="002060"/>
                </a:solidFill>
                <a:cs typeface="Arial" pitchFamily="34" charset="0"/>
              </a:rPr>
              <a:t> </a:t>
            </a:r>
            <a:r>
              <a:rPr lang="ru-RU" altLang="ja-JP" sz="1600" dirty="0">
                <a:solidFill>
                  <a:srgbClr val="002060"/>
                </a:solidFill>
                <a:cs typeface="Arial" pitchFamily="34" charset="0"/>
              </a:rPr>
              <a:t>– отсутствие недопустимого риска</a:t>
            </a:r>
            <a:endParaRPr lang="ru-RU" altLang="ja-JP" sz="1600" dirty="0">
              <a:solidFill>
                <a:srgbClr val="002060"/>
              </a:solidFill>
              <a:latin typeface="Garamond" pitchFamily="18" charset="0"/>
              <a:cs typeface="Arial" pitchFamily="34" charset="0"/>
            </a:endParaRPr>
          </a:p>
        </p:txBody>
      </p:sp>
      <p:sp>
        <p:nvSpPr>
          <p:cNvPr id="2" name="Скругленный прямоугольник 6"/>
          <p:cNvSpPr/>
          <p:nvPr/>
        </p:nvSpPr>
        <p:spPr>
          <a:xfrm>
            <a:off x="682625" y="3990975"/>
            <a:ext cx="7813675" cy="94678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600" b="1" dirty="0">
                <a:solidFill>
                  <a:srgbClr val="FF0000"/>
                </a:solidFill>
                <a:cs typeface="Arial" pitchFamily="34" charset="0"/>
              </a:rPr>
              <a:t>Допустимый риск</a:t>
            </a:r>
            <a:r>
              <a:rPr lang="ru-RU" altLang="ja-JP" sz="1600" dirty="0">
                <a:solidFill>
                  <a:srgbClr val="FF0000"/>
                </a:solidFill>
                <a:cs typeface="Arial" pitchFamily="34" charset="0"/>
              </a:rPr>
              <a:t> </a:t>
            </a:r>
            <a:r>
              <a:rPr lang="ru-RU" altLang="ja-JP" sz="1600" dirty="0">
                <a:solidFill>
                  <a:srgbClr val="002060"/>
                </a:solidFill>
                <a:cs typeface="Arial" pitchFamily="34" charset="0"/>
              </a:rPr>
              <a:t>– риск, который в данной ситуации считают приемлемым при существующих общественных ценностях</a:t>
            </a:r>
            <a:endParaRPr lang="ru-RU" altLang="ja-JP" sz="1600" dirty="0">
              <a:solidFill>
                <a:srgbClr val="002060"/>
              </a:solidFill>
              <a:latin typeface="Garamond" pitchFamily="18" charset="0"/>
              <a:cs typeface="Arial" pitchFamily="34" charset="0"/>
            </a:endParaRPr>
          </a:p>
        </p:txBody>
      </p:sp>
      <p:sp>
        <p:nvSpPr>
          <p:cNvPr id="3" name="Скругленный прямоугольник 6"/>
          <p:cNvSpPr/>
          <p:nvPr/>
        </p:nvSpPr>
        <p:spPr>
          <a:xfrm>
            <a:off x="755650" y="5148775"/>
            <a:ext cx="7813675" cy="801859"/>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600" b="1" dirty="0">
                <a:solidFill>
                  <a:srgbClr val="FF0000"/>
                </a:solidFill>
                <a:cs typeface="Arial" pitchFamily="34" charset="0"/>
              </a:rPr>
              <a:t>Остаточный риск</a:t>
            </a:r>
            <a:r>
              <a:rPr lang="ru-RU" altLang="ja-JP" sz="1600" dirty="0">
                <a:solidFill>
                  <a:srgbClr val="FF0000"/>
                </a:solidFill>
                <a:cs typeface="Arial" pitchFamily="34" charset="0"/>
              </a:rPr>
              <a:t> </a:t>
            </a:r>
            <a:r>
              <a:rPr lang="ru-RU" altLang="ja-JP" sz="1800" dirty="0">
                <a:solidFill>
                  <a:srgbClr val="002060"/>
                </a:solidFill>
                <a:cs typeface="Arial" pitchFamily="34" charset="0"/>
              </a:rPr>
              <a:t>– </a:t>
            </a:r>
            <a:r>
              <a:rPr lang="ru-RU" altLang="ja-JP" sz="1600" dirty="0">
                <a:solidFill>
                  <a:srgbClr val="002060"/>
                </a:solidFill>
                <a:cs typeface="Arial" pitchFamily="34" charset="0"/>
              </a:rPr>
              <a:t>риск, остающийся после предпринятых </a:t>
            </a:r>
            <a:r>
              <a:rPr lang="ru-RU" altLang="ja-JP" sz="1600" dirty="0" smtClean="0">
                <a:solidFill>
                  <a:srgbClr val="002060"/>
                </a:solidFill>
                <a:cs typeface="Arial" pitchFamily="34" charset="0"/>
              </a:rPr>
              <a:t>защитных мер</a:t>
            </a:r>
            <a:endParaRPr lang="ru-RU" altLang="ja-JP" sz="1800" dirty="0">
              <a:solidFill>
                <a:srgbClr val="002060"/>
              </a:solidFill>
              <a:latin typeface="Garamond" pitchFamily="18" charset="0"/>
              <a:cs typeface="Arial" pitchFamily="34" charset="0"/>
            </a:endParaRPr>
          </a:p>
        </p:txBody>
      </p:sp>
      <p:sp>
        <p:nvSpPr>
          <p:cNvPr id="5" name="Скругленный прямоугольник 6"/>
          <p:cNvSpPr/>
          <p:nvPr/>
        </p:nvSpPr>
        <p:spPr>
          <a:xfrm>
            <a:off x="730250" y="1531938"/>
            <a:ext cx="7813675"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600" b="1" dirty="0">
                <a:solidFill>
                  <a:srgbClr val="002060"/>
                </a:solidFill>
                <a:cs typeface="Arial" pitchFamily="34" charset="0"/>
              </a:rPr>
              <a:t>ГОСТ Р 51898-2002 «Аспекты безопасности. Правила включения в стандарты»</a:t>
            </a:r>
            <a:endParaRPr lang="ru-RU" altLang="ja-JP" sz="1600" b="1" dirty="0">
              <a:solidFill>
                <a:srgbClr val="002060"/>
              </a:solidFill>
              <a:latin typeface="Garamond" pitchFamily="18" charset="0"/>
              <a:cs typeface="Arial" pitchFamily="34" charset="0"/>
            </a:endParaRPr>
          </a:p>
        </p:txBody>
      </p:sp>
      <p:pic>
        <p:nvPicPr>
          <p:cNvPr id="97286" name="Рисунок 7" descr="1346909781_www"/>
          <p:cNvPicPr>
            <a:picLocks noChangeAspect="1" noChangeArrowheads="1"/>
          </p:cNvPicPr>
          <p:nvPr/>
        </p:nvPicPr>
        <p:blipFill>
          <a:blip r:embed="rId2"/>
          <a:srcRect/>
          <a:stretch>
            <a:fillRect/>
          </a:stretch>
        </p:blipFill>
        <p:spPr bwMode="auto">
          <a:xfrm>
            <a:off x="198807" y="123031"/>
            <a:ext cx="1931960" cy="1128713"/>
          </a:xfrm>
          <a:prstGeom prst="rect">
            <a:avLst/>
          </a:prstGeom>
          <a:noFill/>
          <a:ln w="9525">
            <a:noFill/>
            <a:miter lim="800000"/>
            <a:headEnd/>
            <a:tailEnd/>
          </a:ln>
        </p:spPr>
      </p:pic>
      <p:sp>
        <p:nvSpPr>
          <p:cNvPr id="9" name="Скругленный прямоугольник 8"/>
          <p:cNvSpPr/>
          <p:nvPr/>
        </p:nvSpPr>
        <p:spPr>
          <a:xfrm>
            <a:off x="730250" y="3302000"/>
            <a:ext cx="7813675" cy="5842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600" dirty="0">
                <a:solidFill>
                  <a:srgbClr val="002060"/>
                </a:solidFill>
                <a:latin typeface="Garamond" pitchFamily="18" charset="0"/>
                <a:cs typeface="Arial" pitchFamily="34" charset="0"/>
              </a:rPr>
              <a:t> </a:t>
            </a:r>
            <a:r>
              <a:rPr lang="ru-RU" altLang="ja-JP" sz="1600" b="1" dirty="0">
                <a:solidFill>
                  <a:srgbClr val="FF0000"/>
                </a:solidFill>
                <a:cs typeface="Arial" pitchFamily="34" charset="0"/>
              </a:rPr>
              <a:t>Риск</a:t>
            </a:r>
            <a:r>
              <a:rPr lang="ru-RU" altLang="ja-JP" sz="1600" b="1" dirty="0">
                <a:solidFill>
                  <a:srgbClr val="002060"/>
                </a:solidFill>
                <a:cs typeface="Arial" pitchFamily="34" charset="0"/>
              </a:rPr>
              <a:t> </a:t>
            </a:r>
            <a:r>
              <a:rPr lang="ru-RU" altLang="ja-JP" sz="1600" dirty="0">
                <a:solidFill>
                  <a:srgbClr val="002060"/>
                </a:solidFill>
                <a:cs typeface="Arial" pitchFamily="34" charset="0"/>
              </a:rPr>
              <a:t>– сочетание вероятности нанесения ущерба и тяжести этого ущерба</a:t>
            </a:r>
            <a:endParaRPr lang="ru-RU" altLang="ja-JP" sz="1600" dirty="0">
              <a:solidFill>
                <a:srgbClr val="002060"/>
              </a:solidFill>
              <a:latin typeface="Garamond" pitchFamily="18"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Рисунок 9" descr="http://infoshkola.aiq.ru/Images/safety.jpg"/>
          <p:cNvPicPr>
            <a:picLocks noChangeAspect="1" noChangeArrowheads="1"/>
          </p:cNvPicPr>
          <p:nvPr/>
        </p:nvPicPr>
        <p:blipFill>
          <a:blip r:embed="rId2"/>
          <a:srcRect/>
          <a:stretch>
            <a:fillRect/>
          </a:stretch>
        </p:blipFill>
        <p:spPr bwMode="auto">
          <a:xfrm>
            <a:off x="7481888" y="0"/>
            <a:ext cx="1662112" cy="1531938"/>
          </a:xfrm>
          <a:prstGeom prst="rect">
            <a:avLst/>
          </a:prstGeom>
          <a:noFill/>
          <a:ln w="9525">
            <a:noFill/>
            <a:miter lim="800000"/>
            <a:headEnd/>
            <a:tailEnd/>
          </a:ln>
        </p:spPr>
      </p:pic>
      <p:sp>
        <p:nvSpPr>
          <p:cNvPr id="4" name="Заголовок 1"/>
          <p:cNvSpPr txBox="1">
            <a:spLocks/>
          </p:cNvSpPr>
          <p:nvPr/>
        </p:nvSpPr>
        <p:spPr>
          <a:xfrm>
            <a:off x="2095500" y="687388"/>
            <a:ext cx="4535488" cy="441325"/>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682625" y="2565400"/>
            <a:ext cx="7813675" cy="5842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600" dirty="0">
                <a:solidFill>
                  <a:srgbClr val="002060"/>
                </a:solidFill>
                <a:latin typeface="Garamond" pitchFamily="18" charset="0"/>
                <a:cs typeface="Arial" pitchFamily="34" charset="0"/>
              </a:rPr>
              <a:t> </a:t>
            </a:r>
            <a:r>
              <a:rPr lang="ru-RU" altLang="ja-JP" sz="1600" b="1" dirty="0">
                <a:solidFill>
                  <a:srgbClr val="002060"/>
                </a:solidFill>
                <a:latin typeface="Garamond" pitchFamily="18" charset="0"/>
                <a:cs typeface="Arial" pitchFamily="34" charset="0"/>
              </a:rPr>
              <a:t>И</a:t>
            </a:r>
            <a:r>
              <a:rPr lang="ru-RU" altLang="ja-JP" sz="1600" b="1" dirty="0">
                <a:solidFill>
                  <a:srgbClr val="002060"/>
                </a:solidFill>
                <a:cs typeface="Arial" pitchFamily="34" charset="0"/>
              </a:rPr>
              <a:t>спользование слов «безопасность» и «безопасный»</a:t>
            </a:r>
            <a:endParaRPr lang="ru-RU" altLang="ja-JP" sz="1600" dirty="0">
              <a:solidFill>
                <a:srgbClr val="002060"/>
              </a:solidFill>
              <a:latin typeface="Garamond" pitchFamily="18" charset="0"/>
              <a:cs typeface="Arial" pitchFamily="34" charset="0"/>
            </a:endParaRPr>
          </a:p>
        </p:txBody>
      </p:sp>
      <p:sp>
        <p:nvSpPr>
          <p:cNvPr id="2" name="Скругленный прямоугольник 6"/>
          <p:cNvSpPr/>
          <p:nvPr/>
        </p:nvSpPr>
        <p:spPr>
          <a:xfrm>
            <a:off x="682625" y="3427413"/>
            <a:ext cx="7813675" cy="254793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sz="1600" dirty="0">
                <a:solidFill>
                  <a:srgbClr val="002060"/>
                </a:solidFill>
              </a:rPr>
              <a:t>Не следует употреблять слова «безопасность» и «безопасный» в качестве описательного прилагательного предмета, так как они не передают никакой полезной информации.</a:t>
            </a:r>
          </a:p>
          <a:p>
            <a:pPr>
              <a:defRPr/>
            </a:pPr>
            <a:r>
              <a:rPr lang="ru-RU" sz="1600" dirty="0">
                <a:solidFill>
                  <a:srgbClr val="002060"/>
                </a:solidFill>
              </a:rPr>
              <a:t>Рекомендуется всюду, где возможно, эти слова заменять признаками предмета, например:</a:t>
            </a:r>
          </a:p>
          <a:p>
            <a:pPr>
              <a:defRPr/>
            </a:pPr>
            <a:r>
              <a:rPr lang="ru-RU" sz="1600" dirty="0">
                <a:solidFill>
                  <a:srgbClr val="002060"/>
                </a:solidFill>
              </a:rPr>
              <a:t>- «защитный шлем» вместо «безопасный шлем»;</a:t>
            </a:r>
          </a:p>
          <a:p>
            <a:pPr>
              <a:defRPr/>
            </a:pPr>
            <a:r>
              <a:rPr lang="ru-RU" sz="1600" dirty="0">
                <a:solidFill>
                  <a:srgbClr val="002060"/>
                </a:solidFill>
              </a:rPr>
              <a:t>- «нескользкое покрытие для пола» вместо «безопасное покрытие».</a:t>
            </a:r>
            <a:endParaRPr lang="ru-RU" altLang="ja-JP" sz="1600" dirty="0">
              <a:solidFill>
                <a:srgbClr val="002060"/>
              </a:solidFill>
              <a:latin typeface="Garamond" pitchFamily="18" charset="0"/>
              <a:cs typeface="Arial" pitchFamily="34" charset="0"/>
            </a:endParaRPr>
          </a:p>
        </p:txBody>
      </p:sp>
      <p:sp>
        <p:nvSpPr>
          <p:cNvPr id="5" name="Скругленный прямоугольник 6"/>
          <p:cNvSpPr/>
          <p:nvPr/>
        </p:nvSpPr>
        <p:spPr>
          <a:xfrm>
            <a:off x="323850" y="1531938"/>
            <a:ext cx="8551863"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600" b="1" dirty="0">
                <a:solidFill>
                  <a:srgbClr val="002060"/>
                </a:solidFill>
                <a:cs typeface="Arial" pitchFamily="34" charset="0"/>
              </a:rPr>
              <a:t>ГОСТ Р 51898-2002 «Аспекты безопасности. Правила включения в стандарты»</a:t>
            </a:r>
            <a:endParaRPr lang="ru-RU" altLang="ja-JP" sz="1600" b="1" dirty="0">
              <a:solidFill>
                <a:srgbClr val="002060"/>
              </a:solidFill>
              <a:latin typeface="Garamond" pitchFamily="18" charset="0"/>
              <a:cs typeface="Arial" pitchFamily="34" charset="0"/>
            </a:endParaRPr>
          </a:p>
        </p:txBody>
      </p:sp>
      <p:sp>
        <p:nvSpPr>
          <p:cNvPr id="98310" name="AutoShape 2" descr="http://infoshkola.aiq.ru/Images/safety.jpg"/>
          <p:cNvSpPr>
            <a:spLocks noChangeAspect="1" noChangeArrowheads="1"/>
          </p:cNvSpPr>
          <p:nvPr/>
        </p:nvSpPr>
        <p:spPr bwMode="auto">
          <a:xfrm>
            <a:off x="63500" y="-136525"/>
            <a:ext cx="304800" cy="304800"/>
          </a:xfrm>
          <a:prstGeom prst="rect">
            <a:avLst/>
          </a:prstGeom>
          <a:noFill/>
          <a:ln w="9525">
            <a:noFill/>
            <a:miter lim="800000"/>
            <a:headEnd/>
            <a:tailEnd/>
          </a:ln>
        </p:spPr>
        <p:txBody>
          <a:bodyPr/>
          <a:lstStyle/>
          <a:p>
            <a:endParaRPr lang="ru-RU" sz="1800">
              <a:solidFill>
                <a:schemeClr val="tx1"/>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Picture 12" descr="http://www.medtech4you.biz/content/images/30030045-ghs1.jpg"/>
          <p:cNvPicPr>
            <a:picLocks noChangeAspect="1" noChangeArrowheads="1"/>
          </p:cNvPicPr>
          <p:nvPr/>
        </p:nvPicPr>
        <p:blipFill>
          <a:blip r:embed="rId2"/>
          <a:srcRect/>
          <a:stretch>
            <a:fillRect/>
          </a:stretch>
        </p:blipFill>
        <p:spPr bwMode="auto">
          <a:xfrm>
            <a:off x="6205538" y="2032000"/>
            <a:ext cx="1838325" cy="2451100"/>
          </a:xfrm>
          <a:prstGeom prst="rect">
            <a:avLst/>
          </a:prstGeom>
          <a:noFill/>
          <a:ln w="9525">
            <a:noFill/>
            <a:miter lim="800000"/>
            <a:headEnd/>
            <a:tailEnd/>
          </a:ln>
        </p:spPr>
      </p:pic>
      <p:pic>
        <p:nvPicPr>
          <p:cNvPr id="99330" name="Picture 10" descr="http://cpmire.ie/wp-content/uploads/2015/03/SIIB.jpg"/>
          <p:cNvPicPr>
            <a:picLocks noChangeAspect="1" noChangeArrowheads="1"/>
          </p:cNvPicPr>
          <p:nvPr/>
        </p:nvPicPr>
        <p:blipFill>
          <a:blip r:embed="rId3"/>
          <a:srcRect/>
          <a:stretch>
            <a:fillRect/>
          </a:stretch>
        </p:blipFill>
        <p:spPr bwMode="auto">
          <a:xfrm>
            <a:off x="255588" y="4483100"/>
            <a:ext cx="2500312" cy="1741488"/>
          </a:xfrm>
          <a:prstGeom prst="rect">
            <a:avLst/>
          </a:prstGeom>
          <a:noFill/>
          <a:ln w="9525">
            <a:noFill/>
            <a:miter lim="800000"/>
            <a:headEnd/>
            <a:tailEnd/>
          </a:ln>
        </p:spPr>
      </p:pic>
      <p:sp>
        <p:nvSpPr>
          <p:cNvPr id="99331" name="Rectangle 4"/>
          <p:cNvSpPr>
            <a:spLocks noChangeArrowheads="1"/>
          </p:cNvSpPr>
          <p:nvPr/>
        </p:nvSpPr>
        <p:spPr bwMode="auto">
          <a:xfrm>
            <a:off x="2124075" y="188913"/>
            <a:ext cx="6913563" cy="830262"/>
          </a:xfrm>
          <a:prstGeom prst="rect">
            <a:avLst/>
          </a:prstGeom>
          <a:noFill/>
          <a:ln w="9525">
            <a:noFill/>
            <a:miter lim="800000"/>
            <a:headEnd/>
            <a:tailEnd/>
          </a:ln>
        </p:spPr>
        <p:txBody>
          <a:bodyPr anchor="ctr">
            <a:spAutoFit/>
          </a:bodyPr>
          <a:lstStyle/>
          <a:p>
            <a:pPr indent="180975" algn="ctr"/>
            <a:r>
              <a:rPr lang="ru-RU" sz="2400" b="1">
                <a:latin typeface="Calibri" pitchFamily="34" charset="0"/>
                <a:cs typeface="Times New Roman" pitchFamily="18" charset="0"/>
              </a:rPr>
              <a:t>ГОСТ Р 51901.1-2002 МЕНЕДЖМЕНТ РИСКА. </a:t>
            </a:r>
          </a:p>
          <a:p>
            <a:pPr indent="180975" algn="ctr"/>
            <a:r>
              <a:rPr lang="ru-RU" sz="2400" b="1">
                <a:latin typeface="Calibri" pitchFamily="34" charset="0"/>
                <a:cs typeface="Times New Roman" pitchFamily="18" charset="0"/>
              </a:rPr>
              <a:t>Анализ риска технологических систем</a:t>
            </a:r>
            <a:endParaRPr lang="ru-RU" sz="2400">
              <a:latin typeface="Arial" charset="0"/>
            </a:endParaRPr>
          </a:p>
        </p:txBody>
      </p:sp>
      <p:sp>
        <p:nvSpPr>
          <p:cNvPr id="8" name="Стрелка вниз 7"/>
          <p:cNvSpPr/>
          <p:nvPr/>
        </p:nvSpPr>
        <p:spPr>
          <a:xfrm rot="5400000">
            <a:off x="3939272" y="-1106412"/>
            <a:ext cx="1684676" cy="5446138"/>
          </a:xfrm>
          <a:prstGeom prst="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ru-RU" sz="1600" b="1" dirty="0">
                <a:solidFill>
                  <a:srgbClr val="000000"/>
                </a:solidFill>
                <a:latin typeface="Calibri" pitchFamily="34" charset="0"/>
                <a:ea typeface="Times New Roman" pitchFamily="18" charset="0"/>
                <a:cs typeface="Times New Roman" pitchFamily="18" charset="0"/>
              </a:rPr>
              <a:t>Вред (</a:t>
            </a:r>
            <a:r>
              <a:rPr lang="en-US" sz="1600" b="1" dirty="0">
                <a:solidFill>
                  <a:srgbClr val="000000"/>
                </a:solidFill>
                <a:latin typeface="Calibri" pitchFamily="34" charset="0"/>
                <a:ea typeface="Times New Roman" pitchFamily="18" charset="0"/>
                <a:cs typeface="Times New Roman" pitchFamily="18" charset="0"/>
              </a:rPr>
              <a:t>harm</a:t>
            </a:r>
            <a:r>
              <a:rPr lang="ru-RU" sz="1600" b="1" dirty="0">
                <a:solidFill>
                  <a:srgbClr val="000000"/>
                </a:solidFill>
                <a:latin typeface="Calibri" pitchFamily="34" charset="0"/>
                <a:ea typeface="Times New Roman" pitchFamily="18" charset="0"/>
                <a:cs typeface="Times New Roman" pitchFamily="18" charset="0"/>
              </a:rPr>
              <a:t>):</a:t>
            </a:r>
            <a:r>
              <a:rPr lang="ru-RU" sz="1600" dirty="0">
                <a:solidFill>
                  <a:srgbClr val="000000"/>
                </a:solidFill>
                <a:latin typeface="Calibri" pitchFamily="34" charset="0"/>
                <a:ea typeface="Times New Roman" pitchFamily="18" charset="0"/>
                <a:cs typeface="Times New Roman" pitchFamily="18" charset="0"/>
              </a:rPr>
              <a:t> </a:t>
            </a:r>
          </a:p>
          <a:p>
            <a:pPr algn="ctr">
              <a:defRPr/>
            </a:pPr>
            <a:r>
              <a:rPr lang="ru-RU" sz="1600" dirty="0">
                <a:solidFill>
                  <a:srgbClr val="000000"/>
                </a:solidFill>
                <a:latin typeface="Calibri" pitchFamily="34" charset="0"/>
                <a:ea typeface="Times New Roman" pitchFamily="18" charset="0"/>
                <a:cs typeface="Times New Roman" pitchFamily="18" charset="0"/>
              </a:rPr>
              <a:t>Физический </a:t>
            </a:r>
            <a:r>
              <a:rPr lang="ru-RU" sz="1600" u="sng" dirty="0">
                <a:solidFill>
                  <a:srgbClr val="000000"/>
                </a:solidFill>
                <a:latin typeface="Calibri" pitchFamily="34" charset="0"/>
                <a:ea typeface="Times New Roman" pitchFamily="18" charset="0"/>
                <a:cs typeface="Times New Roman" pitchFamily="18" charset="0"/>
              </a:rPr>
              <a:t>ущерб</a:t>
            </a:r>
            <a:r>
              <a:rPr lang="ru-RU" sz="1600" dirty="0">
                <a:solidFill>
                  <a:srgbClr val="000000"/>
                </a:solidFill>
                <a:latin typeface="Calibri" pitchFamily="34" charset="0"/>
                <a:ea typeface="Times New Roman" pitchFamily="18" charset="0"/>
                <a:cs typeface="Times New Roman" pitchFamily="18" charset="0"/>
              </a:rPr>
              <a:t> или урон здоровью, имуществу или окружающей среде</a:t>
            </a:r>
            <a:endParaRPr lang="ru-RU" sz="1600" dirty="0"/>
          </a:p>
        </p:txBody>
      </p:sp>
      <p:sp>
        <p:nvSpPr>
          <p:cNvPr id="9" name="Стрелка вниз 8"/>
          <p:cNvSpPr/>
          <p:nvPr/>
        </p:nvSpPr>
        <p:spPr>
          <a:xfrm rot="16200000">
            <a:off x="2473325" y="468313"/>
            <a:ext cx="1741487" cy="5722938"/>
          </a:xfrm>
          <a:prstGeom prst="downArrow">
            <a:avLst>
              <a:gd name="adj1" fmla="val 50000"/>
              <a:gd name="adj2" fmla="val 542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anchor="ctr"/>
          <a:lstStyle/>
          <a:p>
            <a:pPr algn="ctr">
              <a:defRPr/>
            </a:pPr>
            <a:r>
              <a:rPr lang="ru-RU" sz="1600" b="1">
                <a:solidFill>
                  <a:srgbClr val="000000"/>
                </a:solidFill>
                <a:latin typeface="Calibri" pitchFamily="34" charset="0"/>
                <a:cs typeface="Times New Roman" pitchFamily="18" charset="0"/>
              </a:rPr>
              <a:t> Опасность (</a:t>
            </a:r>
            <a:r>
              <a:rPr lang="en-US" sz="1600" b="1">
                <a:solidFill>
                  <a:srgbClr val="000000"/>
                </a:solidFill>
                <a:latin typeface="Calibri" pitchFamily="34" charset="0"/>
                <a:cs typeface="Times New Roman" pitchFamily="18" charset="0"/>
              </a:rPr>
              <a:t>hazard</a:t>
            </a:r>
            <a:r>
              <a:rPr lang="ru-RU" sz="1600" b="1">
                <a:solidFill>
                  <a:srgbClr val="000000"/>
                </a:solidFill>
                <a:latin typeface="Calibri" pitchFamily="34" charset="0"/>
                <a:cs typeface="Times New Roman" pitchFamily="18" charset="0"/>
              </a:rPr>
              <a:t>):</a:t>
            </a:r>
            <a:r>
              <a:rPr lang="ru-RU" sz="1600">
                <a:solidFill>
                  <a:srgbClr val="000000"/>
                </a:solidFill>
                <a:latin typeface="Calibri" pitchFamily="34" charset="0"/>
                <a:cs typeface="Times New Roman" pitchFamily="18" charset="0"/>
              </a:rPr>
              <a:t> </a:t>
            </a:r>
          </a:p>
          <a:p>
            <a:pPr algn="ctr">
              <a:defRPr/>
            </a:pPr>
            <a:r>
              <a:rPr lang="ru-RU" sz="1600" u="sng">
                <a:solidFill>
                  <a:srgbClr val="000000"/>
                </a:solidFill>
                <a:latin typeface="Calibri" pitchFamily="34" charset="0"/>
                <a:cs typeface="Times New Roman" pitchFamily="18" charset="0"/>
              </a:rPr>
              <a:t>Источник потенциального вреда </a:t>
            </a:r>
            <a:r>
              <a:rPr lang="ru-RU" sz="1600">
                <a:solidFill>
                  <a:srgbClr val="000000"/>
                </a:solidFill>
                <a:latin typeface="Calibri" pitchFamily="34" charset="0"/>
                <a:cs typeface="Times New Roman" pitchFamily="18" charset="0"/>
              </a:rPr>
              <a:t>или ситуация с потенциальной возможностью нанесения вреда</a:t>
            </a:r>
          </a:p>
        </p:txBody>
      </p:sp>
      <p:sp>
        <p:nvSpPr>
          <p:cNvPr id="7" name="Стрелка вниз 6"/>
          <p:cNvSpPr/>
          <p:nvPr/>
        </p:nvSpPr>
        <p:spPr>
          <a:xfrm rot="5400000">
            <a:off x="4357227" y="2265245"/>
            <a:ext cx="2721630" cy="5894267"/>
          </a:xfrm>
          <a:prstGeom prst="downArrow">
            <a:avLst>
              <a:gd name="adj1" fmla="val 50000"/>
              <a:gd name="adj2" fmla="val 542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indent="180975" algn="ctr" eaLnBrk="0" hangingPunct="0">
              <a:defRPr/>
            </a:pPr>
            <a:r>
              <a:rPr lang="ru-RU" sz="1600" b="1" dirty="0">
                <a:solidFill>
                  <a:srgbClr val="000000"/>
                </a:solidFill>
                <a:latin typeface="Calibri" pitchFamily="34" charset="0"/>
                <a:ea typeface="Times New Roman" pitchFamily="18" charset="0"/>
                <a:cs typeface="Times New Roman" pitchFamily="18" charset="0"/>
              </a:rPr>
              <a:t>Риск (</a:t>
            </a:r>
            <a:r>
              <a:rPr lang="en-US" sz="1600" b="1" dirty="0">
                <a:solidFill>
                  <a:srgbClr val="000000"/>
                </a:solidFill>
                <a:latin typeface="Calibri" pitchFamily="34" charset="0"/>
                <a:ea typeface="Times New Roman" pitchFamily="18" charset="0"/>
                <a:cs typeface="Times New Roman" pitchFamily="18" charset="0"/>
              </a:rPr>
              <a:t>risk</a:t>
            </a:r>
            <a:r>
              <a:rPr lang="ru-RU" sz="1600" b="1" dirty="0">
                <a:solidFill>
                  <a:srgbClr val="000000"/>
                </a:solidFill>
                <a:latin typeface="Calibri" pitchFamily="34" charset="0"/>
                <a:ea typeface="Times New Roman" pitchFamily="18" charset="0"/>
                <a:cs typeface="Times New Roman" pitchFamily="18" charset="0"/>
              </a:rPr>
              <a:t>):</a:t>
            </a:r>
          </a:p>
          <a:p>
            <a:pPr indent="180975" algn="just" eaLnBrk="0" hangingPunct="0">
              <a:defRPr/>
            </a:pPr>
            <a:r>
              <a:rPr lang="ru-RU" sz="1600" dirty="0">
                <a:solidFill>
                  <a:srgbClr val="000000"/>
                </a:solidFill>
                <a:latin typeface="Calibri" pitchFamily="34" charset="0"/>
                <a:ea typeface="Times New Roman" pitchFamily="18" charset="0"/>
                <a:cs typeface="Times New Roman" pitchFamily="18" charset="0"/>
              </a:rPr>
              <a:t>Сочетание вероятности события и его последствий.</a:t>
            </a:r>
            <a:endParaRPr lang="ru-RU" sz="1600" dirty="0">
              <a:solidFill>
                <a:schemeClr val="tx1"/>
              </a:solidFill>
              <a:cs typeface="Arial" pitchFamily="34" charset="0"/>
            </a:endParaRPr>
          </a:p>
          <a:p>
            <a:pPr indent="180975" algn="just" eaLnBrk="0" hangingPunct="0">
              <a:defRPr/>
            </a:pPr>
            <a:r>
              <a:rPr lang="ru-RU" sz="1600" b="1" dirty="0">
                <a:solidFill>
                  <a:srgbClr val="000000"/>
                </a:solidFill>
                <a:latin typeface="Calibri" pitchFamily="34" charset="0"/>
                <a:ea typeface="Times New Roman" pitchFamily="18" charset="0"/>
                <a:cs typeface="Times New Roman" pitchFamily="18" charset="0"/>
              </a:rPr>
              <a:t>Примечание</a:t>
            </a:r>
            <a:r>
              <a:rPr lang="ru-RU" sz="1600" dirty="0">
                <a:solidFill>
                  <a:srgbClr val="000000"/>
                </a:solidFill>
                <a:latin typeface="Calibri" pitchFamily="34" charset="0"/>
                <a:ea typeface="Times New Roman" pitchFamily="18" charset="0"/>
                <a:cs typeface="Times New Roman" pitchFamily="18" charset="0"/>
              </a:rPr>
              <a:t> - Термин «риск» обычно используется тогда, когда существует хотя бы возможность негативных последствий.</a:t>
            </a:r>
            <a:endParaRPr lang="ru-RU" sz="1600" dirty="0">
              <a:solidFill>
                <a:schemeClr val="tx1"/>
              </a:solidFill>
              <a:cs typeface="Arial" pitchFamily="34" charset="0"/>
            </a:endParaRPr>
          </a:p>
        </p:txBody>
      </p:sp>
      <p:pic>
        <p:nvPicPr>
          <p:cNvPr id="99335" name="Picture 2" descr="http://expert.ru/data/public/398781/398792/sandy-450-267.jpg"/>
          <p:cNvPicPr>
            <a:picLocks noChangeAspect="1" noChangeArrowheads="1"/>
          </p:cNvPicPr>
          <p:nvPr/>
        </p:nvPicPr>
        <p:blipFill>
          <a:blip r:embed="rId4"/>
          <a:srcRect/>
          <a:stretch>
            <a:fillRect/>
          </a:stretch>
        </p:blipFill>
        <p:spPr bwMode="auto">
          <a:xfrm>
            <a:off x="117475" y="955675"/>
            <a:ext cx="1900238" cy="1503363"/>
          </a:xfrm>
          <a:prstGeom prst="rect">
            <a:avLst/>
          </a:prstGeom>
          <a:noFill/>
          <a:ln w="9525">
            <a:noFill/>
            <a:miter lim="800000"/>
            <a:headEnd/>
            <a:tailEnd/>
          </a:ln>
        </p:spPr>
      </p:pic>
      <p:pic>
        <p:nvPicPr>
          <p:cNvPr id="99336" name="Picture 4" descr="http://www.safetysign.com/images/catlog/product/large/J6574.png"/>
          <p:cNvPicPr>
            <a:picLocks noChangeAspect="1" noChangeArrowheads="1"/>
          </p:cNvPicPr>
          <p:nvPr/>
        </p:nvPicPr>
        <p:blipFill>
          <a:blip r:embed="rId5"/>
          <a:srcRect/>
          <a:stretch>
            <a:fillRect/>
          </a:stretch>
        </p:blipFill>
        <p:spPr bwMode="auto">
          <a:xfrm>
            <a:off x="7858125" y="3003550"/>
            <a:ext cx="1027113" cy="1196975"/>
          </a:xfrm>
          <a:prstGeom prst="rect">
            <a:avLst/>
          </a:prstGeom>
          <a:noFill/>
          <a:ln w="9525">
            <a:noFill/>
            <a:miter lim="800000"/>
            <a:headEnd/>
            <a:tailEnd/>
          </a:ln>
        </p:spPr>
      </p:pic>
      <p:pic>
        <p:nvPicPr>
          <p:cNvPr id="99337" name="Picture 6" descr="http://market.izmirserigrafi.com/img/p/3/8/3/5/3835-thickbox_default.jpg"/>
          <p:cNvPicPr>
            <a:picLocks noChangeAspect="1" noChangeArrowheads="1"/>
          </p:cNvPicPr>
          <p:nvPr/>
        </p:nvPicPr>
        <p:blipFill>
          <a:blip r:embed="rId6"/>
          <a:srcRect/>
          <a:stretch>
            <a:fillRect/>
          </a:stretch>
        </p:blipFill>
        <p:spPr bwMode="auto">
          <a:xfrm>
            <a:off x="7723188" y="1257300"/>
            <a:ext cx="1162050" cy="1549400"/>
          </a:xfrm>
          <a:prstGeom prst="rect">
            <a:avLst/>
          </a:prstGeom>
          <a:noFill/>
          <a:ln w="9525">
            <a:noFill/>
            <a:miter lim="800000"/>
            <a:headEnd/>
            <a:tailEnd/>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9" name="Rectangle 11"/>
          <p:cNvSpPr>
            <a:spLocks noGrp="1" noChangeArrowheads="1"/>
          </p:cNvSpPr>
          <p:nvPr>
            <p:ph idx="1"/>
          </p:nvPr>
        </p:nvSpPr>
        <p:spPr>
          <a:xfrm>
            <a:off x="0" y="836613"/>
            <a:ext cx="8785225" cy="749300"/>
          </a:xfrm>
        </p:spPr>
        <p:txBody>
          <a:bodyPr>
            <a:normAutofit fontScale="77500" lnSpcReduction="20000"/>
          </a:bodyPr>
          <a:lstStyle/>
          <a:p>
            <a:pPr marL="274320" indent="-274320" fontAlgn="auto">
              <a:spcAft>
                <a:spcPts val="0"/>
              </a:spcAft>
              <a:buClr>
                <a:schemeClr val="accent3"/>
              </a:buClr>
              <a:buFontTx/>
              <a:buNone/>
              <a:defRPr/>
            </a:pPr>
            <a:r>
              <a:rPr lang="ru-RU" sz="2800" b="1" dirty="0">
                <a:solidFill>
                  <a:schemeClr val="bg1"/>
                </a:solidFill>
              </a:rPr>
              <a:t>	</a:t>
            </a:r>
            <a:r>
              <a:rPr lang="ru-RU" sz="2800" b="1" i="1" u="sng" dirty="0">
                <a:solidFill>
                  <a:srgbClr val="002060"/>
                </a:solidFill>
              </a:rPr>
              <a:t>Вероятность</a:t>
            </a:r>
            <a:r>
              <a:rPr lang="ru-RU" sz="2800" b="1" dirty="0">
                <a:solidFill>
                  <a:srgbClr val="002060"/>
                </a:solidFill>
              </a:rPr>
              <a:t> – </a:t>
            </a:r>
            <a:r>
              <a:rPr lang="ru-RU" sz="2800" dirty="0">
                <a:solidFill>
                  <a:srgbClr val="002060"/>
                </a:solidFill>
              </a:rPr>
              <a:t>термин используемый для описания </a:t>
            </a:r>
            <a:r>
              <a:rPr lang="ru-RU" sz="2800" u="sng" dirty="0">
                <a:solidFill>
                  <a:srgbClr val="002060"/>
                </a:solidFill>
              </a:rPr>
              <a:t>степени правдоподобия</a:t>
            </a:r>
            <a:r>
              <a:rPr lang="ru-RU" sz="2800" dirty="0">
                <a:solidFill>
                  <a:srgbClr val="002060"/>
                </a:solidFill>
              </a:rPr>
              <a:t> того, что событие когда-либо случится</a:t>
            </a:r>
            <a:endParaRPr lang="en-US" sz="2800" dirty="0">
              <a:solidFill>
                <a:srgbClr val="002060"/>
              </a:solidFill>
            </a:endParaRPr>
          </a:p>
        </p:txBody>
      </p:sp>
      <p:pic>
        <p:nvPicPr>
          <p:cNvPr id="89101" name="Picture 13" descr="DSC04890"/>
          <p:cNvPicPr>
            <a:picLocks noChangeAspect="1" noChangeArrowheads="1"/>
          </p:cNvPicPr>
          <p:nvPr/>
        </p:nvPicPr>
        <p:blipFill>
          <a:blip r:embed="rId2">
            <a:lum bright="12000" contrast="18000"/>
          </a:blip>
          <a:srcRect/>
          <a:stretch>
            <a:fillRect/>
          </a:stretch>
        </p:blipFill>
        <p:spPr bwMode="auto">
          <a:xfrm>
            <a:off x="2595563" y="3896421"/>
            <a:ext cx="4248150" cy="2786063"/>
          </a:xfrm>
          <a:prstGeom prst="rect">
            <a:avLst/>
          </a:prstGeom>
          <a:noFill/>
          <a:ln w="9525">
            <a:noFill/>
            <a:miter lim="800000"/>
            <a:headEnd/>
            <a:tailEnd/>
          </a:ln>
        </p:spPr>
      </p:pic>
      <p:pic>
        <p:nvPicPr>
          <p:cNvPr id="89102" name="Picture 14" descr="Safety Pics 01 127"/>
          <p:cNvPicPr>
            <a:picLocks noChangeAspect="1" noChangeArrowheads="1"/>
          </p:cNvPicPr>
          <p:nvPr/>
        </p:nvPicPr>
        <p:blipFill>
          <a:blip r:embed="rId3">
            <a:lum bright="18000" contrast="18000"/>
          </a:blip>
          <a:srcRect/>
          <a:stretch>
            <a:fillRect/>
          </a:stretch>
        </p:blipFill>
        <p:spPr bwMode="auto">
          <a:xfrm>
            <a:off x="6168927" y="1585913"/>
            <a:ext cx="2616298" cy="3270373"/>
          </a:xfrm>
          <a:prstGeom prst="rect">
            <a:avLst/>
          </a:prstGeom>
          <a:noFill/>
          <a:ln w="9525">
            <a:noFill/>
            <a:miter lim="800000"/>
            <a:headEnd/>
            <a:tailEnd/>
          </a:ln>
        </p:spPr>
      </p:pic>
      <p:pic>
        <p:nvPicPr>
          <p:cNvPr id="89103" name="Picture 15" descr="Safety Pics 01 129"/>
          <p:cNvPicPr>
            <a:picLocks noChangeAspect="1" noChangeArrowheads="1"/>
          </p:cNvPicPr>
          <p:nvPr/>
        </p:nvPicPr>
        <p:blipFill>
          <a:blip r:embed="rId4">
            <a:lum bright="12000" contrast="12000"/>
          </a:blip>
          <a:srcRect/>
          <a:stretch>
            <a:fillRect/>
          </a:stretch>
        </p:blipFill>
        <p:spPr bwMode="auto">
          <a:xfrm>
            <a:off x="196629" y="1786793"/>
            <a:ext cx="2927718" cy="350266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9103"/>
                                        </p:tgtEl>
                                        <p:attrNameLst>
                                          <p:attrName>style.visibility</p:attrName>
                                        </p:attrNameLst>
                                      </p:cBhvr>
                                      <p:to>
                                        <p:strVal val="visible"/>
                                      </p:to>
                                    </p:set>
                                    <p:animEffect transition="in" filter="dissolve">
                                      <p:cBhvr>
                                        <p:cTn id="7" dur="500"/>
                                        <p:tgtEl>
                                          <p:spTgt spid="89103"/>
                                        </p:tgtEl>
                                      </p:cBhvr>
                                    </p:animEffect>
                                  </p:childTnLst>
                                  <p:subTnLst>
                                    <p:set>
                                      <p:cBhvr override="childStyle">
                                        <p:cTn dur="1" fill="hold" display="0" masterRel="nextClick" afterEffect="1"/>
                                        <p:tgtEl>
                                          <p:spTgt spid="8910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9101"/>
                                        </p:tgtEl>
                                        <p:attrNameLst>
                                          <p:attrName>style.visibility</p:attrName>
                                        </p:attrNameLst>
                                      </p:cBhvr>
                                      <p:to>
                                        <p:strVal val="visible"/>
                                      </p:to>
                                    </p:set>
                                  </p:childTnLst>
                                  <p:subTnLst>
                                    <p:set>
                                      <p:cBhvr override="childStyle">
                                        <p:cTn dur="1" fill="hold" display="0" masterRel="nextClick" afterEffect="1"/>
                                        <p:tgtEl>
                                          <p:spTgt spid="89101"/>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9102"/>
                                        </p:tgtEl>
                                        <p:attrNameLst>
                                          <p:attrName>style.visibility</p:attrName>
                                        </p:attrNameLst>
                                      </p:cBhvr>
                                      <p:to>
                                        <p:strVal val="visible"/>
                                      </p:to>
                                    </p:set>
                                  </p:childTnLst>
                                  <p:subTnLst>
                                    <p:set>
                                      <p:cBhvr override="childStyle">
                                        <p:cTn dur="1" fill="hold" display="0" masterRel="nextClick" afterEffect="1"/>
                                        <p:tgtEl>
                                          <p:spTgt spid="8910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4"/>
          <p:cNvSpPr>
            <a:spLocks noChangeArrowheads="1"/>
          </p:cNvSpPr>
          <p:nvPr/>
        </p:nvSpPr>
        <p:spPr bwMode="auto">
          <a:xfrm>
            <a:off x="1470025" y="122238"/>
            <a:ext cx="6254750" cy="1187450"/>
          </a:xfrm>
          <a:prstGeom prst="rect">
            <a:avLst/>
          </a:prstGeom>
          <a:noFill/>
          <a:ln w="9525">
            <a:noFill/>
            <a:miter lim="800000"/>
            <a:headEnd/>
            <a:tailEnd/>
          </a:ln>
        </p:spPr>
        <p:txBody>
          <a:bodyPr anchor="ctr">
            <a:spAutoFit/>
          </a:bodyPr>
          <a:lstStyle/>
          <a:p>
            <a:pPr indent="180975" algn="ctr"/>
            <a:r>
              <a:rPr lang="ru-RU" sz="2400" b="1">
                <a:latin typeface="Calibri" pitchFamily="34" charset="0"/>
                <a:cs typeface="Times New Roman" pitchFamily="18" charset="0"/>
              </a:rPr>
              <a:t>ГОСТ Р 51344-99 БЕЗОПАСНОСТЬ МАШИН. Принципы определения и оценки риска</a:t>
            </a:r>
            <a:endParaRPr lang="ru-RU" sz="2400">
              <a:latin typeface="Arial" charset="0"/>
            </a:endParaRPr>
          </a:p>
        </p:txBody>
      </p:sp>
      <p:pic>
        <p:nvPicPr>
          <p:cNvPr id="101378" name="Picture 2" descr="ГОСТ Р 51344-99 Безопасность машин. Принципы оценки и определения риска">
            <a:hlinkClick r:id="rId2"/>
          </p:cNvPr>
          <p:cNvPicPr>
            <a:picLocks noChangeAspect="1" noChangeArrowheads="1"/>
          </p:cNvPicPr>
          <p:nvPr/>
        </p:nvPicPr>
        <p:blipFill>
          <a:blip r:embed="rId3"/>
          <a:srcRect/>
          <a:stretch>
            <a:fillRect/>
          </a:stretch>
        </p:blipFill>
        <p:spPr bwMode="auto">
          <a:xfrm>
            <a:off x="330200" y="1589088"/>
            <a:ext cx="8139113" cy="3981450"/>
          </a:xfrm>
          <a:prstGeom prst="rect">
            <a:avLst/>
          </a:prstGeom>
          <a:noFill/>
          <a:ln w="9525">
            <a:noFill/>
            <a:miter lim="800000"/>
            <a:headEnd/>
            <a:tailEnd/>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82" name="Rectangle 10"/>
          <p:cNvSpPr>
            <a:spLocks noGrp="1" noChangeArrowheads="1"/>
          </p:cNvSpPr>
          <p:nvPr>
            <p:ph idx="1"/>
          </p:nvPr>
        </p:nvSpPr>
        <p:spPr>
          <a:xfrm>
            <a:off x="2700338" y="1196975"/>
            <a:ext cx="6227762" cy="1654175"/>
          </a:xfrm>
        </p:spPr>
        <p:txBody>
          <a:bodyPr>
            <a:normAutofit fontScale="85000" lnSpcReduction="10000"/>
          </a:bodyPr>
          <a:lstStyle/>
          <a:p>
            <a:pPr marL="274320" indent="-274320" fontAlgn="auto">
              <a:lnSpc>
                <a:spcPct val="135000"/>
              </a:lnSpc>
              <a:spcAft>
                <a:spcPts val="0"/>
              </a:spcAft>
              <a:buClr>
                <a:schemeClr val="accent3"/>
              </a:buClr>
              <a:buFontTx/>
              <a:buNone/>
              <a:defRPr/>
            </a:pPr>
            <a:r>
              <a:rPr lang="ru-RU" sz="2400" b="1" dirty="0">
                <a:solidFill>
                  <a:schemeClr val="bg1"/>
                </a:solidFill>
              </a:rPr>
              <a:t>	</a:t>
            </a:r>
            <a:r>
              <a:rPr lang="ru-RU" sz="2400" b="1" dirty="0">
                <a:solidFill>
                  <a:srgbClr val="FF0000"/>
                </a:solidFill>
              </a:rPr>
              <a:t>Риск</a:t>
            </a:r>
            <a:r>
              <a:rPr lang="ru-RU" sz="2400" b="1" dirty="0">
                <a:solidFill>
                  <a:srgbClr val="002060"/>
                </a:solidFill>
              </a:rPr>
              <a:t> - сочетание вероятности наступления опасного события и тяжести травмы или ущерба для человеческого здоровья, вызванных этим событием</a:t>
            </a:r>
            <a:r>
              <a:rPr lang="ru-RU" sz="2400" dirty="0">
                <a:solidFill>
                  <a:srgbClr val="002060"/>
                </a:solidFill>
              </a:rPr>
              <a:t> </a:t>
            </a:r>
            <a:endParaRPr lang="en-US" sz="2400" dirty="0">
              <a:solidFill>
                <a:srgbClr val="002060"/>
              </a:solidFill>
            </a:endParaRPr>
          </a:p>
        </p:txBody>
      </p:sp>
      <p:sp>
        <p:nvSpPr>
          <p:cNvPr id="102402" name="Text Box 11"/>
          <p:cNvSpPr txBox="1">
            <a:spLocks noChangeArrowheads="1"/>
          </p:cNvSpPr>
          <p:nvPr/>
        </p:nvSpPr>
        <p:spPr bwMode="auto">
          <a:xfrm>
            <a:off x="1231900" y="3522663"/>
            <a:ext cx="2327275" cy="457200"/>
          </a:xfrm>
          <a:prstGeom prst="rect">
            <a:avLst/>
          </a:prstGeom>
          <a:noFill/>
          <a:ln w="9525">
            <a:noFill/>
            <a:miter lim="800000"/>
            <a:headEnd/>
            <a:tailEnd/>
          </a:ln>
        </p:spPr>
        <p:txBody>
          <a:bodyPr wrap="none">
            <a:spAutoFit/>
          </a:bodyPr>
          <a:lstStyle/>
          <a:p>
            <a:r>
              <a:rPr lang="ru-RU" sz="2400" b="1" dirty="0">
                <a:solidFill>
                  <a:srgbClr val="FF0000"/>
                </a:solidFill>
                <a:latin typeface="Arial" charset="0"/>
              </a:rPr>
              <a:t>Высокий риск</a:t>
            </a:r>
            <a:endParaRPr lang="en-GB" sz="2400" b="1" dirty="0">
              <a:solidFill>
                <a:srgbClr val="FF0000"/>
              </a:solidFill>
              <a:latin typeface="Arial" charset="0"/>
            </a:endParaRPr>
          </a:p>
        </p:txBody>
      </p:sp>
      <p:sp>
        <p:nvSpPr>
          <p:cNvPr id="51205" name="Text Box 12"/>
          <p:cNvSpPr txBox="1">
            <a:spLocks noChangeArrowheads="1"/>
          </p:cNvSpPr>
          <p:nvPr/>
        </p:nvSpPr>
        <p:spPr bwMode="auto">
          <a:xfrm>
            <a:off x="5795963" y="3522663"/>
            <a:ext cx="2049462" cy="457200"/>
          </a:xfrm>
          <a:prstGeom prst="rect">
            <a:avLst/>
          </a:prstGeom>
          <a:noFill/>
          <a:ln w="9525">
            <a:noFill/>
            <a:miter lim="800000"/>
            <a:headEnd/>
            <a:tailEnd/>
          </a:ln>
        </p:spPr>
        <p:txBody>
          <a:bodyPr wrap="none">
            <a:spAutoFit/>
          </a:bodyPr>
          <a:lstStyle/>
          <a:p>
            <a:pPr>
              <a:defRPr/>
            </a:pPr>
            <a:r>
              <a:rPr lang="ru-RU" sz="2400" b="1" dirty="0">
                <a:solidFill>
                  <a:schemeClr val="accent5">
                    <a:lumMod val="50000"/>
                  </a:schemeClr>
                </a:solidFill>
                <a:latin typeface="Arial" pitchFamily="34" charset="0"/>
                <a:cs typeface="Arial" pitchFamily="34" charset="0"/>
              </a:rPr>
              <a:t>Низкий риск</a:t>
            </a:r>
            <a:endParaRPr lang="en-GB" sz="2400" b="1" dirty="0">
              <a:solidFill>
                <a:schemeClr val="accent5">
                  <a:lumMod val="50000"/>
                </a:schemeClr>
              </a:solidFill>
              <a:latin typeface="Arial" pitchFamily="34" charset="0"/>
              <a:cs typeface="Arial" pitchFamily="34" charset="0"/>
            </a:endParaRPr>
          </a:p>
        </p:txBody>
      </p:sp>
      <p:pic>
        <p:nvPicPr>
          <p:cNvPr id="102404" name="Picture 14"/>
          <p:cNvPicPr>
            <a:picLocks noChangeAspect="1" noChangeArrowheads="1"/>
          </p:cNvPicPr>
          <p:nvPr/>
        </p:nvPicPr>
        <p:blipFill>
          <a:blip r:embed="rId2"/>
          <a:srcRect/>
          <a:stretch>
            <a:fillRect/>
          </a:stretch>
        </p:blipFill>
        <p:spPr bwMode="auto">
          <a:xfrm>
            <a:off x="323850" y="4110038"/>
            <a:ext cx="3600450" cy="1206500"/>
          </a:xfrm>
          <a:prstGeom prst="rect">
            <a:avLst/>
          </a:prstGeom>
          <a:noFill/>
          <a:ln w="9525">
            <a:noFill/>
            <a:miter lim="800000"/>
            <a:headEnd/>
            <a:tailEnd/>
          </a:ln>
        </p:spPr>
      </p:pic>
      <p:pic>
        <p:nvPicPr>
          <p:cNvPr id="102405" name="Picture 15"/>
          <p:cNvPicPr>
            <a:picLocks noChangeAspect="1" noChangeArrowheads="1"/>
          </p:cNvPicPr>
          <p:nvPr/>
        </p:nvPicPr>
        <p:blipFill>
          <a:blip r:embed="rId3"/>
          <a:srcRect/>
          <a:stretch>
            <a:fillRect/>
          </a:stretch>
        </p:blipFill>
        <p:spPr bwMode="auto">
          <a:xfrm>
            <a:off x="323850" y="1412875"/>
            <a:ext cx="2514600" cy="1133475"/>
          </a:xfrm>
          <a:prstGeom prst="rect">
            <a:avLst/>
          </a:prstGeom>
          <a:noFill/>
          <a:ln w="9525">
            <a:noFill/>
            <a:miter lim="800000"/>
            <a:headEnd/>
            <a:tailEnd/>
          </a:ln>
        </p:spPr>
      </p:pic>
      <p:pic>
        <p:nvPicPr>
          <p:cNvPr id="102406" name="Picture 16"/>
          <p:cNvPicPr>
            <a:picLocks noChangeAspect="1" noChangeArrowheads="1"/>
          </p:cNvPicPr>
          <p:nvPr/>
        </p:nvPicPr>
        <p:blipFill>
          <a:blip r:embed="rId4"/>
          <a:srcRect/>
          <a:stretch>
            <a:fillRect/>
          </a:stretch>
        </p:blipFill>
        <p:spPr bwMode="auto">
          <a:xfrm>
            <a:off x="4932363" y="4113213"/>
            <a:ext cx="3536950" cy="120332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79882">
                                            <p:txEl>
                                              <p:pRg st="0" end="0"/>
                                            </p:txEl>
                                          </p:spTgt>
                                        </p:tgtEl>
                                        <p:attrNameLst>
                                          <p:attrName>style.visibility</p:attrName>
                                        </p:attrNameLst>
                                      </p:cBhvr>
                                      <p:to>
                                        <p:strVal val="visible"/>
                                      </p:to>
                                    </p:set>
                                    <p:animEffect transition="in" filter="fade">
                                      <p:cBhvr>
                                        <p:cTn id="7" dur="500">
                                          <p:stCondLst>
                                            <p:cond delay="0"/>
                                          </p:stCondLst>
                                        </p:cTn>
                                        <p:tgtEl>
                                          <p:spTgt spid="798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2" name="Rectangle 8"/>
          <p:cNvSpPr>
            <a:spLocks noChangeArrowheads="1"/>
          </p:cNvSpPr>
          <p:nvPr/>
        </p:nvSpPr>
        <p:spPr bwMode="auto">
          <a:xfrm>
            <a:off x="250825" y="1471613"/>
            <a:ext cx="8713788" cy="2649537"/>
          </a:xfrm>
          <a:prstGeom prst="rect">
            <a:avLst/>
          </a:prstGeom>
          <a:noFill/>
          <a:ln w="9525" algn="ctr">
            <a:noFill/>
            <a:miter lim="800000"/>
            <a:headEnd/>
            <a:tailEnd/>
          </a:ln>
          <a:effectLst>
            <a:outerShdw dist="38100" algn="ctr" rotWithShape="0">
              <a:schemeClr val="tx1"/>
            </a:outerShdw>
          </a:effectLst>
        </p:spPr>
        <p:txBody>
          <a:bodyPr anchor="ctr">
            <a:spAutoFit/>
          </a:bodyPr>
          <a:lstStyle/>
          <a:p>
            <a:pPr algn="ctr">
              <a:lnSpc>
                <a:spcPct val="175000"/>
              </a:lnSpc>
              <a:defRPr/>
            </a:pPr>
            <a:r>
              <a:rPr lang="ru-RU" sz="3200" b="1">
                <a:latin typeface="Arial" pitchFamily="34" charset="0"/>
                <a:cs typeface="Arial" pitchFamily="34" charset="0"/>
              </a:rPr>
              <a:t>Человеческий фактор и поведенческий подход в процессе управления профессиональными рисками </a:t>
            </a:r>
          </a:p>
        </p:txBody>
      </p:sp>
      <p:sp>
        <p:nvSpPr>
          <p:cNvPr id="103426"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53" name="Picture 21"/>
          <p:cNvPicPr>
            <a:picLocks noChangeAspect="1" noChangeArrowheads="1"/>
          </p:cNvPicPr>
          <p:nvPr/>
        </p:nvPicPr>
        <p:blipFill>
          <a:blip r:embed="rId3"/>
          <a:srcRect/>
          <a:stretch>
            <a:fillRect/>
          </a:stretch>
        </p:blipFill>
        <p:spPr bwMode="auto">
          <a:xfrm>
            <a:off x="1434905" y="1450975"/>
            <a:ext cx="6643956" cy="4981847"/>
          </a:xfrm>
          <a:prstGeom prst="rect">
            <a:avLst/>
          </a:prstGeom>
          <a:noFill/>
          <a:ln w="9525">
            <a:noFill/>
            <a:miter lim="800000"/>
            <a:headEnd/>
            <a:tailEnd/>
          </a:ln>
        </p:spPr>
      </p:pic>
      <p:sp>
        <p:nvSpPr>
          <p:cNvPr id="5" name="Заголовок 1"/>
          <p:cNvSpPr txBox="1">
            <a:spLocks/>
          </p:cNvSpPr>
          <p:nvPr/>
        </p:nvSpPr>
        <p:spPr>
          <a:xfrm>
            <a:off x="323850" y="343980"/>
            <a:ext cx="8640763" cy="787908"/>
          </a:xfrm>
          <a:prstGeom prst="rect">
            <a:avLst/>
          </a:prstGeom>
        </p:spPr>
        <p:txBody>
          <a:bodyPr lIns="0" tIns="0" rIns="0" bIns="0" anchor="b">
            <a:spAutoFit/>
          </a:bodyPr>
          <a:lstStyle/>
          <a:p>
            <a:pPr algn="ctr">
              <a:lnSpc>
                <a:spcPct val="80000"/>
              </a:lnSpc>
              <a:defRPr/>
            </a:pPr>
            <a:r>
              <a:rPr lang="ru-RU" sz="3200" b="1" dirty="0">
                <a:effectLst>
                  <a:outerShdw blurRad="38100" dist="38100" dir="2700000" algn="tl">
                    <a:srgbClr val="C0C0C0"/>
                  </a:outerShdw>
                </a:effectLst>
                <a:latin typeface="Arial" pitchFamily="34" charset="0"/>
                <a:cs typeface="Arial" pitchFamily="34" charset="0"/>
              </a:rPr>
              <a:t>Как учесть субъективный фактор</a:t>
            </a:r>
            <a:br>
              <a:rPr lang="ru-RU" sz="3200" b="1" dirty="0">
                <a:effectLst>
                  <a:outerShdw blurRad="38100" dist="38100" dir="2700000" algn="tl">
                    <a:srgbClr val="C0C0C0"/>
                  </a:outerShdw>
                </a:effectLst>
                <a:latin typeface="Arial" pitchFamily="34" charset="0"/>
                <a:cs typeface="Arial" pitchFamily="34" charset="0"/>
              </a:rPr>
            </a:br>
            <a:r>
              <a:rPr lang="ru-RU" sz="3200" b="1" dirty="0">
                <a:effectLst>
                  <a:outerShdw blurRad="38100" dist="38100" dir="2700000" algn="tl">
                    <a:srgbClr val="C0C0C0"/>
                  </a:outerShdw>
                </a:effectLst>
                <a:latin typeface="Arial" pitchFamily="34" charset="0"/>
                <a:cs typeface="Arial" pitchFamily="34" charset="0"/>
              </a:rPr>
              <a:t> Технические средства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53"/>
                                        </p:tgtEl>
                                        <p:attrNameLst>
                                          <p:attrName>style.visibility</p:attrName>
                                        </p:attrNameLst>
                                      </p:cBhvr>
                                      <p:to>
                                        <p:strVal val="visible"/>
                                      </p:to>
                                    </p:set>
                                    <p:animEffect transition="in" filter="dissolve">
                                      <p:cBhvr>
                                        <p:cTn id="7" dur="500"/>
                                        <p:tgtEl>
                                          <p:spTgt spid="18453"/>
                                        </p:tgtEl>
                                      </p:cBhvr>
                                    </p:animEffect>
                                  </p:childTnLst>
                                </p:cTn>
                              </p:par>
                              <p:par>
                                <p:cTn id="8" presetID="50" presetClass="entr" presetSubtype="0" decel="10000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p:cTn id="10" dur="1000" fill="hold"/>
                                        <p:tgtEl>
                                          <p:spTgt spid="5"/>
                                        </p:tgtEl>
                                        <p:attrNameLst>
                                          <p:attrName>ppt_w</p:attrName>
                                        </p:attrNameLst>
                                      </p:cBhvr>
                                      <p:tavLst>
                                        <p:tav tm="0">
                                          <p:val>
                                            <p:strVal val="#ppt_w+.3"/>
                                          </p:val>
                                        </p:tav>
                                        <p:tav tm="100000">
                                          <p:val>
                                            <p:strVal val="#ppt_w"/>
                                          </p:val>
                                        </p:tav>
                                      </p:tavLst>
                                    </p:anim>
                                    <p:anim calcmode="lin" valueType="num">
                                      <p:cBhvr>
                                        <p:cTn id="11" dur="1000" fill="hold"/>
                                        <p:tgtEl>
                                          <p:spTgt spid="5"/>
                                        </p:tgtEl>
                                        <p:attrNameLst>
                                          <p:attrName>ppt_h</p:attrName>
                                        </p:attrNameLst>
                                      </p:cBhvr>
                                      <p:tavLst>
                                        <p:tav tm="0">
                                          <p:val>
                                            <p:strVal val="#ppt_h"/>
                                          </p:val>
                                        </p:tav>
                                        <p:tav tm="100000">
                                          <p:val>
                                            <p:strVal val="#ppt_h"/>
                                          </p:val>
                                        </p:tav>
                                      </p:tavLst>
                                    </p:anim>
                                    <p:animEffect transition="in" filter="fade">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57" name="Text Box 29"/>
          <p:cNvSpPr txBox="1">
            <a:spLocks noChangeArrowheads="1"/>
          </p:cNvSpPr>
          <p:nvPr/>
        </p:nvSpPr>
        <p:spPr bwMode="auto">
          <a:xfrm>
            <a:off x="464235" y="476250"/>
            <a:ext cx="8201464" cy="946150"/>
          </a:xfrm>
          <a:prstGeom prst="rect">
            <a:avLst/>
          </a:prstGeom>
          <a:noFill/>
          <a:ln w="9525">
            <a:noFill/>
            <a:miter lim="800000"/>
            <a:headEnd/>
            <a:tailEnd/>
          </a:ln>
        </p:spPr>
        <p:txBody>
          <a:bodyPr wrap="square">
            <a:spAutoFit/>
          </a:bodyPr>
          <a:lstStyle/>
          <a:p>
            <a:pPr algn="ctr">
              <a:defRPr/>
            </a:pPr>
            <a:r>
              <a:rPr lang="ru-RU" sz="2800" b="1" dirty="0">
                <a:effectLst>
                  <a:outerShdw blurRad="38100" dist="38100" dir="2700000" algn="tl">
                    <a:srgbClr val="C0C0C0"/>
                  </a:outerShdw>
                </a:effectLst>
                <a:latin typeface="Arial" pitchFamily="34" charset="0"/>
                <a:cs typeface="Arial" pitchFamily="34" charset="0"/>
              </a:rPr>
              <a:t>Почему одних технических средств недостаточно?</a:t>
            </a:r>
          </a:p>
        </p:txBody>
      </p:sp>
      <p:pic>
        <p:nvPicPr>
          <p:cNvPr id="22558" name="Picture 30"/>
          <p:cNvPicPr>
            <a:picLocks noChangeAspect="1" noChangeArrowheads="1"/>
          </p:cNvPicPr>
          <p:nvPr/>
        </p:nvPicPr>
        <p:blipFill>
          <a:blip r:embed="rId3"/>
          <a:srcRect/>
          <a:stretch>
            <a:fillRect/>
          </a:stretch>
        </p:blipFill>
        <p:spPr bwMode="auto">
          <a:xfrm>
            <a:off x="179388" y="2290763"/>
            <a:ext cx="4679950" cy="3514725"/>
          </a:xfrm>
          <a:prstGeom prst="rect">
            <a:avLst/>
          </a:prstGeom>
          <a:noFill/>
          <a:ln w="9525">
            <a:noFill/>
            <a:miter lim="800000"/>
            <a:headEnd/>
            <a:tailEnd/>
          </a:ln>
        </p:spPr>
      </p:pic>
      <p:sp>
        <p:nvSpPr>
          <p:cNvPr id="22559" name="Rectangle 31"/>
          <p:cNvSpPr>
            <a:spLocks noChangeArrowheads="1"/>
          </p:cNvSpPr>
          <p:nvPr/>
        </p:nvSpPr>
        <p:spPr bwMode="auto">
          <a:xfrm>
            <a:off x="4932363" y="1700213"/>
            <a:ext cx="4064000" cy="4824412"/>
          </a:xfrm>
          <a:prstGeom prst="rect">
            <a:avLst/>
          </a:prstGeom>
          <a:noFill/>
          <a:ln w="9525">
            <a:noFill/>
            <a:miter lim="800000"/>
            <a:headEnd/>
            <a:tailEnd/>
          </a:ln>
        </p:spPr>
        <p:txBody>
          <a:bodyPr/>
          <a:lstStyle/>
          <a:p>
            <a:pPr marL="342900" indent="-342900">
              <a:spcBef>
                <a:spcPct val="20000"/>
              </a:spcBef>
            </a:pPr>
            <a:r>
              <a:rPr lang="ru-RU" sz="2400">
                <a:latin typeface="Arial" charset="0"/>
              </a:rPr>
              <a:t>Большое количество инженерных защит основано на поведении «законопослушного» рабочего (пример, останови машину до снятия защиты), но люди имеют особенность игнорировать правила</a:t>
            </a:r>
            <a:r>
              <a:rPr lang="en-US" sz="2400">
                <a:latin typeface="Arial" charset="0"/>
              </a:rPr>
              <a:t> </a:t>
            </a:r>
            <a:r>
              <a:rPr lang="ru-RU" sz="2400">
                <a:latin typeface="Arial" charset="0"/>
              </a:rPr>
              <a:t>и обходить защитные меры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2557"/>
                                        </p:tgtEl>
                                        <p:attrNameLst>
                                          <p:attrName>style.visibility</p:attrName>
                                        </p:attrNameLst>
                                      </p:cBhvr>
                                      <p:to>
                                        <p:strVal val="visible"/>
                                      </p:to>
                                    </p:set>
                                    <p:anim calcmode="lin" valueType="num">
                                      <p:cBhvr>
                                        <p:cTn id="7" dur="500" fill="hold"/>
                                        <p:tgtEl>
                                          <p:spTgt spid="22557"/>
                                        </p:tgtEl>
                                        <p:attrNameLst>
                                          <p:attrName>ppt_w</p:attrName>
                                        </p:attrNameLst>
                                      </p:cBhvr>
                                      <p:tavLst>
                                        <p:tav tm="0">
                                          <p:val>
                                            <p:fltVal val="0"/>
                                          </p:val>
                                        </p:tav>
                                        <p:tav tm="100000">
                                          <p:val>
                                            <p:strVal val="#ppt_w"/>
                                          </p:val>
                                        </p:tav>
                                      </p:tavLst>
                                    </p:anim>
                                    <p:anim calcmode="lin" valueType="num">
                                      <p:cBhvr>
                                        <p:cTn id="8" dur="500" fill="hold"/>
                                        <p:tgtEl>
                                          <p:spTgt spid="22557"/>
                                        </p:tgtEl>
                                        <p:attrNameLst>
                                          <p:attrName>ppt_h</p:attrName>
                                        </p:attrNameLst>
                                      </p:cBhvr>
                                      <p:tavLst>
                                        <p:tav tm="0">
                                          <p:val>
                                            <p:fltVal val="0"/>
                                          </p:val>
                                        </p:tav>
                                        <p:tav tm="100000">
                                          <p:val>
                                            <p:strVal val="#ppt_h"/>
                                          </p:val>
                                        </p:tav>
                                      </p:tavLst>
                                    </p:anim>
                                    <p:animEffect transition="in" filter="fade">
                                      <p:cBhvr>
                                        <p:cTn id="9" dur="500"/>
                                        <p:tgtEl>
                                          <p:spTgt spid="2255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2558"/>
                                        </p:tgtEl>
                                        <p:attrNameLst>
                                          <p:attrName>style.visibility</p:attrName>
                                        </p:attrNameLst>
                                      </p:cBhvr>
                                      <p:to>
                                        <p:strVal val="visible"/>
                                      </p:to>
                                    </p:set>
                                    <p:anim calcmode="lin" valueType="num">
                                      <p:cBhvr>
                                        <p:cTn id="14" dur="500" fill="hold"/>
                                        <p:tgtEl>
                                          <p:spTgt spid="22558"/>
                                        </p:tgtEl>
                                        <p:attrNameLst>
                                          <p:attrName>ppt_w</p:attrName>
                                        </p:attrNameLst>
                                      </p:cBhvr>
                                      <p:tavLst>
                                        <p:tav tm="0">
                                          <p:val>
                                            <p:fltVal val="0"/>
                                          </p:val>
                                        </p:tav>
                                        <p:tav tm="100000">
                                          <p:val>
                                            <p:strVal val="#ppt_w"/>
                                          </p:val>
                                        </p:tav>
                                      </p:tavLst>
                                    </p:anim>
                                    <p:anim calcmode="lin" valueType="num">
                                      <p:cBhvr>
                                        <p:cTn id="15" dur="500" fill="hold"/>
                                        <p:tgtEl>
                                          <p:spTgt spid="22558"/>
                                        </p:tgtEl>
                                        <p:attrNameLst>
                                          <p:attrName>ppt_h</p:attrName>
                                        </p:attrNameLst>
                                      </p:cBhvr>
                                      <p:tavLst>
                                        <p:tav tm="0">
                                          <p:val>
                                            <p:fltVal val="0"/>
                                          </p:val>
                                        </p:tav>
                                        <p:tav tm="100000">
                                          <p:val>
                                            <p:strVal val="#ppt_h"/>
                                          </p:val>
                                        </p:tav>
                                      </p:tavLst>
                                    </p:anim>
                                    <p:animEffect transition="in" filter="fade">
                                      <p:cBhvr>
                                        <p:cTn id="16" dur="500"/>
                                        <p:tgtEl>
                                          <p:spTgt spid="2255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2559"/>
                                        </p:tgtEl>
                                        <p:attrNameLst>
                                          <p:attrName>style.visibility</p:attrName>
                                        </p:attrNameLst>
                                      </p:cBhvr>
                                      <p:to>
                                        <p:strVal val="visible"/>
                                      </p:to>
                                    </p:set>
                                    <p:animEffect transition="in" filter="blinds(horizontal)">
                                      <p:cBhvr>
                                        <p:cTn id="21" dur="500"/>
                                        <p:tgtEl>
                                          <p:spTgt spid="22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7" grpId="0"/>
      <p:bldP spid="2255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1" name="Picture 11" descr="Seguranca no Trabalho"/>
          <p:cNvPicPr>
            <a:picLocks noChangeAspect="1" noChangeArrowheads="1"/>
          </p:cNvPicPr>
          <p:nvPr/>
        </p:nvPicPr>
        <p:blipFill>
          <a:blip r:embed="rId2">
            <a:lum bright="12000"/>
          </a:blip>
          <a:srcRect/>
          <a:stretch>
            <a:fillRect/>
          </a:stretch>
        </p:blipFill>
        <p:spPr bwMode="auto">
          <a:xfrm>
            <a:off x="1403350" y="865188"/>
            <a:ext cx="4811713" cy="5732462"/>
          </a:xfrm>
          <a:prstGeom prst="rect">
            <a:avLst/>
          </a:prstGeom>
          <a:noFill/>
          <a:ln w="9525">
            <a:noFill/>
            <a:miter lim="800000"/>
            <a:headEnd/>
            <a:tailEnd/>
          </a:ln>
        </p:spPr>
      </p:pic>
      <p:pic>
        <p:nvPicPr>
          <p:cNvPr id="133132" name="Picture 12" descr="EPI_S_2"/>
          <p:cNvPicPr>
            <a:picLocks noChangeAspect="1" noChangeArrowheads="1"/>
          </p:cNvPicPr>
          <p:nvPr/>
        </p:nvPicPr>
        <p:blipFill>
          <a:blip r:embed="rId3"/>
          <a:srcRect/>
          <a:stretch>
            <a:fillRect/>
          </a:stretch>
        </p:blipFill>
        <p:spPr bwMode="auto">
          <a:xfrm>
            <a:off x="827088" y="942975"/>
            <a:ext cx="7345362" cy="5510213"/>
          </a:xfrm>
          <a:prstGeom prst="rect">
            <a:avLst/>
          </a:prstGeom>
          <a:noFill/>
          <a:ln w="9525">
            <a:noFill/>
            <a:miter lim="800000"/>
            <a:headEnd/>
            <a:tailEnd/>
          </a:ln>
        </p:spPr>
      </p:pic>
      <p:pic>
        <p:nvPicPr>
          <p:cNvPr id="133133" name="Picture 13" descr="pas peur"/>
          <p:cNvPicPr>
            <a:picLocks noChangeAspect="1" noChangeArrowheads="1"/>
          </p:cNvPicPr>
          <p:nvPr/>
        </p:nvPicPr>
        <p:blipFill>
          <a:blip r:embed="rId4"/>
          <a:srcRect/>
          <a:stretch>
            <a:fillRect/>
          </a:stretch>
        </p:blipFill>
        <p:spPr bwMode="auto">
          <a:xfrm>
            <a:off x="755650" y="981075"/>
            <a:ext cx="7423150" cy="5564188"/>
          </a:xfrm>
          <a:prstGeom prst="rect">
            <a:avLst/>
          </a:prstGeom>
          <a:noFill/>
          <a:ln w="9525">
            <a:noFill/>
            <a:miter lim="800000"/>
            <a:headEnd/>
            <a:tailEnd/>
          </a:ln>
        </p:spPr>
      </p:pic>
      <p:pic>
        <p:nvPicPr>
          <p:cNvPr id="133134" name="Picture 14" descr="Legge626_3"/>
          <p:cNvPicPr>
            <a:picLocks noChangeAspect="1" noChangeArrowheads="1"/>
          </p:cNvPicPr>
          <p:nvPr/>
        </p:nvPicPr>
        <p:blipFill>
          <a:blip r:embed="rId5"/>
          <a:srcRect/>
          <a:stretch>
            <a:fillRect/>
          </a:stretch>
        </p:blipFill>
        <p:spPr bwMode="auto">
          <a:xfrm>
            <a:off x="827088" y="908050"/>
            <a:ext cx="7524750" cy="5459413"/>
          </a:xfrm>
          <a:prstGeom prst="rect">
            <a:avLst/>
          </a:prstGeom>
          <a:noFill/>
          <a:ln w="9525">
            <a:noFill/>
            <a:miter lim="800000"/>
            <a:headEnd/>
            <a:tailEnd/>
          </a:ln>
        </p:spPr>
      </p:pic>
      <p:pic>
        <p:nvPicPr>
          <p:cNvPr id="133135" name="Picture 15" descr="SafetyOfficer05[1]"/>
          <p:cNvPicPr>
            <a:picLocks noChangeAspect="1" noChangeArrowheads="1"/>
          </p:cNvPicPr>
          <p:nvPr/>
        </p:nvPicPr>
        <p:blipFill>
          <a:blip r:embed="rId6"/>
          <a:srcRect/>
          <a:stretch>
            <a:fillRect/>
          </a:stretch>
        </p:blipFill>
        <p:spPr bwMode="auto">
          <a:xfrm>
            <a:off x="2506663" y="882650"/>
            <a:ext cx="3873500" cy="5715000"/>
          </a:xfrm>
          <a:prstGeom prst="rect">
            <a:avLst/>
          </a:prstGeom>
          <a:noFill/>
          <a:ln w="9525">
            <a:noFill/>
            <a:miter lim="800000"/>
            <a:headEnd/>
            <a:tailEnd/>
          </a:ln>
        </p:spPr>
      </p:pic>
      <p:pic>
        <p:nvPicPr>
          <p:cNvPr id="133136" name="Picture 16" descr="SafetyOfficer04[1]"/>
          <p:cNvPicPr>
            <a:picLocks noChangeAspect="1" noChangeArrowheads="1"/>
          </p:cNvPicPr>
          <p:nvPr/>
        </p:nvPicPr>
        <p:blipFill>
          <a:blip r:embed="rId7"/>
          <a:srcRect/>
          <a:stretch>
            <a:fillRect/>
          </a:stretch>
        </p:blipFill>
        <p:spPr bwMode="auto">
          <a:xfrm>
            <a:off x="2195513" y="765175"/>
            <a:ext cx="3787775" cy="5721350"/>
          </a:xfrm>
          <a:prstGeom prst="rect">
            <a:avLst/>
          </a:prstGeom>
          <a:noFill/>
          <a:ln w="9525">
            <a:noFill/>
            <a:miter lim="800000"/>
            <a:headEnd/>
            <a:tailEnd/>
          </a:ln>
        </p:spPr>
      </p:pic>
      <p:pic>
        <p:nvPicPr>
          <p:cNvPr id="133137" name="Picture 17" descr="Legge626_1"/>
          <p:cNvPicPr>
            <a:picLocks noChangeAspect="1" noChangeArrowheads="1"/>
          </p:cNvPicPr>
          <p:nvPr/>
        </p:nvPicPr>
        <p:blipFill>
          <a:blip r:embed="rId8"/>
          <a:srcRect/>
          <a:stretch>
            <a:fillRect/>
          </a:stretch>
        </p:blipFill>
        <p:spPr bwMode="auto">
          <a:xfrm>
            <a:off x="1763713" y="765175"/>
            <a:ext cx="4326299" cy="5326136"/>
          </a:xfrm>
          <a:prstGeom prst="rect">
            <a:avLst/>
          </a:prstGeom>
          <a:noFill/>
          <a:ln w="9525">
            <a:noFill/>
            <a:miter lim="800000"/>
            <a:headEnd/>
            <a:tailEnd/>
          </a:ln>
        </p:spPr>
      </p:pic>
      <p:sp>
        <p:nvSpPr>
          <p:cNvPr id="22557" name="Text Box 29"/>
          <p:cNvSpPr txBox="1">
            <a:spLocks noChangeArrowheads="1"/>
          </p:cNvSpPr>
          <p:nvPr/>
        </p:nvSpPr>
        <p:spPr bwMode="auto">
          <a:xfrm>
            <a:off x="0" y="188913"/>
            <a:ext cx="8964613" cy="519112"/>
          </a:xfrm>
          <a:prstGeom prst="rect">
            <a:avLst/>
          </a:prstGeom>
          <a:noFill/>
          <a:ln w="9525">
            <a:noFill/>
            <a:miter lim="800000"/>
            <a:headEnd/>
            <a:tailEnd/>
          </a:ln>
        </p:spPr>
        <p:txBody>
          <a:bodyPr>
            <a:spAutoFit/>
          </a:bodyPr>
          <a:lstStyle/>
          <a:p>
            <a:pPr algn="ctr">
              <a:defRPr/>
            </a:pPr>
            <a:r>
              <a:rPr lang="ru-RU" sz="2800" b="1">
                <a:effectLst>
                  <a:outerShdw blurRad="38100" dist="38100" dir="2700000" algn="tl">
                    <a:srgbClr val="C0C0C0"/>
                  </a:outerShdw>
                </a:effectLst>
                <a:latin typeface="Arial" pitchFamily="34" charset="0"/>
                <a:cs typeface="Arial" pitchFamily="34" charset="0"/>
              </a:rPr>
              <a:t>Восприятие риска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3131"/>
                                        </p:tgtEl>
                                        <p:attrNameLst>
                                          <p:attrName>style.visibility</p:attrName>
                                        </p:attrNameLst>
                                      </p:cBhvr>
                                      <p:to>
                                        <p:strVal val="visible"/>
                                      </p:to>
                                    </p:set>
                                    <p:animEffect transition="in" filter="dissolve">
                                      <p:cBhvr>
                                        <p:cTn id="7" dur="500"/>
                                        <p:tgtEl>
                                          <p:spTgt spid="133131"/>
                                        </p:tgtEl>
                                      </p:cBhvr>
                                    </p:animEffect>
                                  </p:childTnLst>
                                  <p:subTnLst>
                                    <p:set>
                                      <p:cBhvr override="childStyle">
                                        <p:cTn dur="1" fill="hold" display="0" masterRel="nextClick" afterEffect="1"/>
                                        <p:tgtEl>
                                          <p:spTgt spid="13313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33132"/>
                                        </p:tgtEl>
                                        <p:attrNameLst>
                                          <p:attrName>style.visibility</p:attrName>
                                        </p:attrNameLst>
                                      </p:cBhvr>
                                      <p:to>
                                        <p:strVal val="visible"/>
                                      </p:to>
                                    </p:set>
                                    <p:anim calcmode="lin" valueType="num">
                                      <p:cBhvr>
                                        <p:cTn id="12" dur="1000" fill="hold"/>
                                        <p:tgtEl>
                                          <p:spTgt spid="133132"/>
                                        </p:tgtEl>
                                        <p:attrNameLst>
                                          <p:attrName>ppt_w</p:attrName>
                                        </p:attrNameLst>
                                      </p:cBhvr>
                                      <p:tavLst>
                                        <p:tav tm="0">
                                          <p:val>
                                            <p:strVal val="#ppt_w*0.70"/>
                                          </p:val>
                                        </p:tav>
                                        <p:tav tm="100000">
                                          <p:val>
                                            <p:strVal val="#ppt_w"/>
                                          </p:val>
                                        </p:tav>
                                      </p:tavLst>
                                    </p:anim>
                                    <p:anim calcmode="lin" valueType="num">
                                      <p:cBhvr>
                                        <p:cTn id="13" dur="1000" fill="hold"/>
                                        <p:tgtEl>
                                          <p:spTgt spid="133132"/>
                                        </p:tgtEl>
                                        <p:attrNameLst>
                                          <p:attrName>ppt_h</p:attrName>
                                        </p:attrNameLst>
                                      </p:cBhvr>
                                      <p:tavLst>
                                        <p:tav tm="0">
                                          <p:val>
                                            <p:strVal val="#ppt_h"/>
                                          </p:val>
                                        </p:tav>
                                        <p:tav tm="100000">
                                          <p:val>
                                            <p:strVal val="#ppt_h"/>
                                          </p:val>
                                        </p:tav>
                                      </p:tavLst>
                                    </p:anim>
                                    <p:animEffect transition="in" filter="fade">
                                      <p:cBhvr>
                                        <p:cTn id="14" dur="1000"/>
                                        <p:tgtEl>
                                          <p:spTgt spid="133132"/>
                                        </p:tgtEl>
                                      </p:cBhvr>
                                    </p:animEffect>
                                  </p:childTnLst>
                                  <p:subTnLst>
                                    <p:set>
                                      <p:cBhvr override="childStyle">
                                        <p:cTn dur="1" fill="hold" display="0" masterRel="nextClick" afterEffect="1"/>
                                        <p:tgtEl>
                                          <p:spTgt spid="13313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33133"/>
                                        </p:tgtEl>
                                        <p:attrNameLst>
                                          <p:attrName>style.visibility</p:attrName>
                                        </p:attrNameLst>
                                      </p:cBhvr>
                                      <p:to>
                                        <p:strVal val="visible"/>
                                      </p:to>
                                    </p:set>
                                    <p:anim calcmode="lin" valueType="num">
                                      <p:cBhvr>
                                        <p:cTn id="19" dur="1000" fill="hold"/>
                                        <p:tgtEl>
                                          <p:spTgt spid="133133"/>
                                        </p:tgtEl>
                                        <p:attrNameLst>
                                          <p:attrName>ppt_w</p:attrName>
                                        </p:attrNameLst>
                                      </p:cBhvr>
                                      <p:tavLst>
                                        <p:tav tm="0">
                                          <p:val>
                                            <p:strVal val="#ppt_w*0.70"/>
                                          </p:val>
                                        </p:tav>
                                        <p:tav tm="100000">
                                          <p:val>
                                            <p:strVal val="#ppt_w"/>
                                          </p:val>
                                        </p:tav>
                                      </p:tavLst>
                                    </p:anim>
                                    <p:anim calcmode="lin" valueType="num">
                                      <p:cBhvr>
                                        <p:cTn id="20" dur="1000" fill="hold"/>
                                        <p:tgtEl>
                                          <p:spTgt spid="133133"/>
                                        </p:tgtEl>
                                        <p:attrNameLst>
                                          <p:attrName>ppt_h</p:attrName>
                                        </p:attrNameLst>
                                      </p:cBhvr>
                                      <p:tavLst>
                                        <p:tav tm="0">
                                          <p:val>
                                            <p:strVal val="#ppt_h"/>
                                          </p:val>
                                        </p:tav>
                                        <p:tav tm="100000">
                                          <p:val>
                                            <p:strVal val="#ppt_h"/>
                                          </p:val>
                                        </p:tav>
                                      </p:tavLst>
                                    </p:anim>
                                    <p:animEffect transition="in" filter="fade">
                                      <p:cBhvr>
                                        <p:cTn id="21" dur="1000"/>
                                        <p:tgtEl>
                                          <p:spTgt spid="133133"/>
                                        </p:tgtEl>
                                      </p:cBhvr>
                                    </p:animEffect>
                                  </p:childTnLst>
                                  <p:subTnLst>
                                    <p:set>
                                      <p:cBhvr override="childStyle">
                                        <p:cTn dur="1" fill="hold" display="0" masterRel="nextClick" afterEffect="1"/>
                                        <p:tgtEl>
                                          <p:spTgt spid="133133"/>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33134"/>
                                        </p:tgtEl>
                                        <p:attrNameLst>
                                          <p:attrName>style.visibility</p:attrName>
                                        </p:attrNameLst>
                                      </p:cBhvr>
                                      <p:to>
                                        <p:strVal val="visible"/>
                                      </p:to>
                                    </p:set>
                                    <p:animEffect transition="in" filter="dissolve">
                                      <p:cBhvr>
                                        <p:cTn id="26" dur="500"/>
                                        <p:tgtEl>
                                          <p:spTgt spid="133134"/>
                                        </p:tgtEl>
                                      </p:cBhvr>
                                    </p:animEffect>
                                  </p:childTnLst>
                                  <p:subTnLst>
                                    <p:set>
                                      <p:cBhvr override="childStyle">
                                        <p:cTn dur="1" fill="hold" display="0" masterRel="nextClick" afterEffect="1"/>
                                        <p:tgtEl>
                                          <p:spTgt spid="133134"/>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33135"/>
                                        </p:tgtEl>
                                        <p:attrNameLst>
                                          <p:attrName>style.visibility</p:attrName>
                                        </p:attrNameLst>
                                      </p:cBhvr>
                                      <p:to>
                                        <p:strVal val="visible"/>
                                      </p:to>
                                    </p:set>
                                    <p:animEffect transition="in" filter="dissolve">
                                      <p:cBhvr>
                                        <p:cTn id="31" dur="500"/>
                                        <p:tgtEl>
                                          <p:spTgt spid="133135"/>
                                        </p:tgtEl>
                                      </p:cBhvr>
                                    </p:animEffect>
                                  </p:childTnLst>
                                  <p:subTnLst>
                                    <p:set>
                                      <p:cBhvr override="childStyle">
                                        <p:cTn dur="1" fill="hold" display="0" masterRel="nextClick" afterEffect="1"/>
                                        <p:tgtEl>
                                          <p:spTgt spid="133135"/>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133136"/>
                                        </p:tgtEl>
                                        <p:attrNameLst>
                                          <p:attrName>style.visibility</p:attrName>
                                        </p:attrNameLst>
                                      </p:cBhvr>
                                      <p:to>
                                        <p:strVal val="visible"/>
                                      </p:to>
                                    </p:set>
                                    <p:anim calcmode="lin" valueType="num">
                                      <p:cBhvr>
                                        <p:cTn id="36" dur="1000" fill="hold"/>
                                        <p:tgtEl>
                                          <p:spTgt spid="133136"/>
                                        </p:tgtEl>
                                        <p:attrNameLst>
                                          <p:attrName>ppt_w</p:attrName>
                                        </p:attrNameLst>
                                      </p:cBhvr>
                                      <p:tavLst>
                                        <p:tav tm="0">
                                          <p:val>
                                            <p:strVal val="#ppt_w*0.70"/>
                                          </p:val>
                                        </p:tav>
                                        <p:tav tm="100000">
                                          <p:val>
                                            <p:strVal val="#ppt_w"/>
                                          </p:val>
                                        </p:tav>
                                      </p:tavLst>
                                    </p:anim>
                                    <p:anim calcmode="lin" valueType="num">
                                      <p:cBhvr>
                                        <p:cTn id="37" dur="1000" fill="hold"/>
                                        <p:tgtEl>
                                          <p:spTgt spid="133136"/>
                                        </p:tgtEl>
                                        <p:attrNameLst>
                                          <p:attrName>ppt_h</p:attrName>
                                        </p:attrNameLst>
                                      </p:cBhvr>
                                      <p:tavLst>
                                        <p:tav tm="0">
                                          <p:val>
                                            <p:strVal val="#ppt_h"/>
                                          </p:val>
                                        </p:tav>
                                        <p:tav tm="100000">
                                          <p:val>
                                            <p:strVal val="#ppt_h"/>
                                          </p:val>
                                        </p:tav>
                                      </p:tavLst>
                                    </p:anim>
                                    <p:animEffect transition="in" filter="fade">
                                      <p:cBhvr>
                                        <p:cTn id="38" dur="1000"/>
                                        <p:tgtEl>
                                          <p:spTgt spid="133136"/>
                                        </p:tgtEl>
                                      </p:cBhvr>
                                    </p:animEffect>
                                  </p:childTnLst>
                                  <p:subTnLst>
                                    <p:set>
                                      <p:cBhvr override="childStyle">
                                        <p:cTn dur="1" fill="hold" display="0" masterRel="nextClick" afterEffect="1"/>
                                        <p:tgtEl>
                                          <p:spTgt spid="133136"/>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53" presetClass="entr" presetSubtype="0" fill="hold" nodeType="clickEffect">
                                  <p:stCondLst>
                                    <p:cond delay="0"/>
                                  </p:stCondLst>
                                  <p:childTnLst>
                                    <p:set>
                                      <p:cBhvr>
                                        <p:cTn id="42" dur="1" fill="hold">
                                          <p:stCondLst>
                                            <p:cond delay="0"/>
                                          </p:stCondLst>
                                        </p:cTn>
                                        <p:tgtEl>
                                          <p:spTgt spid="133137"/>
                                        </p:tgtEl>
                                        <p:attrNameLst>
                                          <p:attrName>style.visibility</p:attrName>
                                        </p:attrNameLst>
                                      </p:cBhvr>
                                      <p:to>
                                        <p:strVal val="visible"/>
                                      </p:to>
                                    </p:set>
                                    <p:anim calcmode="lin" valueType="num">
                                      <p:cBhvr>
                                        <p:cTn id="43" dur="500" fill="hold"/>
                                        <p:tgtEl>
                                          <p:spTgt spid="133137"/>
                                        </p:tgtEl>
                                        <p:attrNameLst>
                                          <p:attrName>ppt_w</p:attrName>
                                        </p:attrNameLst>
                                      </p:cBhvr>
                                      <p:tavLst>
                                        <p:tav tm="0">
                                          <p:val>
                                            <p:fltVal val="0"/>
                                          </p:val>
                                        </p:tav>
                                        <p:tav tm="100000">
                                          <p:val>
                                            <p:strVal val="#ppt_w"/>
                                          </p:val>
                                        </p:tav>
                                      </p:tavLst>
                                    </p:anim>
                                    <p:anim calcmode="lin" valueType="num">
                                      <p:cBhvr>
                                        <p:cTn id="44" dur="500" fill="hold"/>
                                        <p:tgtEl>
                                          <p:spTgt spid="133137"/>
                                        </p:tgtEl>
                                        <p:attrNameLst>
                                          <p:attrName>ppt_h</p:attrName>
                                        </p:attrNameLst>
                                      </p:cBhvr>
                                      <p:tavLst>
                                        <p:tav tm="0">
                                          <p:val>
                                            <p:fltVal val="0"/>
                                          </p:val>
                                        </p:tav>
                                        <p:tav tm="100000">
                                          <p:val>
                                            <p:strVal val="#ppt_h"/>
                                          </p:val>
                                        </p:tav>
                                      </p:tavLst>
                                    </p:anim>
                                    <p:animEffect transition="in" filter="fade">
                                      <p:cBhvr>
                                        <p:cTn id="45" dur="500"/>
                                        <p:tgtEl>
                                          <p:spTgt spid="133137"/>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0" fill="hold" grpId="0" nodeType="clickEffect">
                                  <p:stCondLst>
                                    <p:cond delay="0"/>
                                  </p:stCondLst>
                                  <p:childTnLst>
                                    <p:set>
                                      <p:cBhvr>
                                        <p:cTn id="49" dur="1" fill="hold">
                                          <p:stCondLst>
                                            <p:cond delay="0"/>
                                          </p:stCondLst>
                                        </p:cTn>
                                        <p:tgtEl>
                                          <p:spTgt spid="22557"/>
                                        </p:tgtEl>
                                        <p:attrNameLst>
                                          <p:attrName>style.visibility</p:attrName>
                                        </p:attrNameLst>
                                      </p:cBhvr>
                                      <p:to>
                                        <p:strVal val="visible"/>
                                      </p:to>
                                    </p:set>
                                    <p:anim calcmode="lin" valueType="num">
                                      <p:cBhvr>
                                        <p:cTn id="50" dur="500" fill="hold"/>
                                        <p:tgtEl>
                                          <p:spTgt spid="22557"/>
                                        </p:tgtEl>
                                        <p:attrNameLst>
                                          <p:attrName>ppt_w</p:attrName>
                                        </p:attrNameLst>
                                      </p:cBhvr>
                                      <p:tavLst>
                                        <p:tav tm="0">
                                          <p:val>
                                            <p:fltVal val="0"/>
                                          </p:val>
                                        </p:tav>
                                        <p:tav tm="100000">
                                          <p:val>
                                            <p:strVal val="#ppt_w"/>
                                          </p:val>
                                        </p:tav>
                                      </p:tavLst>
                                    </p:anim>
                                    <p:anim calcmode="lin" valueType="num">
                                      <p:cBhvr>
                                        <p:cTn id="51" dur="500" fill="hold"/>
                                        <p:tgtEl>
                                          <p:spTgt spid="22557"/>
                                        </p:tgtEl>
                                        <p:attrNameLst>
                                          <p:attrName>ppt_h</p:attrName>
                                        </p:attrNameLst>
                                      </p:cBhvr>
                                      <p:tavLst>
                                        <p:tav tm="0">
                                          <p:val>
                                            <p:fltVal val="0"/>
                                          </p:val>
                                        </p:tav>
                                        <p:tav tm="100000">
                                          <p:val>
                                            <p:strVal val="#ppt_h"/>
                                          </p:val>
                                        </p:tav>
                                      </p:tavLst>
                                    </p:anim>
                                    <p:animEffect transition="in" filter="fade">
                                      <p:cBhvr>
                                        <p:cTn id="52" dur="500"/>
                                        <p:tgtEl>
                                          <p:spTgt spid="22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4" name="Rectangle 11"/>
          <p:cNvSpPr>
            <a:spLocks noGrp="1" noChangeArrowheads="1"/>
          </p:cNvSpPr>
          <p:nvPr>
            <p:ph type="body" idx="4294967295"/>
          </p:nvPr>
        </p:nvSpPr>
        <p:spPr>
          <a:xfrm>
            <a:off x="323850" y="1628775"/>
            <a:ext cx="8208963" cy="4929188"/>
          </a:xfrm>
        </p:spPr>
        <p:txBody>
          <a:bodyPr/>
          <a:lstStyle/>
          <a:p>
            <a:r>
              <a:rPr lang="ru-RU" sz="2400" smtClean="0">
                <a:solidFill>
                  <a:srgbClr val="002060"/>
                </a:solidFill>
                <a:latin typeface="Garamond" pitchFamily="18" charset="0"/>
                <a:cs typeface="Arial" charset="0"/>
              </a:rPr>
              <a:t>Никогда не были травмированы, когда вели себя небезопасно (</a:t>
            </a:r>
            <a:r>
              <a:rPr lang="ru-RU" sz="2400" smtClean="0">
                <a:solidFill>
                  <a:srgbClr val="002060"/>
                </a:solidFill>
                <a:cs typeface="Arial" charset="0"/>
              </a:rPr>
              <a:t>«</a:t>
            </a:r>
            <a:r>
              <a:rPr lang="ru-RU" sz="2400" smtClean="0">
                <a:solidFill>
                  <a:srgbClr val="002060"/>
                </a:solidFill>
                <a:latin typeface="Garamond" pitchFamily="18" charset="0"/>
                <a:cs typeface="Arial" charset="0"/>
              </a:rPr>
              <a:t>я всегда так делаю, и ничего не случается</a:t>
            </a:r>
            <a:r>
              <a:rPr lang="ru-RU" sz="2400" smtClean="0">
                <a:solidFill>
                  <a:srgbClr val="002060"/>
                </a:solidFill>
                <a:cs typeface="Arial" charset="0"/>
              </a:rPr>
              <a:t>»</a:t>
            </a:r>
            <a:r>
              <a:rPr lang="ru-RU" sz="2400" smtClean="0">
                <a:solidFill>
                  <a:srgbClr val="002060"/>
                </a:solidFill>
                <a:latin typeface="Garamond" pitchFamily="18" charset="0"/>
                <a:cs typeface="Arial" charset="0"/>
              </a:rPr>
              <a:t>, </a:t>
            </a:r>
            <a:r>
              <a:rPr lang="ru-RU" sz="2400" smtClean="0">
                <a:solidFill>
                  <a:srgbClr val="002060"/>
                </a:solidFill>
                <a:cs typeface="Arial" charset="0"/>
              </a:rPr>
              <a:t>«</a:t>
            </a:r>
            <a:r>
              <a:rPr lang="ru-RU" sz="2400" smtClean="0">
                <a:solidFill>
                  <a:srgbClr val="002060"/>
                </a:solidFill>
                <a:latin typeface="Garamond" pitchFamily="18" charset="0"/>
                <a:cs typeface="Arial" charset="0"/>
              </a:rPr>
              <a:t>авось не случиться</a:t>
            </a:r>
            <a:r>
              <a:rPr lang="ru-RU" sz="2400" smtClean="0">
                <a:solidFill>
                  <a:srgbClr val="002060"/>
                </a:solidFill>
                <a:cs typeface="Arial" charset="0"/>
              </a:rPr>
              <a:t>»</a:t>
            </a:r>
            <a:r>
              <a:rPr lang="ru-RU" sz="2400" smtClean="0">
                <a:solidFill>
                  <a:srgbClr val="002060"/>
                </a:solidFill>
                <a:latin typeface="Garamond" pitchFamily="18" charset="0"/>
                <a:cs typeface="Arial" charset="0"/>
              </a:rPr>
              <a:t>);</a:t>
            </a:r>
          </a:p>
          <a:p>
            <a:r>
              <a:rPr lang="ru-RU" sz="2400" smtClean="0">
                <a:solidFill>
                  <a:srgbClr val="002060"/>
                </a:solidFill>
                <a:latin typeface="Garamond" pitchFamily="18" charset="0"/>
                <a:cs typeface="Arial" charset="0"/>
              </a:rPr>
              <a:t>Просто не информированы об опасных факторах;</a:t>
            </a:r>
          </a:p>
          <a:p>
            <a:r>
              <a:rPr lang="ru-RU" sz="2400" smtClean="0">
                <a:solidFill>
                  <a:srgbClr val="002060"/>
                </a:solidFill>
                <a:cs typeface="Arial" charset="0"/>
              </a:rPr>
              <a:t>«</a:t>
            </a:r>
            <a:r>
              <a:rPr lang="ru-RU" sz="2400" smtClean="0">
                <a:solidFill>
                  <a:srgbClr val="002060"/>
                </a:solidFill>
                <a:latin typeface="Garamond" pitchFamily="18" charset="0"/>
                <a:cs typeface="Arial" charset="0"/>
              </a:rPr>
              <a:t>Позитивные</a:t>
            </a:r>
            <a:r>
              <a:rPr lang="ru-RU" sz="2400" smtClean="0">
                <a:solidFill>
                  <a:srgbClr val="002060"/>
                </a:solidFill>
                <a:cs typeface="Arial" charset="0"/>
              </a:rPr>
              <a:t>»</a:t>
            </a:r>
            <a:r>
              <a:rPr lang="ru-RU" sz="2400" smtClean="0">
                <a:solidFill>
                  <a:srgbClr val="002060"/>
                </a:solidFill>
                <a:latin typeface="Garamond" pitchFamily="18" charset="0"/>
                <a:cs typeface="Arial" charset="0"/>
              </a:rPr>
              <a:t> последствия небезопасного поведения очевидны и скоры, в то время как негативные не обязательно случаются или могут случиться нескоро;</a:t>
            </a:r>
          </a:p>
          <a:p>
            <a:r>
              <a:rPr lang="ru-RU" sz="2400" smtClean="0">
                <a:solidFill>
                  <a:srgbClr val="002060"/>
                </a:solidFill>
                <a:latin typeface="Garamond" pitchFamily="18" charset="0"/>
                <a:cs typeface="Arial" charset="0"/>
              </a:rPr>
              <a:t>Молчаливое поощрение небезопасного поведения </a:t>
            </a:r>
          </a:p>
          <a:p>
            <a:endParaRPr lang="ru-RU" sz="2400" smtClean="0">
              <a:solidFill>
                <a:srgbClr val="002060"/>
              </a:solidFill>
              <a:latin typeface="Garamond" pitchFamily="18" charset="0"/>
              <a:cs typeface="Arial" charset="0"/>
            </a:endParaRPr>
          </a:p>
        </p:txBody>
      </p:sp>
      <p:sp>
        <p:nvSpPr>
          <p:cNvPr id="22557" name="Text Box 29"/>
          <p:cNvSpPr txBox="1">
            <a:spLocks noChangeArrowheads="1"/>
          </p:cNvSpPr>
          <p:nvPr/>
        </p:nvSpPr>
        <p:spPr bwMode="auto">
          <a:xfrm>
            <a:off x="179388" y="765175"/>
            <a:ext cx="8964612" cy="457200"/>
          </a:xfrm>
          <a:prstGeom prst="rect">
            <a:avLst/>
          </a:prstGeom>
          <a:noFill/>
          <a:ln w="9525">
            <a:noFill/>
            <a:miter lim="800000"/>
            <a:headEnd/>
            <a:tailEnd/>
          </a:ln>
        </p:spPr>
        <p:txBody>
          <a:bodyPr>
            <a:spAutoFit/>
          </a:bodyPr>
          <a:lstStyle/>
          <a:p>
            <a:pPr algn="ctr">
              <a:defRPr/>
            </a:pPr>
            <a:r>
              <a:rPr lang="ru-RU" sz="2400" b="1">
                <a:effectLst>
                  <a:outerShdw blurRad="38100" dist="38100" dir="2700000" algn="tl">
                    <a:srgbClr val="C0C0C0"/>
                  </a:outerShdw>
                </a:effectLst>
                <a:latin typeface="Arial" pitchFamily="34" charset="0"/>
                <a:cs typeface="Arial" pitchFamily="34" charset="0"/>
              </a:rPr>
              <a:t>Почему люди ведут себя небезопасно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64">
                                            <p:txEl>
                                              <p:pRg st="0" end="0"/>
                                            </p:txEl>
                                          </p:spTgt>
                                        </p:tgtEl>
                                        <p:attrNameLst>
                                          <p:attrName>style.visibility</p:attrName>
                                        </p:attrNameLst>
                                      </p:cBhvr>
                                      <p:to>
                                        <p:strVal val="visible"/>
                                      </p:to>
                                    </p:set>
                                    <p:anim calcmode="lin" valueType="num">
                                      <p:cBhvr additive="base">
                                        <p:cTn id="7" dur="500" fill="hold"/>
                                        <p:tgtEl>
                                          <p:spTgt spid="1433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364">
                                            <p:txEl>
                                              <p:pRg st="1" end="1"/>
                                            </p:txEl>
                                          </p:spTgt>
                                        </p:tgtEl>
                                        <p:attrNameLst>
                                          <p:attrName>style.visibility</p:attrName>
                                        </p:attrNameLst>
                                      </p:cBhvr>
                                      <p:to>
                                        <p:strVal val="visible"/>
                                      </p:to>
                                    </p:set>
                                    <p:anim calcmode="lin" valueType="num">
                                      <p:cBhvr additive="base">
                                        <p:cTn id="13" dur="500" fill="hold"/>
                                        <p:tgtEl>
                                          <p:spTgt spid="14336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3364">
                                            <p:txEl>
                                              <p:pRg st="2" end="2"/>
                                            </p:txEl>
                                          </p:spTgt>
                                        </p:tgtEl>
                                        <p:attrNameLst>
                                          <p:attrName>style.visibility</p:attrName>
                                        </p:attrNameLst>
                                      </p:cBhvr>
                                      <p:to>
                                        <p:strVal val="visible"/>
                                      </p:to>
                                    </p:set>
                                    <p:anim calcmode="lin" valueType="num">
                                      <p:cBhvr additive="base">
                                        <p:cTn id="19" dur="500" fill="hold"/>
                                        <p:tgtEl>
                                          <p:spTgt spid="14336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3364">
                                            <p:txEl>
                                              <p:pRg st="3" end="3"/>
                                            </p:txEl>
                                          </p:spTgt>
                                        </p:tgtEl>
                                        <p:attrNameLst>
                                          <p:attrName>style.visibility</p:attrName>
                                        </p:attrNameLst>
                                      </p:cBhvr>
                                      <p:to>
                                        <p:strVal val="visible"/>
                                      </p:to>
                                    </p:set>
                                    <p:anim calcmode="lin" valueType="num">
                                      <p:cBhvr additive="base">
                                        <p:cTn id="25" dur="500" fill="hold"/>
                                        <p:tgtEl>
                                          <p:spTgt spid="14336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22557"/>
                                        </p:tgtEl>
                                        <p:attrNameLst>
                                          <p:attrName>style.visibility</p:attrName>
                                        </p:attrNameLst>
                                      </p:cBhvr>
                                      <p:to>
                                        <p:strVal val="visible"/>
                                      </p:to>
                                    </p:set>
                                    <p:anim calcmode="lin" valueType="num">
                                      <p:cBhvr>
                                        <p:cTn id="31" dur="500" fill="hold"/>
                                        <p:tgtEl>
                                          <p:spTgt spid="22557"/>
                                        </p:tgtEl>
                                        <p:attrNameLst>
                                          <p:attrName>ppt_w</p:attrName>
                                        </p:attrNameLst>
                                      </p:cBhvr>
                                      <p:tavLst>
                                        <p:tav tm="0">
                                          <p:val>
                                            <p:fltVal val="0"/>
                                          </p:val>
                                        </p:tav>
                                        <p:tav tm="100000">
                                          <p:val>
                                            <p:strVal val="#ppt_w"/>
                                          </p:val>
                                        </p:tav>
                                      </p:tavLst>
                                    </p:anim>
                                    <p:anim calcmode="lin" valueType="num">
                                      <p:cBhvr>
                                        <p:cTn id="32" dur="500" fill="hold"/>
                                        <p:tgtEl>
                                          <p:spTgt spid="22557"/>
                                        </p:tgtEl>
                                        <p:attrNameLst>
                                          <p:attrName>ppt_h</p:attrName>
                                        </p:attrNameLst>
                                      </p:cBhvr>
                                      <p:tavLst>
                                        <p:tav tm="0">
                                          <p:val>
                                            <p:fltVal val="0"/>
                                          </p:val>
                                        </p:tav>
                                        <p:tav tm="100000">
                                          <p:val>
                                            <p:strVal val="#ppt_h"/>
                                          </p:val>
                                        </p:tav>
                                      </p:tavLst>
                                    </p:anim>
                                    <p:animEffect transition="in" filter="fade">
                                      <p:cBhvr>
                                        <p:cTn id="33" dur="500"/>
                                        <p:tgtEl>
                                          <p:spTgt spid="22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7" name="Picture 2" descr="5"/>
          <p:cNvPicPr>
            <a:picLocks noChangeAspect="1" noChangeArrowheads="1"/>
          </p:cNvPicPr>
          <p:nvPr/>
        </p:nvPicPr>
        <p:blipFill>
          <a:blip r:embed="rId3"/>
          <a:srcRect/>
          <a:stretch>
            <a:fillRect/>
          </a:stretch>
        </p:blipFill>
        <p:spPr bwMode="auto">
          <a:xfrm>
            <a:off x="0" y="-26988"/>
            <a:ext cx="9144000" cy="6889751"/>
          </a:xfrm>
          <a:prstGeom prst="rect">
            <a:avLst/>
          </a:prstGeom>
          <a:noFill/>
          <a:ln w="9525">
            <a:noFill/>
            <a:miter lim="800000"/>
            <a:headEnd/>
            <a:tailEnd/>
          </a:ln>
        </p:spPr>
      </p:pic>
      <p:pic>
        <p:nvPicPr>
          <p:cNvPr id="111618" name="Picture 2"/>
          <p:cNvPicPr>
            <a:picLocks noChangeAspect="1" noChangeArrowheads="1"/>
          </p:cNvPicPr>
          <p:nvPr/>
        </p:nvPicPr>
        <p:blipFill>
          <a:blip r:embed="rId4"/>
          <a:srcRect/>
          <a:stretch>
            <a:fillRect/>
          </a:stretch>
        </p:blipFill>
        <p:spPr bwMode="auto">
          <a:xfrm>
            <a:off x="0" y="0"/>
            <a:ext cx="9223375" cy="6858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5" name="Picture 2" descr="5"/>
          <p:cNvPicPr>
            <a:picLocks noChangeAspect="1" noChangeArrowheads="1"/>
          </p:cNvPicPr>
          <p:nvPr/>
        </p:nvPicPr>
        <p:blipFill>
          <a:blip r:embed="rId3"/>
          <a:srcRect/>
          <a:stretch>
            <a:fillRect/>
          </a:stretch>
        </p:blipFill>
        <p:spPr bwMode="auto">
          <a:xfrm>
            <a:off x="0" y="-26988"/>
            <a:ext cx="9144000" cy="6889751"/>
          </a:xfrm>
          <a:prstGeom prst="rect">
            <a:avLst/>
          </a:prstGeom>
          <a:noFill/>
          <a:ln w="9525">
            <a:noFill/>
            <a:miter lim="800000"/>
            <a:headEnd/>
            <a:tailEnd/>
          </a:ln>
        </p:spPr>
      </p:pic>
      <p:pic>
        <p:nvPicPr>
          <p:cNvPr id="113666" name="Picture 2"/>
          <p:cNvPicPr>
            <a:picLocks noChangeAspect="1" noChangeArrowheads="1"/>
          </p:cNvPicPr>
          <p:nvPr/>
        </p:nvPicPr>
        <p:blipFill>
          <a:blip r:embed="rId4"/>
          <a:srcRect/>
          <a:stretch>
            <a:fillRect/>
          </a:stretch>
        </p:blipFill>
        <p:spPr bwMode="auto">
          <a:xfrm>
            <a:off x="-111125" y="0"/>
            <a:ext cx="9255125" cy="6858000"/>
          </a:xfrm>
          <a:prstGeom prst="rect">
            <a:avLst/>
          </a:prstGeom>
          <a:noFill/>
          <a:ln w="9525">
            <a:noFill/>
            <a:miter lim="800000"/>
            <a:headEnd/>
            <a:tailEnd/>
          </a:ln>
        </p:spPr>
      </p:pic>
      <p:pic>
        <p:nvPicPr>
          <p:cNvPr id="113667" name="Picture 2"/>
          <p:cNvPicPr>
            <a:picLocks noChangeAspect="1" noChangeArrowheads="1"/>
          </p:cNvPicPr>
          <p:nvPr/>
        </p:nvPicPr>
        <p:blipFill>
          <a:blip r:embed="rId4"/>
          <a:srcRect/>
          <a:stretch>
            <a:fillRect/>
          </a:stretch>
        </p:blipFill>
        <p:spPr bwMode="auto">
          <a:xfrm>
            <a:off x="-111125" y="0"/>
            <a:ext cx="9255125" cy="6858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Picture 2" descr="5"/>
          <p:cNvPicPr>
            <a:picLocks noChangeAspect="1" noChangeArrowheads="1"/>
          </p:cNvPicPr>
          <p:nvPr/>
        </p:nvPicPr>
        <p:blipFill>
          <a:blip r:embed="rId3"/>
          <a:srcRect/>
          <a:stretch>
            <a:fillRect/>
          </a:stretch>
        </p:blipFill>
        <p:spPr bwMode="auto">
          <a:xfrm>
            <a:off x="0" y="-26988"/>
            <a:ext cx="9144000" cy="6889751"/>
          </a:xfrm>
          <a:prstGeom prst="rect">
            <a:avLst/>
          </a:prstGeom>
          <a:noFill/>
          <a:ln w="9525">
            <a:noFill/>
            <a:miter lim="800000"/>
            <a:headEnd/>
            <a:tailEnd/>
          </a:ln>
        </p:spPr>
      </p:pic>
      <p:pic>
        <p:nvPicPr>
          <p:cNvPr id="115714" name="Picture 3"/>
          <p:cNvPicPr>
            <a:picLocks noChangeAspect="1" noChangeArrowheads="1"/>
          </p:cNvPicPr>
          <p:nvPr/>
        </p:nvPicPr>
        <p:blipFill>
          <a:blip r:embed="rId4"/>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2" name="Rectangle 8"/>
          <p:cNvSpPr>
            <a:spLocks noChangeArrowheads="1"/>
          </p:cNvSpPr>
          <p:nvPr/>
        </p:nvSpPr>
        <p:spPr bwMode="auto">
          <a:xfrm>
            <a:off x="277813" y="3335338"/>
            <a:ext cx="8713787" cy="1693862"/>
          </a:xfrm>
          <a:prstGeom prst="rect">
            <a:avLst/>
          </a:prstGeom>
          <a:noFill/>
          <a:ln w="9525" algn="ctr">
            <a:noFill/>
            <a:miter lim="800000"/>
            <a:headEnd/>
            <a:tailEnd/>
          </a:ln>
          <a:effectLst>
            <a:outerShdw dist="38100" algn="ctr" rotWithShape="0">
              <a:schemeClr val="tx1"/>
            </a:outerShdw>
          </a:effectLst>
        </p:spPr>
        <p:txBody>
          <a:bodyPr anchor="ctr">
            <a:spAutoFit/>
          </a:bodyPr>
          <a:lstStyle/>
          <a:p>
            <a:pPr algn="ctr">
              <a:lnSpc>
                <a:spcPct val="175000"/>
              </a:lnSpc>
              <a:defRPr/>
            </a:pPr>
            <a:r>
              <a:rPr lang="ru-RU" sz="3200" b="1" dirty="0">
                <a:latin typeface="Arial" pitchFamily="34" charset="0"/>
                <a:cs typeface="Arial" pitchFamily="34" charset="0"/>
              </a:rPr>
              <a:t>Оценка профессиональных рисков и специальная оценка условий труда</a:t>
            </a:r>
          </a:p>
        </p:txBody>
      </p:sp>
      <p:sp>
        <p:nvSpPr>
          <p:cNvPr id="117762"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pic>
        <p:nvPicPr>
          <p:cNvPr id="117763" name="Рисунок 3" descr="C:\Users\kuznetcova\Desktop\разности\фотки\фотоприколы\118.jpg"/>
          <p:cNvPicPr>
            <a:picLocks noChangeAspect="1" noChangeArrowheads="1"/>
          </p:cNvPicPr>
          <p:nvPr/>
        </p:nvPicPr>
        <p:blipFill>
          <a:blip r:embed="rId2"/>
          <a:srcRect/>
          <a:stretch>
            <a:fillRect/>
          </a:stretch>
        </p:blipFill>
        <p:spPr bwMode="auto">
          <a:xfrm>
            <a:off x="0" y="0"/>
            <a:ext cx="5418138" cy="3471863"/>
          </a:xfrm>
          <a:prstGeom prst="rect">
            <a:avLst/>
          </a:prstGeom>
          <a:noFill/>
          <a:ln w="9525">
            <a:noFill/>
            <a:miter lim="800000"/>
            <a:headEnd/>
            <a:tailEnd/>
          </a:ln>
        </p:spPr>
      </p:pic>
      <p:pic>
        <p:nvPicPr>
          <p:cNvPr id="117764" name="Рисунок 4" descr="Систему оценки условий труда изменили"/>
          <p:cNvPicPr>
            <a:picLocks noChangeAspect="1" noChangeArrowheads="1"/>
          </p:cNvPicPr>
          <p:nvPr/>
        </p:nvPicPr>
        <p:blipFill>
          <a:blip r:embed="rId3"/>
          <a:srcRect/>
          <a:stretch>
            <a:fillRect/>
          </a:stretch>
        </p:blipFill>
        <p:spPr bwMode="auto">
          <a:xfrm>
            <a:off x="6400800" y="5029200"/>
            <a:ext cx="2743200"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2" descr="Communication Clipart - New Stock Communication Designs by Some Of the Best Online 3D Vector Illustrators Online - Page 6"/>
          <p:cNvPicPr>
            <a:picLocks noChangeAspect="1" noChangeArrowheads="1"/>
          </p:cNvPicPr>
          <p:nvPr/>
        </p:nvPicPr>
        <p:blipFill>
          <a:blip r:embed="rId2"/>
          <a:srcRect/>
          <a:stretch>
            <a:fillRect/>
          </a:stretch>
        </p:blipFill>
        <p:spPr bwMode="auto">
          <a:xfrm>
            <a:off x="5486400" y="5575300"/>
            <a:ext cx="1684338" cy="1266825"/>
          </a:xfrm>
          <a:prstGeom prst="rect">
            <a:avLst/>
          </a:prstGeom>
          <a:noFill/>
          <a:ln w="9525">
            <a:noFill/>
            <a:miter lim="800000"/>
            <a:headEnd/>
            <a:tailEnd/>
          </a:ln>
        </p:spPr>
      </p:pic>
      <p:sp>
        <p:nvSpPr>
          <p:cNvPr id="5" name="Заголовок 1"/>
          <p:cNvSpPr txBox="1">
            <a:spLocks/>
          </p:cNvSpPr>
          <p:nvPr/>
        </p:nvSpPr>
        <p:spPr>
          <a:xfrm>
            <a:off x="323850" y="331788"/>
            <a:ext cx="6002338" cy="439737"/>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C0C0C0"/>
                  </a:outerShdw>
                </a:effectLst>
                <a:latin typeface="Arial" pitchFamily="34" charset="0"/>
                <a:cs typeface="Arial" pitchFamily="34" charset="0"/>
              </a:rPr>
              <a:t>Сходство</a:t>
            </a:r>
          </a:p>
        </p:txBody>
      </p:sp>
      <p:sp>
        <p:nvSpPr>
          <p:cNvPr id="118787" name="TextBox 5"/>
          <p:cNvSpPr txBox="1">
            <a:spLocks noChangeArrowheads="1"/>
          </p:cNvSpPr>
          <p:nvPr/>
        </p:nvSpPr>
        <p:spPr bwMode="auto">
          <a:xfrm>
            <a:off x="223838" y="1690688"/>
            <a:ext cx="6103937" cy="4524375"/>
          </a:xfrm>
          <a:prstGeom prst="rect">
            <a:avLst/>
          </a:prstGeom>
          <a:noFill/>
          <a:ln w="9525">
            <a:noFill/>
            <a:miter lim="800000"/>
            <a:headEnd/>
            <a:tailEnd/>
          </a:ln>
        </p:spPr>
        <p:txBody>
          <a:bodyPr>
            <a:spAutoFit/>
          </a:bodyPr>
          <a:lstStyle/>
          <a:p>
            <a:pPr>
              <a:buFont typeface="Wingdings" pitchFamily="2" charset="2"/>
              <a:buChar char="ü"/>
            </a:pPr>
            <a:r>
              <a:rPr lang="ru-RU" sz="1800" b="1">
                <a:latin typeface="Arial" charset="0"/>
              </a:rPr>
              <a:t>Идентификация опасностей</a:t>
            </a:r>
          </a:p>
          <a:p>
            <a:pPr>
              <a:buFont typeface="Wingdings" pitchFamily="2" charset="2"/>
              <a:buChar char="ü"/>
            </a:pPr>
            <a:endParaRPr lang="ru-RU" sz="1800" b="1">
              <a:latin typeface="Arial" charset="0"/>
            </a:endParaRPr>
          </a:p>
          <a:p>
            <a:pPr>
              <a:buFont typeface="Wingdings" pitchFamily="2" charset="2"/>
              <a:buChar char="ü"/>
            </a:pPr>
            <a:r>
              <a:rPr lang="ru-RU" sz="1800" b="1">
                <a:latin typeface="Arial" charset="0"/>
              </a:rPr>
              <a:t> Обоснование, планирование и финансирование мероприятий по улучшению условий труда</a:t>
            </a:r>
          </a:p>
          <a:p>
            <a:pPr>
              <a:buFont typeface="Wingdings" pitchFamily="2" charset="2"/>
              <a:buChar char="ü"/>
            </a:pPr>
            <a:endParaRPr lang="ru-RU" sz="1800" b="1">
              <a:latin typeface="Arial" charset="0"/>
            </a:endParaRPr>
          </a:p>
          <a:p>
            <a:pPr>
              <a:buFont typeface="Wingdings" pitchFamily="2" charset="2"/>
              <a:buChar char="ü"/>
            </a:pPr>
            <a:r>
              <a:rPr lang="ru-RU" sz="1800" b="1">
                <a:latin typeface="Arial" charset="0"/>
              </a:rPr>
              <a:t> Информирование работников об условиях труда</a:t>
            </a:r>
          </a:p>
          <a:p>
            <a:r>
              <a:rPr lang="ru-RU" sz="1800" b="1">
                <a:latin typeface="Arial" charset="0"/>
              </a:rPr>
              <a:t> </a:t>
            </a:r>
          </a:p>
          <a:p>
            <a:pPr>
              <a:buFont typeface="Wingdings" pitchFamily="2" charset="2"/>
              <a:buChar char="ü"/>
            </a:pPr>
            <a:r>
              <a:rPr lang="ru-RU" sz="1800" b="1">
                <a:latin typeface="Arial" charset="0"/>
              </a:rPr>
              <a:t> Накопление статистических данных об условиях труда</a:t>
            </a:r>
          </a:p>
          <a:p>
            <a:pPr>
              <a:buFont typeface="Wingdings" pitchFamily="2" charset="2"/>
              <a:buChar char="ü"/>
            </a:pPr>
            <a:endParaRPr lang="ru-RU" sz="1800" b="1">
              <a:latin typeface="Arial" charset="0"/>
            </a:endParaRPr>
          </a:p>
          <a:p>
            <a:pPr>
              <a:buFont typeface="Wingdings" pitchFamily="2" charset="2"/>
              <a:buChar char="ü"/>
            </a:pPr>
            <a:r>
              <a:rPr lang="ru-RU" sz="1800" b="1">
                <a:latin typeface="Arial" charset="0"/>
              </a:rPr>
              <a:t> Включение в трудовой договор характеристики условий труда</a:t>
            </a:r>
          </a:p>
          <a:p>
            <a:pPr>
              <a:buFont typeface="Wingdings" pitchFamily="2" charset="2"/>
              <a:buChar char="ü"/>
            </a:pPr>
            <a:endParaRPr lang="ru-RU" sz="1800" b="1">
              <a:latin typeface="Arial" charset="0"/>
            </a:endParaRPr>
          </a:p>
          <a:p>
            <a:pPr>
              <a:buFont typeface="Wingdings" pitchFamily="2" charset="2"/>
              <a:buChar char="ü"/>
            </a:pPr>
            <a:r>
              <a:rPr lang="ru-RU" sz="1800" b="1">
                <a:latin typeface="Arial" charset="0"/>
              </a:rPr>
              <a:t> Коллективная работа (комиссия по СОУТ, оценочная команда при оценивании рисков)</a:t>
            </a:r>
          </a:p>
          <a:p>
            <a:pPr algn="just">
              <a:buFont typeface="Wingdings" pitchFamily="2" charset="2"/>
              <a:buChar char="ü"/>
            </a:pPr>
            <a:endParaRPr lang="ru-RU" sz="1800" b="1">
              <a:latin typeface="Arial" charset="0"/>
            </a:endParaRPr>
          </a:p>
        </p:txBody>
      </p:sp>
      <p:pic>
        <p:nvPicPr>
          <p:cNvPr id="118788" name="Picture 3" descr="9637479_51514ab7053bf"/>
          <p:cNvPicPr>
            <a:picLocks noChangeAspect="1" noChangeArrowheads="1"/>
          </p:cNvPicPr>
          <p:nvPr/>
        </p:nvPicPr>
        <p:blipFill>
          <a:blip r:embed="rId3"/>
          <a:srcRect/>
          <a:stretch>
            <a:fillRect/>
          </a:stretch>
        </p:blipFill>
        <p:spPr bwMode="auto">
          <a:xfrm>
            <a:off x="6326188" y="1995488"/>
            <a:ext cx="1130300" cy="849312"/>
          </a:xfrm>
          <a:prstGeom prst="rect">
            <a:avLst/>
          </a:prstGeom>
          <a:noFill/>
          <a:ln w="9525">
            <a:noFill/>
            <a:miter lim="800000"/>
            <a:headEnd/>
            <a:tailEnd/>
          </a:ln>
        </p:spPr>
      </p:pic>
      <p:pic>
        <p:nvPicPr>
          <p:cNvPr id="118789" name="Picture 4" descr="tovar-147625"/>
          <p:cNvPicPr>
            <a:picLocks noChangeAspect="1" noChangeArrowheads="1"/>
          </p:cNvPicPr>
          <p:nvPr/>
        </p:nvPicPr>
        <p:blipFill>
          <a:blip r:embed="rId4"/>
          <a:srcRect/>
          <a:stretch>
            <a:fillRect/>
          </a:stretch>
        </p:blipFill>
        <p:spPr bwMode="auto">
          <a:xfrm>
            <a:off x="4110038" y="1122363"/>
            <a:ext cx="1003300" cy="1135062"/>
          </a:xfrm>
          <a:prstGeom prst="rect">
            <a:avLst/>
          </a:prstGeom>
          <a:noFill/>
          <a:ln w="9525">
            <a:noFill/>
            <a:miter lim="800000"/>
            <a:headEnd/>
            <a:tailEnd/>
          </a:ln>
        </p:spPr>
      </p:pic>
      <p:pic>
        <p:nvPicPr>
          <p:cNvPr id="118790" name="Picture 5" descr="Киевский центр НЛП и тренингов: Вербальное общение Вербальна…"/>
          <p:cNvPicPr>
            <a:picLocks noChangeAspect="1" noChangeArrowheads="1"/>
          </p:cNvPicPr>
          <p:nvPr/>
        </p:nvPicPr>
        <p:blipFill>
          <a:blip r:embed="rId5"/>
          <a:srcRect/>
          <a:stretch>
            <a:fillRect/>
          </a:stretch>
        </p:blipFill>
        <p:spPr bwMode="auto">
          <a:xfrm>
            <a:off x="7456488" y="2844800"/>
            <a:ext cx="887412" cy="946150"/>
          </a:xfrm>
          <a:prstGeom prst="rect">
            <a:avLst/>
          </a:prstGeom>
          <a:noFill/>
          <a:ln w="9525">
            <a:noFill/>
            <a:miter lim="800000"/>
            <a:headEnd/>
            <a:tailEnd/>
          </a:ln>
        </p:spPr>
      </p:pic>
      <p:pic>
        <p:nvPicPr>
          <p:cNvPr id="118791" name="Picture 6" descr="Материалы за Июнь 2010 года &quot; . Source nextOne games"/>
          <p:cNvPicPr>
            <a:picLocks noChangeAspect="1" noChangeArrowheads="1"/>
          </p:cNvPicPr>
          <p:nvPr/>
        </p:nvPicPr>
        <p:blipFill>
          <a:blip r:embed="rId6"/>
          <a:srcRect/>
          <a:stretch>
            <a:fillRect/>
          </a:stretch>
        </p:blipFill>
        <p:spPr bwMode="auto">
          <a:xfrm>
            <a:off x="6196013" y="3703638"/>
            <a:ext cx="935037" cy="701675"/>
          </a:xfrm>
          <a:prstGeom prst="rect">
            <a:avLst/>
          </a:prstGeom>
          <a:noFill/>
          <a:ln w="9525">
            <a:noFill/>
            <a:miter lim="800000"/>
            <a:headEnd/>
            <a:tailEnd/>
          </a:ln>
        </p:spPr>
      </p:pic>
      <p:pic>
        <p:nvPicPr>
          <p:cNvPr id="118792" name="Picture 7" descr="2012"/>
          <p:cNvPicPr>
            <a:picLocks noChangeAspect="1" noChangeArrowheads="1"/>
          </p:cNvPicPr>
          <p:nvPr/>
        </p:nvPicPr>
        <p:blipFill>
          <a:blip r:embed="rId7"/>
          <a:srcRect/>
          <a:stretch>
            <a:fillRect/>
          </a:stretch>
        </p:blipFill>
        <p:spPr bwMode="auto">
          <a:xfrm>
            <a:off x="6710363" y="4506913"/>
            <a:ext cx="1493837" cy="10683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Заголовок 1"/>
          <p:cNvSpPr txBox="1">
            <a:spLocks/>
          </p:cNvSpPr>
          <p:nvPr/>
        </p:nvSpPr>
        <p:spPr>
          <a:xfrm>
            <a:off x="323850" y="369888"/>
            <a:ext cx="8640763" cy="439737"/>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C0C0C0"/>
                  </a:outerShdw>
                </a:effectLst>
                <a:latin typeface="Arial" pitchFamily="34" charset="0"/>
                <a:cs typeface="Arial" pitchFamily="34" charset="0"/>
              </a:rPr>
              <a:t>Федеральный закон № 426-ФЗ </a:t>
            </a:r>
          </a:p>
        </p:txBody>
      </p:sp>
      <p:sp>
        <p:nvSpPr>
          <p:cNvPr id="119810" name="TextBox 3"/>
          <p:cNvSpPr txBox="1">
            <a:spLocks noChangeArrowheads="1"/>
          </p:cNvSpPr>
          <p:nvPr/>
        </p:nvSpPr>
        <p:spPr bwMode="auto">
          <a:xfrm>
            <a:off x="223838" y="2762250"/>
            <a:ext cx="6103937" cy="2584450"/>
          </a:xfrm>
          <a:prstGeom prst="rect">
            <a:avLst/>
          </a:prstGeom>
          <a:noFill/>
          <a:ln w="9525">
            <a:noFill/>
            <a:miter lim="800000"/>
            <a:headEnd/>
            <a:tailEnd/>
          </a:ln>
        </p:spPr>
        <p:txBody>
          <a:bodyPr>
            <a:spAutoFit/>
          </a:bodyPr>
          <a:lstStyle/>
          <a:p>
            <a:r>
              <a:rPr lang="ru-RU" sz="1800" b="1">
                <a:latin typeface="Arial" charset="0"/>
              </a:rPr>
              <a:t>Статья 7. Применение результатов проведения специальной оценки условий труда</a:t>
            </a:r>
          </a:p>
          <a:p>
            <a:endParaRPr lang="ru-RU" sz="1800" b="1">
              <a:latin typeface="Arial" charset="0"/>
            </a:endParaRPr>
          </a:p>
          <a:p>
            <a:r>
              <a:rPr lang="ru-RU" sz="1800" b="1">
                <a:latin typeface="Arial" charset="0"/>
              </a:rPr>
              <a:t>Результаты проведения специальной оценки условий труда могут применяться для:</a:t>
            </a:r>
          </a:p>
          <a:p>
            <a:pPr algn="ctr"/>
            <a:r>
              <a:rPr lang="ru-RU" sz="1800" b="1">
                <a:latin typeface="Arial" charset="0"/>
              </a:rPr>
              <a:t>…..</a:t>
            </a:r>
          </a:p>
          <a:p>
            <a:r>
              <a:rPr lang="ru-RU" sz="1800" b="1">
                <a:latin typeface="Arial" charset="0"/>
              </a:rPr>
              <a:t>15) оценки уровней профессиональных рисков; </a:t>
            </a:r>
          </a:p>
          <a:p>
            <a:pPr algn="ctr"/>
            <a:r>
              <a:rPr lang="ru-RU" sz="1800" b="1">
                <a:latin typeface="Arial" charset="0"/>
              </a:rPr>
              <a:t>…..</a:t>
            </a:r>
          </a:p>
          <a:p>
            <a:pPr algn="just">
              <a:buFont typeface="Wingdings" pitchFamily="2" charset="2"/>
              <a:buChar char="ü"/>
            </a:pPr>
            <a:endParaRPr lang="ru-RU" sz="1800" b="1">
              <a:latin typeface="Arial" charset="0"/>
            </a:endParaRPr>
          </a:p>
        </p:txBody>
      </p:sp>
      <p:pic>
        <p:nvPicPr>
          <p:cNvPr id="119811" name="Picture 8" descr="Better Board Governance. Board Training. Board Effectiveness."/>
          <p:cNvPicPr>
            <a:picLocks noChangeAspect="1" noChangeArrowheads="1"/>
          </p:cNvPicPr>
          <p:nvPr/>
        </p:nvPicPr>
        <p:blipFill>
          <a:blip r:embed="rId2"/>
          <a:srcRect/>
          <a:stretch>
            <a:fillRect/>
          </a:stretch>
        </p:blipFill>
        <p:spPr bwMode="auto">
          <a:xfrm>
            <a:off x="6069013" y="3987800"/>
            <a:ext cx="2895600" cy="2870200"/>
          </a:xfrm>
          <a:prstGeom prst="rect">
            <a:avLst/>
          </a:prstGeom>
          <a:noFill/>
          <a:ln w="9525">
            <a:noFill/>
            <a:miter lim="800000"/>
            <a:headEnd/>
            <a:tailEnd/>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Заголовок 1"/>
          <p:cNvSpPr txBox="1">
            <a:spLocks/>
          </p:cNvSpPr>
          <p:nvPr/>
        </p:nvSpPr>
        <p:spPr>
          <a:xfrm>
            <a:off x="1035050" y="471488"/>
            <a:ext cx="5254625" cy="441325"/>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C0C0C0"/>
                  </a:outerShdw>
                </a:effectLst>
                <a:latin typeface="Arial" pitchFamily="34" charset="0"/>
                <a:cs typeface="Arial" pitchFamily="34" charset="0"/>
              </a:rPr>
              <a:t>Различия</a:t>
            </a:r>
          </a:p>
        </p:txBody>
      </p:sp>
      <p:sp>
        <p:nvSpPr>
          <p:cNvPr id="6" name="Прямоугольник 5"/>
          <p:cNvSpPr/>
          <p:nvPr/>
        </p:nvSpPr>
        <p:spPr>
          <a:xfrm>
            <a:off x="173038" y="1025525"/>
            <a:ext cx="5054600" cy="5153025"/>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2800" b="1" i="1" dirty="0">
              <a:solidFill>
                <a:srgbClr val="1B8381"/>
              </a:solidFill>
            </a:endParaRPr>
          </a:p>
          <a:p>
            <a:pPr>
              <a:defRPr/>
            </a:pPr>
            <a:endParaRPr lang="ru-RU" sz="2800" b="1" dirty="0">
              <a:solidFill>
                <a:srgbClr val="1B8381"/>
              </a:solidFill>
              <a:cs typeface="Arial" pitchFamily="34" charset="0"/>
            </a:endParaRPr>
          </a:p>
          <a:p>
            <a:pPr>
              <a:defRPr/>
            </a:pPr>
            <a:r>
              <a:rPr lang="ru-RU" sz="2800" b="1" dirty="0">
                <a:solidFill>
                  <a:srgbClr val="002060"/>
                </a:solidFill>
                <a:latin typeface="Garamond" pitchFamily="18" charset="0"/>
                <a:cs typeface="Arial" pitchFamily="34" charset="0"/>
              </a:rPr>
              <a:t>Оценка рисков – </a:t>
            </a:r>
            <a:r>
              <a:rPr lang="ru-RU" sz="2800" i="1" dirty="0">
                <a:solidFill>
                  <a:schemeClr val="tx1"/>
                </a:solidFill>
                <a:latin typeface="Garamond" pitchFamily="18" charset="0"/>
                <a:cs typeface="Arial" pitchFamily="34" charset="0"/>
              </a:rPr>
              <a:t>процесс динамичный, постоянный, который позволяет постоянно повышать уровень безопасности, контролировать возможные риски и управлять ими</a:t>
            </a:r>
          </a:p>
          <a:p>
            <a:pPr marL="266700" indent="-266700" algn="ctr">
              <a:defRPr/>
            </a:pPr>
            <a:endParaRPr lang="ru-RU" sz="2800" b="1" i="1" dirty="0">
              <a:solidFill>
                <a:schemeClr val="tx1"/>
              </a:solidFill>
            </a:endParaRPr>
          </a:p>
          <a:p>
            <a:pPr>
              <a:defRPr/>
            </a:pPr>
            <a:endParaRPr lang="ru-RU" sz="2800" b="1" dirty="0">
              <a:solidFill>
                <a:srgbClr val="1B8381"/>
              </a:solidFill>
              <a:latin typeface="Garamond" pitchFamily="18" charset="0"/>
              <a:cs typeface="Arial" pitchFamily="34" charset="0"/>
            </a:endParaRPr>
          </a:p>
          <a:p>
            <a:pPr marL="285750" indent="-285750">
              <a:buFontTx/>
              <a:buChar char="-"/>
              <a:defRPr/>
            </a:pPr>
            <a:endParaRPr lang="ru-RU" sz="2800" b="1" i="1" dirty="0">
              <a:solidFill>
                <a:srgbClr val="1B8381"/>
              </a:solidFill>
            </a:endParaRPr>
          </a:p>
        </p:txBody>
      </p:sp>
      <p:sp>
        <p:nvSpPr>
          <p:cNvPr id="120835" name="Прямоугольник 7"/>
          <p:cNvSpPr>
            <a:spLocks noChangeArrowheads="1"/>
          </p:cNvSpPr>
          <p:nvPr/>
        </p:nvSpPr>
        <p:spPr bwMode="auto">
          <a:xfrm>
            <a:off x="6289675" y="1173163"/>
            <a:ext cx="2479675" cy="3046412"/>
          </a:xfrm>
          <a:prstGeom prst="rect">
            <a:avLst/>
          </a:prstGeom>
          <a:noFill/>
          <a:ln w="9525">
            <a:noFill/>
            <a:miter lim="800000"/>
            <a:headEnd/>
            <a:tailEnd/>
          </a:ln>
        </p:spPr>
        <p:txBody>
          <a:bodyPr>
            <a:spAutoFit/>
          </a:bodyPr>
          <a:lstStyle/>
          <a:p>
            <a:pPr algn="ctr"/>
            <a:endParaRPr lang="ru-RU" sz="2400" b="1">
              <a:solidFill>
                <a:srgbClr val="1B8381"/>
              </a:solidFill>
              <a:latin typeface="Arial" charset="0"/>
            </a:endParaRPr>
          </a:p>
          <a:p>
            <a:r>
              <a:rPr lang="ru-RU" sz="2400" b="1">
                <a:latin typeface="Garamond" pitchFamily="18" charset="0"/>
              </a:rPr>
              <a:t>СОУТ</a:t>
            </a:r>
            <a:r>
              <a:rPr lang="ru-RU" sz="2400" b="1">
                <a:solidFill>
                  <a:srgbClr val="1B8381"/>
                </a:solidFill>
                <a:latin typeface="Garamond" pitchFamily="18" charset="0"/>
              </a:rPr>
              <a:t> </a:t>
            </a:r>
            <a:r>
              <a:rPr lang="ru-RU" sz="2400">
                <a:solidFill>
                  <a:srgbClr val="1B8381"/>
                </a:solidFill>
                <a:latin typeface="Garamond" pitchFamily="18" charset="0"/>
              </a:rPr>
              <a:t>– </a:t>
            </a:r>
            <a:r>
              <a:rPr lang="ru-RU" sz="2400" i="1">
                <a:solidFill>
                  <a:schemeClr val="tx1"/>
                </a:solidFill>
                <a:latin typeface="Garamond" pitchFamily="18" charset="0"/>
              </a:rPr>
              <a:t>процесс более статичный, чем процесс оценки рисков</a:t>
            </a:r>
          </a:p>
          <a:p>
            <a:r>
              <a:rPr lang="ru-RU" sz="2400" b="1" i="1">
                <a:solidFill>
                  <a:schemeClr val="tx1"/>
                </a:solidFill>
                <a:latin typeface="Garamond" pitchFamily="18" charset="0"/>
              </a:rPr>
              <a:t>     </a:t>
            </a:r>
            <a:r>
              <a:rPr lang="ru-RU" sz="2400" i="1">
                <a:solidFill>
                  <a:schemeClr val="tx1"/>
                </a:solidFill>
                <a:latin typeface="Arial" charset="0"/>
              </a:rPr>
              <a:t>Проводится не реже одного раза в 5 лет</a:t>
            </a:r>
          </a:p>
        </p:txBody>
      </p:sp>
      <p:pic>
        <p:nvPicPr>
          <p:cNvPr id="120836" name="Picture 1" descr="spec0415"/>
          <p:cNvPicPr>
            <a:picLocks noChangeAspect="1" noChangeArrowheads="1"/>
          </p:cNvPicPr>
          <p:nvPr/>
        </p:nvPicPr>
        <p:blipFill>
          <a:blip r:embed="rId2"/>
          <a:srcRect/>
          <a:stretch>
            <a:fillRect/>
          </a:stretch>
        </p:blipFill>
        <p:spPr bwMode="auto">
          <a:xfrm>
            <a:off x="5403850" y="4667250"/>
            <a:ext cx="3524250" cy="219075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1035050" y="471488"/>
            <a:ext cx="5254625" cy="441325"/>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C0C0C0"/>
                  </a:outerShdw>
                </a:effectLst>
                <a:latin typeface="Arial" pitchFamily="34" charset="0"/>
                <a:cs typeface="Arial" pitchFamily="34" charset="0"/>
              </a:rPr>
              <a:t>Различия</a:t>
            </a:r>
          </a:p>
        </p:txBody>
      </p:sp>
      <p:sp>
        <p:nvSpPr>
          <p:cNvPr id="6" name="Прямоугольник 5"/>
          <p:cNvSpPr/>
          <p:nvPr/>
        </p:nvSpPr>
        <p:spPr>
          <a:xfrm>
            <a:off x="203200" y="1339850"/>
            <a:ext cx="5948363" cy="533876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2800" b="1" i="1" dirty="0">
              <a:solidFill>
                <a:srgbClr val="002060"/>
              </a:solidFill>
            </a:endParaRPr>
          </a:p>
          <a:p>
            <a:pPr>
              <a:defRPr/>
            </a:pPr>
            <a:endParaRPr lang="ru-RU" sz="2800" b="1" dirty="0">
              <a:solidFill>
                <a:srgbClr val="002060"/>
              </a:solidFill>
              <a:cs typeface="Arial" pitchFamily="34" charset="0"/>
            </a:endParaRPr>
          </a:p>
          <a:p>
            <a:pPr>
              <a:buFont typeface="Wingdings" pitchFamily="2" charset="2"/>
              <a:buChar char="ü"/>
              <a:defRPr/>
            </a:pPr>
            <a:r>
              <a:rPr lang="ru-RU" sz="2800" dirty="0">
                <a:solidFill>
                  <a:srgbClr val="002060"/>
                </a:solidFill>
                <a:latin typeface="Garamond" pitchFamily="18" charset="0"/>
                <a:cs typeface="Arial" pitchFamily="34" charset="0"/>
              </a:rPr>
              <a:t>Влияние на скидки к страховым тарифам</a:t>
            </a:r>
          </a:p>
          <a:p>
            <a:pPr>
              <a:buFont typeface="Wingdings" pitchFamily="2" charset="2"/>
              <a:buChar char="ü"/>
              <a:defRPr/>
            </a:pPr>
            <a:r>
              <a:rPr lang="ru-RU" sz="2800" dirty="0">
                <a:solidFill>
                  <a:srgbClr val="002060"/>
                </a:solidFill>
                <a:latin typeface="Garamond" pitchFamily="18" charset="0"/>
                <a:cs typeface="Arial" pitchFamily="34" charset="0"/>
              </a:rPr>
              <a:t> Создание банка данных органов исполнительной власти различных уровней </a:t>
            </a:r>
          </a:p>
          <a:p>
            <a:pPr>
              <a:buFont typeface="Wingdings" pitchFamily="2" charset="2"/>
              <a:buChar char="ü"/>
              <a:defRPr/>
            </a:pPr>
            <a:r>
              <a:rPr lang="ru-RU" sz="2800" dirty="0">
                <a:solidFill>
                  <a:srgbClr val="002060"/>
                </a:solidFill>
                <a:latin typeface="Garamond" pitchFamily="18" charset="0"/>
                <a:cs typeface="Arial" pitchFamily="34" charset="0"/>
              </a:rPr>
              <a:t> Проведение мероприятий по надзору и контролю за соблюдением законодательства</a:t>
            </a:r>
          </a:p>
          <a:p>
            <a:pPr>
              <a:buFont typeface="Wingdings" pitchFamily="2" charset="2"/>
              <a:buChar char="ü"/>
              <a:defRPr/>
            </a:pPr>
            <a:r>
              <a:rPr lang="ru-RU" sz="2800" dirty="0">
                <a:solidFill>
                  <a:srgbClr val="002060"/>
                </a:solidFill>
                <a:latin typeface="Garamond" pitchFamily="18" charset="0"/>
                <a:cs typeface="Arial" pitchFamily="34" charset="0"/>
              </a:rPr>
              <a:t>  Обоснование предоставления доплат и компенсаций работникам</a:t>
            </a:r>
            <a:r>
              <a:rPr lang="ru-RU" sz="2800" b="1" dirty="0">
                <a:solidFill>
                  <a:srgbClr val="002060"/>
                </a:solidFill>
                <a:latin typeface="Garamond" pitchFamily="18" charset="0"/>
                <a:cs typeface="Arial" pitchFamily="34" charset="0"/>
              </a:rPr>
              <a:t> </a:t>
            </a:r>
            <a:endParaRPr lang="ru-RU" sz="2800" b="1" dirty="0">
              <a:solidFill>
                <a:srgbClr val="002060"/>
              </a:solidFill>
              <a:cs typeface="Arial" pitchFamily="34" charset="0"/>
            </a:endParaRPr>
          </a:p>
          <a:p>
            <a:pPr marL="266700" indent="-266700" algn="ctr">
              <a:defRPr/>
            </a:pPr>
            <a:endParaRPr lang="ru-RU" sz="2800" b="1" i="1" dirty="0">
              <a:solidFill>
                <a:srgbClr val="002060"/>
              </a:solidFill>
            </a:endParaRPr>
          </a:p>
          <a:p>
            <a:pPr>
              <a:defRPr/>
            </a:pPr>
            <a:endParaRPr lang="ru-RU" sz="2800" b="1" dirty="0">
              <a:solidFill>
                <a:srgbClr val="002060"/>
              </a:solidFill>
              <a:latin typeface="Garamond" pitchFamily="18" charset="0"/>
              <a:cs typeface="Arial" pitchFamily="34" charset="0"/>
            </a:endParaRPr>
          </a:p>
          <a:p>
            <a:pPr marL="285750" indent="-285750">
              <a:buFontTx/>
              <a:buChar char="-"/>
              <a:defRPr/>
            </a:pPr>
            <a:endParaRPr lang="ru-RU" sz="2800" b="1" i="1" dirty="0">
              <a:solidFill>
                <a:srgbClr val="002060"/>
              </a:solidFill>
            </a:endParaRPr>
          </a:p>
        </p:txBody>
      </p:sp>
      <p:pic>
        <p:nvPicPr>
          <p:cNvPr id="121859" name="Picture 1" descr="business communication - the argument из Kelly Young, Роялти-фри стоковое фото #629791 на Fotolia.ru"/>
          <p:cNvPicPr>
            <a:picLocks noChangeAspect="1" noChangeArrowheads="1"/>
          </p:cNvPicPr>
          <p:nvPr/>
        </p:nvPicPr>
        <p:blipFill>
          <a:blip r:embed="rId2"/>
          <a:srcRect/>
          <a:stretch>
            <a:fillRect/>
          </a:stretch>
        </p:blipFill>
        <p:spPr bwMode="auto">
          <a:xfrm>
            <a:off x="6289675" y="2757488"/>
            <a:ext cx="2733675" cy="4100512"/>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1" name="Picture 2" descr="http://img.infosender.in/assets/rssarticles/14210707828494.jpg"/>
          <p:cNvPicPr>
            <a:picLocks noChangeAspect="1" noChangeArrowheads="1"/>
          </p:cNvPicPr>
          <p:nvPr/>
        </p:nvPicPr>
        <p:blipFill>
          <a:blip r:embed="rId3"/>
          <a:srcRect/>
          <a:stretch>
            <a:fillRect/>
          </a:stretch>
        </p:blipFill>
        <p:spPr bwMode="auto">
          <a:xfrm>
            <a:off x="7135813" y="4589463"/>
            <a:ext cx="2008187" cy="2268537"/>
          </a:xfrm>
          <a:prstGeom prst="rect">
            <a:avLst/>
          </a:prstGeom>
          <a:noFill/>
          <a:ln w="9525">
            <a:noFill/>
            <a:miter lim="800000"/>
            <a:headEnd/>
            <a:tailEnd/>
          </a:ln>
        </p:spPr>
      </p:pic>
      <p:sp>
        <p:nvSpPr>
          <p:cNvPr id="122882" name="Text Box 3"/>
          <p:cNvSpPr txBox="1">
            <a:spLocks noChangeArrowheads="1"/>
          </p:cNvSpPr>
          <p:nvPr/>
        </p:nvSpPr>
        <p:spPr bwMode="auto">
          <a:xfrm>
            <a:off x="7740650" y="6491288"/>
            <a:ext cx="184150" cy="369887"/>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sp>
        <p:nvSpPr>
          <p:cNvPr id="4" name="Заголовок 1"/>
          <p:cNvSpPr txBox="1">
            <a:spLocks/>
          </p:cNvSpPr>
          <p:nvPr/>
        </p:nvSpPr>
        <p:spPr>
          <a:xfrm>
            <a:off x="184150" y="3794125"/>
            <a:ext cx="8640763" cy="439738"/>
          </a:xfrm>
          <a:prstGeom prst="rect">
            <a:avLst/>
          </a:prstGeom>
        </p:spPr>
        <p:txBody>
          <a:bodyPr lIns="0" tIns="0" rIns="0" bIns="0" anchor="b">
            <a:spAutoFit/>
          </a:bodyPr>
          <a:lstStyle/>
          <a:p>
            <a:pPr algn="ctr">
              <a:lnSpc>
                <a:spcPct val="80000"/>
              </a:lnSpc>
              <a:defRPr/>
            </a:pPr>
            <a:endParaRPr lang="ru-RU" sz="3600" b="1" dirty="0">
              <a:effectLst>
                <a:outerShdw blurRad="38100" dist="38100" dir="2700000" algn="tl">
                  <a:srgbClr val="C0C0C0"/>
                </a:outerShdw>
              </a:effectLst>
              <a:latin typeface="Arial" pitchFamily="34" charset="0"/>
              <a:cs typeface="Arial" pitchFamily="34" charset="0"/>
            </a:endParaRPr>
          </a:p>
        </p:txBody>
      </p:sp>
      <p:sp>
        <p:nvSpPr>
          <p:cNvPr id="5" name="Заголовок 4"/>
          <p:cNvSpPr>
            <a:spLocks noGrp="1"/>
          </p:cNvSpPr>
          <p:nvPr>
            <p:ph type="title"/>
          </p:nvPr>
        </p:nvSpPr>
        <p:spPr>
          <a:xfrm>
            <a:off x="184150" y="187325"/>
            <a:ext cx="5611813" cy="720725"/>
          </a:xfrm>
        </p:spPr>
        <p:txBody>
          <a:bodyPr/>
          <a:lstStyle/>
          <a:p>
            <a:pPr algn="ctr" fontAlgn="auto">
              <a:spcAft>
                <a:spcPts val="0"/>
              </a:spcAft>
              <a:defRPr/>
            </a:pPr>
            <a:r>
              <a:rPr lang="ru-RU" b="1" dirty="0">
                <a:solidFill>
                  <a:srgbClr val="002060"/>
                </a:solidFill>
                <a:effectLst>
                  <a:outerShdw blurRad="38100" dist="38100" dir="2700000" algn="tl">
                    <a:srgbClr val="000000">
                      <a:alpha val="43137"/>
                    </a:srgbClr>
                  </a:outerShdw>
                </a:effectLst>
                <a:latin typeface="+mn-lt"/>
                <a:cs typeface="Arial" pitchFamily="34" charset="0"/>
              </a:rPr>
              <a:t>Федеральный закон № 426-ФЗ </a:t>
            </a:r>
            <a:br>
              <a:rPr lang="ru-RU" b="1" dirty="0">
                <a:solidFill>
                  <a:srgbClr val="002060"/>
                </a:solidFill>
                <a:effectLst>
                  <a:outerShdw blurRad="38100" dist="38100" dir="2700000" algn="tl">
                    <a:srgbClr val="000000">
                      <a:alpha val="43137"/>
                    </a:srgbClr>
                  </a:outerShdw>
                </a:effectLst>
                <a:latin typeface="+mn-lt"/>
                <a:cs typeface="Arial" pitchFamily="34" charset="0"/>
              </a:rPr>
            </a:br>
            <a:endParaRPr lang="ru-RU" dirty="0">
              <a:solidFill>
                <a:srgbClr val="002060"/>
              </a:solidFill>
              <a:effectLst>
                <a:outerShdw blurRad="38100" dist="38100" dir="2700000" algn="tl">
                  <a:srgbClr val="000000">
                    <a:alpha val="43137"/>
                  </a:srgbClr>
                </a:outerShdw>
              </a:effectLst>
              <a:latin typeface="+mn-lt"/>
            </a:endParaRPr>
          </a:p>
        </p:txBody>
      </p:sp>
      <p:sp>
        <p:nvSpPr>
          <p:cNvPr id="64518" name="Содержимое 5"/>
          <p:cNvSpPr>
            <a:spLocks noGrp="1"/>
          </p:cNvSpPr>
          <p:nvPr>
            <p:ph idx="1"/>
          </p:nvPr>
        </p:nvSpPr>
        <p:spPr>
          <a:xfrm>
            <a:off x="4572000" y="476250"/>
            <a:ext cx="4281488" cy="4054475"/>
          </a:xfrm>
        </p:spPr>
        <p:txBody>
          <a:bodyPr>
            <a:normAutofit fontScale="92500" lnSpcReduction="10000"/>
          </a:bodyPr>
          <a:lstStyle/>
          <a:p>
            <a:pPr marL="365760" indent="-256032" algn="ctr" fontAlgn="auto">
              <a:lnSpc>
                <a:spcPct val="200000"/>
              </a:lnSpc>
              <a:spcAft>
                <a:spcPts val="0"/>
              </a:spcAft>
              <a:buFont typeface="Wingdings 2" pitchFamily="18" charset="2"/>
              <a:buNone/>
              <a:defRPr/>
            </a:pPr>
            <a:r>
              <a:rPr lang="ru-RU" sz="3600" b="1">
                <a:solidFill>
                  <a:srgbClr val="002060"/>
                </a:solidFill>
                <a:cs typeface="Arial" charset="0"/>
              </a:rPr>
              <a:t>Оценка рисков и специальная оценка условий труда</a:t>
            </a:r>
            <a:endParaRPr lang="ru-RU" sz="3600">
              <a:solidFill>
                <a:srgbClr val="002060"/>
              </a:solidFill>
            </a:endParaRPr>
          </a:p>
        </p:txBody>
      </p:sp>
      <p:sp>
        <p:nvSpPr>
          <p:cNvPr id="122886" name="Текст 6"/>
          <p:cNvSpPr>
            <a:spLocks noGrp="1"/>
          </p:cNvSpPr>
          <p:nvPr>
            <p:ph type="body" sz="half" idx="2"/>
          </p:nvPr>
        </p:nvSpPr>
        <p:spPr>
          <a:xfrm>
            <a:off x="250825" y="1676400"/>
            <a:ext cx="4176713" cy="4572000"/>
          </a:xfrm>
        </p:spPr>
        <p:txBody>
          <a:bodyPr/>
          <a:lstStyle/>
          <a:p>
            <a:r>
              <a:rPr lang="ru-RU" sz="2000" b="1" smtClean="0">
                <a:solidFill>
                  <a:srgbClr val="002060"/>
                </a:solidFill>
                <a:cs typeface="Arial" charset="0"/>
              </a:rPr>
              <a:t>Статья 7. Применение результатов проведения специальной оценки условий труда</a:t>
            </a:r>
          </a:p>
          <a:p>
            <a:endParaRPr lang="ru-RU" sz="2000" b="1" smtClean="0">
              <a:solidFill>
                <a:srgbClr val="002060"/>
              </a:solidFill>
              <a:cs typeface="Arial" charset="0"/>
            </a:endParaRPr>
          </a:p>
          <a:p>
            <a:r>
              <a:rPr lang="ru-RU" sz="2000" b="1" smtClean="0">
                <a:solidFill>
                  <a:srgbClr val="002060"/>
                </a:solidFill>
                <a:cs typeface="Arial" charset="0"/>
              </a:rPr>
              <a:t>Результаты проведения специальной оценки условий труда могут применяться для:</a:t>
            </a:r>
          </a:p>
          <a:p>
            <a:pPr algn="ctr"/>
            <a:r>
              <a:rPr lang="ru-RU" sz="2000" b="1" smtClean="0">
                <a:solidFill>
                  <a:srgbClr val="002060"/>
                </a:solidFill>
                <a:cs typeface="Arial" charset="0"/>
              </a:rPr>
              <a:t>…..</a:t>
            </a:r>
          </a:p>
          <a:p>
            <a:r>
              <a:rPr lang="ru-RU" sz="2000" b="1" smtClean="0">
                <a:solidFill>
                  <a:srgbClr val="002060"/>
                </a:solidFill>
                <a:cs typeface="Arial" charset="0"/>
              </a:rPr>
              <a:t>15) оценки уровней профессиональных рисков; </a:t>
            </a:r>
          </a:p>
          <a:p>
            <a:pPr algn="ctr"/>
            <a:r>
              <a:rPr lang="ru-RU" sz="2000" b="1" smtClean="0">
                <a:solidFill>
                  <a:srgbClr val="002060"/>
                </a:solidFill>
                <a:cs typeface="Arial" charset="0"/>
              </a:rPr>
              <a:t>…..</a:t>
            </a:r>
          </a:p>
          <a:p>
            <a:endParaRPr lang="ru-RU" sz="2000" smtClean="0">
              <a:solidFill>
                <a:srgbClr val="00206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1042988" y="393700"/>
            <a:ext cx="7656512" cy="454025"/>
          </a:xfrm>
          <a:prstGeom prst="rect">
            <a:avLst/>
          </a:prstGeom>
        </p:spPr>
        <p:txBody>
          <a:bodyPr lIns="0" tIns="0" rIns="0" bIns="0" anchor="b">
            <a:spAutoFit/>
          </a:bodyPr>
          <a:lstStyle/>
          <a:p>
            <a:pPr algn="ctr">
              <a:lnSpc>
                <a:spcPct val="80000"/>
              </a:lnSpc>
              <a:defRPr/>
            </a:pPr>
            <a:r>
              <a:rPr lang="ru-RU" sz="3600" b="1" dirty="0">
                <a:solidFill>
                  <a:schemeClr val="tx1"/>
                </a:solidFill>
                <a:latin typeface="+mj-lt"/>
                <a:cs typeface="Arial" pitchFamily="34" charset="0"/>
              </a:rPr>
              <a:t>СОУТ и реестр опасностей</a:t>
            </a:r>
          </a:p>
        </p:txBody>
      </p:sp>
      <p:sp>
        <p:nvSpPr>
          <p:cNvPr id="5" name="AutoShape 14"/>
          <p:cNvSpPr>
            <a:spLocks noChangeArrowheads="1"/>
          </p:cNvSpPr>
          <p:nvPr/>
        </p:nvSpPr>
        <p:spPr bwMode="auto">
          <a:xfrm>
            <a:off x="395288" y="1171575"/>
            <a:ext cx="4052887" cy="1400175"/>
          </a:xfrm>
          <a:prstGeom prst="downArrowCallout">
            <a:avLst>
              <a:gd name="adj1" fmla="val 130578"/>
              <a:gd name="adj2" fmla="val 155228"/>
              <a:gd name="adj3" fmla="val 16667"/>
              <a:gd name="adj4" fmla="val 6192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ru-RU" sz="2000" b="1" dirty="0">
                <a:solidFill>
                  <a:schemeClr val="bg1"/>
                </a:solidFill>
                <a:cs typeface="Tahoma" pitchFamily="34" charset="0"/>
              </a:rPr>
              <a:t>СОУТ (формирование </a:t>
            </a:r>
          </a:p>
          <a:p>
            <a:pPr algn="ctr">
              <a:defRPr/>
            </a:pPr>
            <a:r>
              <a:rPr lang="ru-RU" sz="2000" b="1" dirty="0">
                <a:solidFill>
                  <a:schemeClr val="bg1"/>
                </a:solidFill>
                <a:cs typeface="Tahoma" pitchFamily="34" charset="0"/>
              </a:rPr>
              <a:t>перечня вредных факторов)</a:t>
            </a:r>
          </a:p>
        </p:txBody>
      </p:sp>
      <p:sp>
        <p:nvSpPr>
          <p:cNvPr id="7" name="AutoShape 15"/>
          <p:cNvSpPr>
            <a:spLocks noChangeArrowheads="1"/>
          </p:cNvSpPr>
          <p:nvPr/>
        </p:nvSpPr>
        <p:spPr bwMode="auto">
          <a:xfrm>
            <a:off x="395288" y="2801938"/>
            <a:ext cx="4200525" cy="1484312"/>
          </a:xfrm>
          <a:prstGeom prst="downArrowCallout">
            <a:avLst>
              <a:gd name="adj1" fmla="val 142745"/>
              <a:gd name="adj2" fmla="val 142745"/>
              <a:gd name="adj3" fmla="val 16667"/>
              <a:gd name="adj4" fmla="val 6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ru-RU" sz="2000" b="1" dirty="0">
                <a:solidFill>
                  <a:schemeClr val="bg1"/>
                </a:solidFill>
                <a:cs typeface="Tahoma" pitchFamily="34" charset="0"/>
              </a:rPr>
              <a:t>Формирование перечня</a:t>
            </a:r>
          </a:p>
          <a:p>
            <a:pPr algn="ctr">
              <a:defRPr/>
            </a:pPr>
            <a:r>
              <a:rPr lang="ru-RU" sz="2000" b="1" dirty="0">
                <a:solidFill>
                  <a:schemeClr val="bg1"/>
                </a:solidFill>
                <a:cs typeface="Tahoma" pitchFamily="34" charset="0"/>
              </a:rPr>
              <a:t> опасных факторов</a:t>
            </a:r>
          </a:p>
        </p:txBody>
      </p:sp>
      <p:sp>
        <p:nvSpPr>
          <p:cNvPr id="8" name="Rectangle 17"/>
          <p:cNvSpPr>
            <a:spLocks noChangeArrowheads="1"/>
          </p:cNvSpPr>
          <p:nvPr/>
        </p:nvSpPr>
        <p:spPr bwMode="auto">
          <a:xfrm>
            <a:off x="395288" y="4695825"/>
            <a:ext cx="4089400" cy="13144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ru-RU" sz="2000" b="1" dirty="0">
                <a:solidFill>
                  <a:schemeClr val="bg1"/>
                </a:solidFill>
                <a:cs typeface="Tahoma" pitchFamily="34" charset="0"/>
              </a:rPr>
              <a:t>Дополнение перечня </a:t>
            </a:r>
            <a:r>
              <a:rPr lang="ru-RU" sz="2000" b="1" dirty="0" err="1">
                <a:solidFill>
                  <a:schemeClr val="bg1"/>
                </a:solidFill>
                <a:cs typeface="Tahoma" pitchFamily="34" charset="0"/>
              </a:rPr>
              <a:t>ВиОПФ</a:t>
            </a:r>
            <a:r>
              <a:rPr lang="ru-RU" sz="2000" b="1" dirty="0">
                <a:solidFill>
                  <a:schemeClr val="bg1"/>
                </a:solidFill>
                <a:cs typeface="Tahoma" pitchFamily="34" charset="0"/>
              </a:rPr>
              <a:t> </a:t>
            </a:r>
          </a:p>
          <a:p>
            <a:pPr algn="ctr">
              <a:defRPr/>
            </a:pPr>
            <a:r>
              <a:rPr lang="ru-RU" sz="2000" b="1" dirty="0">
                <a:solidFill>
                  <a:schemeClr val="bg1"/>
                </a:solidFill>
                <a:cs typeface="Tahoma" pitchFamily="34" charset="0"/>
              </a:rPr>
              <a:t>факторами, </a:t>
            </a:r>
          </a:p>
          <a:p>
            <a:pPr algn="ctr">
              <a:defRPr/>
            </a:pPr>
            <a:r>
              <a:rPr lang="ru-RU" sz="2000" b="1" dirty="0">
                <a:solidFill>
                  <a:schemeClr val="bg1"/>
                </a:solidFill>
                <a:cs typeface="Tahoma" pitchFamily="34" charset="0"/>
              </a:rPr>
              <a:t>не включенными в </a:t>
            </a:r>
          </a:p>
          <a:p>
            <a:pPr algn="ctr">
              <a:defRPr/>
            </a:pPr>
            <a:r>
              <a:rPr lang="ru-RU" sz="2000" b="1" dirty="0">
                <a:solidFill>
                  <a:schemeClr val="bg1"/>
                </a:solidFill>
                <a:cs typeface="Tahoma" pitchFamily="34" charset="0"/>
              </a:rPr>
              <a:t>нормативные документы</a:t>
            </a:r>
          </a:p>
        </p:txBody>
      </p:sp>
      <p:sp>
        <p:nvSpPr>
          <p:cNvPr id="10" name="Rectangle 17"/>
          <p:cNvSpPr>
            <a:spLocks noChangeArrowheads="1"/>
          </p:cNvSpPr>
          <p:nvPr/>
        </p:nvSpPr>
        <p:spPr bwMode="auto">
          <a:xfrm>
            <a:off x="4787900" y="3194050"/>
            <a:ext cx="4089400" cy="685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ru-RU" sz="2000" b="1" dirty="0">
                <a:solidFill>
                  <a:schemeClr val="tx1"/>
                </a:solidFill>
                <a:cs typeface="Tahoma" pitchFamily="34" charset="0"/>
              </a:rPr>
              <a:t>Реестр опасностей </a:t>
            </a:r>
          </a:p>
          <a:p>
            <a:pPr algn="ctr">
              <a:defRPr/>
            </a:pPr>
            <a:r>
              <a:rPr lang="ru-RU" sz="2000" b="1" dirty="0">
                <a:solidFill>
                  <a:schemeClr val="tx1"/>
                </a:solidFill>
                <a:cs typeface="Tahoma" pitchFamily="34" charset="0"/>
              </a:rPr>
              <a:t>для проведения оценки рисков</a:t>
            </a:r>
          </a:p>
        </p:txBody>
      </p:sp>
      <p:cxnSp>
        <p:nvCxnSpPr>
          <p:cNvPr id="11" name="Соединительная линия уступом 9"/>
          <p:cNvCxnSpPr>
            <a:stCxn id="8" idx="3"/>
          </p:cNvCxnSpPr>
          <p:nvPr/>
        </p:nvCxnSpPr>
        <p:spPr bwMode="auto">
          <a:xfrm flipV="1">
            <a:off x="4484688" y="3879850"/>
            <a:ext cx="1149350" cy="1473200"/>
          </a:xfrm>
          <a:prstGeom prst="bentConnector2">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2" name="Соединительная линия уступом 17"/>
          <p:cNvCxnSpPr>
            <a:endCxn id="5" idx="3"/>
          </p:cNvCxnSpPr>
          <p:nvPr/>
        </p:nvCxnSpPr>
        <p:spPr bwMode="auto">
          <a:xfrm rot="16200000" flipV="1">
            <a:off x="4246563" y="1806575"/>
            <a:ext cx="1589087" cy="1185863"/>
          </a:xfrm>
          <a:prstGeom prst="bentConnector2">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pic>
        <p:nvPicPr>
          <p:cNvPr id="124936" name="Picture 2" descr="http://www.eatoninternationalconsulting.com/wp-content/uploads/2011/08/iStock-Process-BW-small.jpg"/>
          <p:cNvPicPr>
            <a:picLocks noChangeAspect="1" noChangeArrowheads="1"/>
          </p:cNvPicPr>
          <p:nvPr/>
        </p:nvPicPr>
        <p:blipFill>
          <a:blip r:embed="rId2"/>
          <a:srcRect/>
          <a:stretch>
            <a:fillRect/>
          </a:stretch>
        </p:blipFill>
        <p:spPr bwMode="auto">
          <a:xfrm>
            <a:off x="5994400" y="4495800"/>
            <a:ext cx="3149600" cy="23622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bg/>
                                          </p:spTgt>
                                        </p:tgtEl>
                                        <p:attrNameLst>
                                          <p:attrName>style.visibility</p:attrName>
                                        </p:attrNameLst>
                                      </p:cBhvr>
                                      <p:to>
                                        <p:strVal val="visible"/>
                                      </p:to>
                                    </p:set>
                                    <p:animEffect transition="in" filter="wipe(down)">
                                      <p:cBhvr>
                                        <p:cTn id="14" dur="500"/>
                                        <p:tgtEl>
                                          <p:spTgt spid="5">
                                            <p:bg/>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wipe(down)">
                                      <p:cBhvr>
                                        <p:cTn id="19" dur="5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wipe(down)">
                                      <p:cBhvr>
                                        <p:cTn id="24" dur="500"/>
                                        <p:tgtEl>
                                          <p:spTgt spid="5">
                                            <p:txEl>
                                              <p:pRg st="1" end="1"/>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
                                            <p:bg/>
                                          </p:spTgt>
                                        </p:tgtEl>
                                        <p:attrNameLst>
                                          <p:attrName>style.visibility</p:attrName>
                                        </p:attrNameLst>
                                      </p:cBhvr>
                                      <p:to>
                                        <p:strVal val="visible"/>
                                      </p:to>
                                    </p:set>
                                    <p:animEffect transition="in" filter="wipe(down)">
                                      <p:cBhvr>
                                        <p:cTn id="27" dur="500"/>
                                        <p:tgtEl>
                                          <p:spTgt spid="7">
                                            <p:bg/>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down)">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wipe(down)">
                                      <p:cBhvr>
                                        <p:cTn id="37" dur="500"/>
                                        <p:tgtEl>
                                          <p:spTgt spid="7">
                                            <p:txEl>
                                              <p:pRg st="1" end="1"/>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8">
                                            <p:bg/>
                                          </p:spTgt>
                                        </p:tgtEl>
                                        <p:attrNameLst>
                                          <p:attrName>style.visibility</p:attrName>
                                        </p:attrNameLst>
                                      </p:cBhvr>
                                      <p:to>
                                        <p:strVal val="visible"/>
                                      </p:to>
                                    </p:set>
                                    <p:animEffect transition="in" filter="wipe(down)">
                                      <p:cBhvr>
                                        <p:cTn id="40" dur="500"/>
                                        <p:tgtEl>
                                          <p:spTgt spid="8">
                                            <p:bg/>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8">
                                            <p:txEl>
                                              <p:pRg st="0" end="0"/>
                                            </p:txEl>
                                          </p:spTgt>
                                        </p:tgtEl>
                                        <p:attrNameLst>
                                          <p:attrName>style.visibility</p:attrName>
                                        </p:attrNameLst>
                                      </p:cBhvr>
                                      <p:to>
                                        <p:strVal val="visible"/>
                                      </p:to>
                                    </p:set>
                                    <p:animEffect transition="in" filter="wipe(down)">
                                      <p:cBhvr>
                                        <p:cTn id="45" dur="500"/>
                                        <p:tgtEl>
                                          <p:spTgt spid="8">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8">
                                            <p:txEl>
                                              <p:pRg st="1" end="1"/>
                                            </p:txEl>
                                          </p:spTgt>
                                        </p:tgtEl>
                                        <p:attrNameLst>
                                          <p:attrName>style.visibility</p:attrName>
                                        </p:attrNameLst>
                                      </p:cBhvr>
                                      <p:to>
                                        <p:strVal val="visible"/>
                                      </p:to>
                                    </p:set>
                                    <p:animEffect transition="in" filter="wipe(down)">
                                      <p:cBhvr>
                                        <p:cTn id="50" dur="500"/>
                                        <p:tgtEl>
                                          <p:spTgt spid="8">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
                                            <p:txEl>
                                              <p:pRg st="2" end="2"/>
                                            </p:txEl>
                                          </p:spTgt>
                                        </p:tgtEl>
                                        <p:attrNameLst>
                                          <p:attrName>style.visibility</p:attrName>
                                        </p:attrNameLst>
                                      </p:cBhvr>
                                      <p:to>
                                        <p:strVal val="visible"/>
                                      </p:to>
                                    </p:set>
                                    <p:animEffect transition="in" filter="wipe(down)">
                                      <p:cBhvr>
                                        <p:cTn id="55" dur="500"/>
                                        <p:tgtEl>
                                          <p:spTgt spid="8">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8">
                                            <p:txEl>
                                              <p:pRg st="3" end="3"/>
                                            </p:txEl>
                                          </p:spTgt>
                                        </p:tgtEl>
                                        <p:attrNameLst>
                                          <p:attrName>style.visibility</p:attrName>
                                        </p:attrNameLst>
                                      </p:cBhvr>
                                      <p:to>
                                        <p:strVal val="visible"/>
                                      </p:to>
                                    </p:set>
                                    <p:animEffect transition="in" filter="wipe(down)">
                                      <p:cBhvr>
                                        <p:cTn id="60" dur="500"/>
                                        <p:tgtEl>
                                          <p:spTgt spid="8">
                                            <p:txEl>
                                              <p:pRg st="3" end="3"/>
                                            </p:txEl>
                                          </p:spTgt>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0">
                                            <p:bg/>
                                          </p:spTgt>
                                        </p:tgtEl>
                                        <p:attrNameLst>
                                          <p:attrName>style.visibility</p:attrName>
                                        </p:attrNameLst>
                                      </p:cBhvr>
                                      <p:to>
                                        <p:strVal val="visible"/>
                                      </p:to>
                                    </p:set>
                                    <p:animEffect transition="in" filter="wipe(down)">
                                      <p:cBhvr>
                                        <p:cTn id="63" dur="500"/>
                                        <p:tgtEl>
                                          <p:spTgt spid="10">
                                            <p:bg/>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0">
                                            <p:txEl>
                                              <p:pRg st="0" end="0"/>
                                            </p:txEl>
                                          </p:spTgt>
                                        </p:tgtEl>
                                        <p:attrNameLst>
                                          <p:attrName>style.visibility</p:attrName>
                                        </p:attrNameLst>
                                      </p:cBhvr>
                                      <p:to>
                                        <p:strVal val="visible"/>
                                      </p:to>
                                    </p:set>
                                    <p:animEffect transition="in" filter="wipe(down)">
                                      <p:cBhvr>
                                        <p:cTn id="68" dur="500"/>
                                        <p:tgtEl>
                                          <p:spTgt spid="10">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0">
                                            <p:txEl>
                                              <p:pRg st="1" end="1"/>
                                            </p:txEl>
                                          </p:spTgt>
                                        </p:tgtEl>
                                        <p:attrNameLst>
                                          <p:attrName>style.visibility</p:attrName>
                                        </p:attrNameLst>
                                      </p:cBhvr>
                                      <p:to>
                                        <p:strVal val="visible"/>
                                      </p:to>
                                    </p:set>
                                    <p:animEffect transition="in" filter="wipe(down)">
                                      <p:cBhvr>
                                        <p:cTn id="73"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animBg="1"/>
      <p:bldP spid="7" grpId="0" build="p" animBg="1"/>
      <p:bldP spid="8" grpId="0" build="p" animBg="1"/>
      <p:bldP spid="10"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Заголовок 1"/>
          <p:cNvSpPr txBox="1">
            <a:spLocks/>
          </p:cNvSpPr>
          <p:nvPr/>
        </p:nvSpPr>
        <p:spPr>
          <a:xfrm>
            <a:off x="3171825" y="6464300"/>
            <a:ext cx="5972175" cy="393700"/>
          </a:xfrm>
          <a:prstGeom prst="rect">
            <a:avLst/>
          </a:prstGeom>
        </p:spPr>
        <p:txBody>
          <a:bodyPr lIns="0" tIns="0" rIns="0" bIns="0" anchor="b">
            <a:spAutoFit/>
          </a:bodyPr>
          <a:lstStyle/>
          <a:p>
            <a:pPr algn="ctr">
              <a:lnSpc>
                <a:spcPct val="80000"/>
              </a:lnSpc>
              <a:defRPr/>
            </a:pPr>
            <a:r>
              <a:rPr lang="ru-RU" sz="1600" b="1" dirty="0">
                <a:latin typeface="+mj-lt"/>
                <a:cs typeface="Arial" pitchFamily="34" charset="0"/>
              </a:rPr>
              <a:t>Виды опасностей (ГОСТ Р 51344-99 «Безопасность машин. Принципы оценки и определения риска») </a:t>
            </a:r>
          </a:p>
        </p:txBody>
      </p:sp>
      <p:sp>
        <p:nvSpPr>
          <p:cNvPr id="81931" name="Rectangle 11"/>
          <p:cNvSpPr>
            <a:spLocks noGrp="1" noChangeArrowheads="1"/>
          </p:cNvSpPr>
          <p:nvPr>
            <p:ph idx="1"/>
          </p:nvPr>
        </p:nvSpPr>
        <p:spPr>
          <a:xfrm>
            <a:off x="0" y="155575"/>
            <a:ext cx="4356100" cy="5545138"/>
          </a:xfrm>
        </p:spPr>
        <p:txBody>
          <a:bodyPr/>
          <a:lstStyle/>
          <a:p>
            <a:pPr>
              <a:lnSpc>
                <a:spcPct val="115000"/>
              </a:lnSpc>
            </a:pPr>
            <a:r>
              <a:rPr lang="ru-RU" sz="1800" b="1" smtClean="0">
                <a:solidFill>
                  <a:srgbClr val="002060"/>
                </a:solidFill>
              </a:rPr>
              <a:t>Электрические опасности</a:t>
            </a:r>
          </a:p>
          <a:p>
            <a:pPr>
              <a:lnSpc>
                <a:spcPct val="115000"/>
              </a:lnSpc>
            </a:pPr>
            <a:r>
              <a:rPr lang="ru-RU" sz="1800" b="1" smtClean="0">
                <a:solidFill>
                  <a:srgbClr val="002060"/>
                </a:solidFill>
              </a:rPr>
              <a:t>Термические опасности </a:t>
            </a:r>
          </a:p>
          <a:p>
            <a:pPr>
              <a:lnSpc>
                <a:spcPct val="115000"/>
              </a:lnSpc>
            </a:pPr>
            <a:r>
              <a:rPr lang="ru-RU" sz="1800" b="1" smtClean="0">
                <a:solidFill>
                  <a:srgbClr val="002060"/>
                </a:solidFill>
              </a:rPr>
              <a:t>Опасности от шума</a:t>
            </a:r>
          </a:p>
          <a:p>
            <a:pPr>
              <a:lnSpc>
                <a:spcPct val="115000"/>
              </a:lnSpc>
            </a:pPr>
            <a:r>
              <a:rPr lang="ru-RU" sz="1800" b="1" smtClean="0">
                <a:solidFill>
                  <a:srgbClr val="002060"/>
                </a:solidFill>
              </a:rPr>
              <a:t>Опасности от вибраций</a:t>
            </a:r>
          </a:p>
          <a:p>
            <a:pPr>
              <a:lnSpc>
                <a:spcPct val="115000"/>
              </a:lnSpc>
            </a:pPr>
            <a:r>
              <a:rPr lang="ru-RU" sz="1800" b="1" smtClean="0">
                <a:solidFill>
                  <a:srgbClr val="002060"/>
                </a:solidFill>
              </a:rPr>
              <a:t>Опасности от излучения</a:t>
            </a:r>
          </a:p>
          <a:p>
            <a:pPr>
              <a:lnSpc>
                <a:spcPct val="115000"/>
              </a:lnSpc>
            </a:pPr>
            <a:r>
              <a:rPr lang="ru-RU" sz="1800" b="1" smtClean="0">
                <a:solidFill>
                  <a:srgbClr val="002060"/>
                </a:solidFill>
              </a:rPr>
              <a:t>Опасность от воздействия  материалов и веществ</a:t>
            </a:r>
          </a:p>
          <a:p>
            <a:pPr>
              <a:lnSpc>
                <a:spcPct val="115000"/>
              </a:lnSpc>
            </a:pPr>
            <a:r>
              <a:rPr lang="ru-RU" sz="1800" b="1" smtClean="0">
                <a:solidFill>
                  <a:srgbClr val="002060"/>
                </a:solidFill>
              </a:rPr>
              <a:t>Опасности связанные с эргономикой</a:t>
            </a:r>
          </a:p>
          <a:p>
            <a:pPr>
              <a:lnSpc>
                <a:spcPct val="115000"/>
              </a:lnSpc>
            </a:pPr>
            <a:r>
              <a:rPr lang="ru-RU" sz="1800" b="1" smtClean="0">
                <a:solidFill>
                  <a:srgbClr val="002060"/>
                </a:solidFill>
              </a:rPr>
              <a:t>Механические опасности (раздавливание)</a:t>
            </a:r>
          </a:p>
          <a:p>
            <a:pPr>
              <a:lnSpc>
                <a:spcPct val="115000"/>
              </a:lnSpc>
            </a:pPr>
            <a:r>
              <a:rPr lang="ru-RU" sz="1800" b="1" smtClean="0">
                <a:solidFill>
                  <a:srgbClr val="002060"/>
                </a:solidFill>
              </a:rPr>
              <a:t>Механические опасности (удар)</a:t>
            </a:r>
          </a:p>
          <a:p>
            <a:pPr>
              <a:lnSpc>
                <a:spcPct val="115000"/>
              </a:lnSpc>
            </a:pPr>
            <a:r>
              <a:rPr lang="ru-RU" sz="1800" b="1" smtClean="0">
                <a:solidFill>
                  <a:srgbClr val="002060"/>
                </a:solidFill>
              </a:rPr>
              <a:t>Механические опасности (запутаться запнуться)</a:t>
            </a:r>
          </a:p>
          <a:p>
            <a:pPr>
              <a:lnSpc>
                <a:spcPct val="115000"/>
              </a:lnSpc>
            </a:pPr>
            <a:r>
              <a:rPr lang="ru-RU" sz="1800" b="1" smtClean="0">
                <a:solidFill>
                  <a:srgbClr val="002060"/>
                </a:solidFill>
              </a:rPr>
              <a:t>Пожароопасность</a:t>
            </a:r>
          </a:p>
        </p:txBody>
      </p:sp>
      <p:pic>
        <p:nvPicPr>
          <p:cNvPr id="81932" name="Picture 12" descr="boxoff2"/>
          <p:cNvPicPr>
            <a:picLocks noChangeAspect="1" noChangeArrowheads="1"/>
          </p:cNvPicPr>
          <p:nvPr/>
        </p:nvPicPr>
        <p:blipFill>
          <a:blip r:embed="rId2"/>
          <a:srcRect/>
          <a:stretch>
            <a:fillRect/>
          </a:stretch>
        </p:blipFill>
        <p:spPr bwMode="auto">
          <a:xfrm>
            <a:off x="5435600" y="908050"/>
            <a:ext cx="3327400" cy="4464050"/>
          </a:xfrm>
          <a:prstGeom prst="rect">
            <a:avLst/>
          </a:prstGeom>
          <a:noFill/>
          <a:ln w="9525">
            <a:noFill/>
            <a:miter lim="800000"/>
            <a:headEnd/>
            <a:tailEnd/>
          </a:ln>
        </p:spPr>
      </p:pic>
      <p:pic>
        <p:nvPicPr>
          <p:cNvPr id="81933" name="Picture 13"/>
          <p:cNvPicPr>
            <a:picLocks noChangeAspect="1" noChangeArrowheads="1"/>
          </p:cNvPicPr>
          <p:nvPr/>
        </p:nvPicPr>
        <p:blipFill>
          <a:blip r:embed="rId3"/>
          <a:srcRect/>
          <a:stretch>
            <a:fillRect/>
          </a:stretch>
        </p:blipFill>
        <p:spPr bwMode="auto">
          <a:xfrm>
            <a:off x="5076825" y="1125538"/>
            <a:ext cx="3495675" cy="5238750"/>
          </a:xfrm>
          <a:prstGeom prst="rect">
            <a:avLst/>
          </a:prstGeom>
          <a:noFill/>
          <a:ln w="9525">
            <a:noFill/>
            <a:miter lim="800000"/>
            <a:headEnd/>
            <a:tailEnd/>
          </a:ln>
        </p:spPr>
      </p:pic>
      <p:pic>
        <p:nvPicPr>
          <p:cNvPr id="81934" name="Picture 14"/>
          <p:cNvPicPr>
            <a:picLocks noChangeAspect="1" noChangeArrowheads="1"/>
          </p:cNvPicPr>
          <p:nvPr/>
        </p:nvPicPr>
        <p:blipFill>
          <a:blip r:embed="rId4"/>
          <a:srcRect/>
          <a:stretch>
            <a:fillRect/>
          </a:stretch>
        </p:blipFill>
        <p:spPr bwMode="auto">
          <a:xfrm>
            <a:off x="3924300" y="1700213"/>
            <a:ext cx="4824413" cy="3619500"/>
          </a:xfrm>
          <a:prstGeom prst="rect">
            <a:avLst/>
          </a:prstGeom>
          <a:noFill/>
          <a:ln w="9525">
            <a:noFill/>
            <a:miter lim="800000"/>
            <a:headEnd/>
            <a:tailEnd/>
          </a:ln>
        </p:spPr>
      </p:pic>
      <p:pic>
        <p:nvPicPr>
          <p:cNvPr id="81935" name="Picture 15"/>
          <p:cNvPicPr>
            <a:picLocks noChangeAspect="1" noChangeArrowheads="1"/>
          </p:cNvPicPr>
          <p:nvPr/>
        </p:nvPicPr>
        <p:blipFill>
          <a:blip r:embed="rId5"/>
          <a:srcRect/>
          <a:stretch>
            <a:fillRect/>
          </a:stretch>
        </p:blipFill>
        <p:spPr bwMode="auto">
          <a:xfrm>
            <a:off x="3905250" y="1052513"/>
            <a:ext cx="5238750" cy="3933825"/>
          </a:xfrm>
          <a:prstGeom prst="rect">
            <a:avLst/>
          </a:prstGeom>
          <a:noFill/>
          <a:ln w="9525">
            <a:noFill/>
            <a:miter lim="800000"/>
            <a:headEnd/>
            <a:tailEnd/>
          </a:ln>
        </p:spPr>
      </p:pic>
      <p:pic>
        <p:nvPicPr>
          <p:cNvPr id="81936" name="Picture 16"/>
          <p:cNvPicPr>
            <a:picLocks noChangeAspect="1" noChangeArrowheads="1"/>
          </p:cNvPicPr>
          <p:nvPr/>
        </p:nvPicPr>
        <p:blipFill>
          <a:blip r:embed="rId6"/>
          <a:srcRect/>
          <a:stretch>
            <a:fillRect/>
          </a:stretch>
        </p:blipFill>
        <p:spPr bwMode="auto">
          <a:xfrm>
            <a:off x="3905250" y="1989138"/>
            <a:ext cx="5238750" cy="3933825"/>
          </a:xfrm>
          <a:prstGeom prst="rect">
            <a:avLst/>
          </a:prstGeom>
          <a:noFill/>
          <a:ln w="9525">
            <a:noFill/>
            <a:miter lim="800000"/>
            <a:headEnd/>
            <a:tailEnd/>
          </a:ln>
        </p:spPr>
      </p:pic>
      <p:pic>
        <p:nvPicPr>
          <p:cNvPr id="81937" name="Picture 17" descr="IMG_2628"/>
          <p:cNvPicPr>
            <a:picLocks noChangeAspect="1" noChangeArrowheads="1"/>
          </p:cNvPicPr>
          <p:nvPr/>
        </p:nvPicPr>
        <p:blipFill>
          <a:blip r:embed="rId7"/>
          <a:srcRect/>
          <a:stretch>
            <a:fillRect/>
          </a:stretch>
        </p:blipFill>
        <p:spPr bwMode="auto">
          <a:xfrm>
            <a:off x="3851275" y="1916113"/>
            <a:ext cx="4605338" cy="3449637"/>
          </a:xfrm>
          <a:prstGeom prst="rect">
            <a:avLst/>
          </a:prstGeom>
          <a:noFill/>
          <a:ln w="9525">
            <a:noFill/>
            <a:miter lim="800000"/>
            <a:headEnd/>
            <a:tailEnd/>
          </a:ln>
        </p:spPr>
      </p:pic>
      <p:pic>
        <p:nvPicPr>
          <p:cNvPr id="81938" name="Picture 18"/>
          <p:cNvPicPr>
            <a:picLocks noChangeAspect="1" noChangeArrowheads="1"/>
          </p:cNvPicPr>
          <p:nvPr/>
        </p:nvPicPr>
        <p:blipFill>
          <a:blip r:embed="rId8"/>
          <a:srcRect/>
          <a:stretch>
            <a:fillRect/>
          </a:stretch>
        </p:blipFill>
        <p:spPr bwMode="auto">
          <a:xfrm>
            <a:off x="3905250" y="1628775"/>
            <a:ext cx="5238750" cy="3886200"/>
          </a:xfrm>
          <a:prstGeom prst="rect">
            <a:avLst/>
          </a:prstGeom>
          <a:noFill/>
          <a:ln w="9525">
            <a:noFill/>
            <a:miter lim="800000"/>
            <a:headEnd/>
            <a:tailEnd/>
          </a:ln>
        </p:spPr>
      </p:pic>
      <p:pic>
        <p:nvPicPr>
          <p:cNvPr id="81939" name="Picture 19"/>
          <p:cNvPicPr>
            <a:picLocks noChangeAspect="1" noChangeArrowheads="1"/>
          </p:cNvPicPr>
          <p:nvPr/>
        </p:nvPicPr>
        <p:blipFill>
          <a:blip r:embed="rId9"/>
          <a:srcRect/>
          <a:stretch>
            <a:fillRect/>
          </a:stretch>
        </p:blipFill>
        <p:spPr bwMode="auto">
          <a:xfrm>
            <a:off x="3708400" y="1989138"/>
            <a:ext cx="5238750" cy="3676650"/>
          </a:xfrm>
          <a:prstGeom prst="rect">
            <a:avLst/>
          </a:prstGeom>
          <a:noFill/>
          <a:ln w="9525">
            <a:noFill/>
            <a:miter lim="800000"/>
            <a:headEnd/>
            <a:tailEnd/>
          </a:ln>
        </p:spPr>
      </p:pic>
      <p:pic>
        <p:nvPicPr>
          <p:cNvPr id="81940" name="Picture 20"/>
          <p:cNvPicPr>
            <a:picLocks noChangeAspect="1" noChangeArrowheads="1"/>
          </p:cNvPicPr>
          <p:nvPr/>
        </p:nvPicPr>
        <p:blipFill>
          <a:blip r:embed="rId10"/>
          <a:srcRect/>
          <a:stretch>
            <a:fillRect/>
          </a:stretch>
        </p:blipFill>
        <p:spPr bwMode="auto">
          <a:xfrm>
            <a:off x="4067175" y="2060575"/>
            <a:ext cx="5238750" cy="3924300"/>
          </a:xfrm>
          <a:prstGeom prst="rect">
            <a:avLst/>
          </a:prstGeom>
          <a:noFill/>
          <a:ln w="9525">
            <a:noFill/>
            <a:miter lim="800000"/>
            <a:headEnd/>
            <a:tailEnd/>
          </a:ln>
        </p:spPr>
      </p:pic>
      <p:pic>
        <p:nvPicPr>
          <p:cNvPr id="81941" name="Picture 21"/>
          <p:cNvPicPr>
            <a:picLocks noChangeAspect="1" noChangeArrowheads="1"/>
          </p:cNvPicPr>
          <p:nvPr/>
        </p:nvPicPr>
        <p:blipFill>
          <a:blip r:embed="rId11"/>
          <a:srcRect/>
          <a:stretch>
            <a:fillRect/>
          </a:stretch>
        </p:blipFill>
        <p:spPr bwMode="auto">
          <a:xfrm>
            <a:off x="4356100" y="2205038"/>
            <a:ext cx="5238750" cy="3495675"/>
          </a:xfrm>
          <a:prstGeom prst="rect">
            <a:avLst/>
          </a:prstGeom>
          <a:noFill/>
          <a:ln w="9525">
            <a:noFill/>
            <a:miter lim="800000"/>
            <a:headEnd/>
            <a:tailEnd/>
          </a:ln>
        </p:spPr>
      </p:pic>
      <p:pic>
        <p:nvPicPr>
          <p:cNvPr id="81942" name="Picture 22"/>
          <p:cNvPicPr>
            <a:picLocks noChangeAspect="1" noChangeArrowheads="1"/>
          </p:cNvPicPr>
          <p:nvPr/>
        </p:nvPicPr>
        <p:blipFill>
          <a:blip r:embed="rId12"/>
          <a:srcRect/>
          <a:stretch>
            <a:fillRect/>
          </a:stretch>
        </p:blipFill>
        <p:spPr bwMode="auto">
          <a:xfrm>
            <a:off x="5580063" y="620713"/>
            <a:ext cx="4581525" cy="5238750"/>
          </a:xfrm>
          <a:prstGeom prst="rect">
            <a:avLst/>
          </a:prstGeom>
          <a:noFill/>
          <a:ln w="9525">
            <a:noFill/>
            <a:miter lim="800000"/>
            <a:headEnd/>
            <a:tailEnd/>
          </a:ln>
        </p:spPr>
      </p:pic>
      <p:pic>
        <p:nvPicPr>
          <p:cNvPr id="81943" name="Picture 23"/>
          <p:cNvPicPr>
            <a:picLocks noChangeAspect="1" noChangeArrowheads="1"/>
          </p:cNvPicPr>
          <p:nvPr/>
        </p:nvPicPr>
        <p:blipFill>
          <a:blip r:embed="rId13"/>
          <a:srcRect/>
          <a:stretch>
            <a:fillRect/>
          </a:stretch>
        </p:blipFill>
        <p:spPr bwMode="auto">
          <a:xfrm>
            <a:off x="3635375" y="476250"/>
            <a:ext cx="5076825" cy="3810000"/>
          </a:xfrm>
          <a:prstGeom prst="rect">
            <a:avLst/>
          </a:prstGeom>
          <a:noFill/>
          <a:ln w="9525">
            <a:noFill/>
            <a:miter lim="800000"/>
            <a:headEnd/>
            <a:tailEnd/>
          </a:ln>
        </p:spPr>
      </p:pic>
      <p:pic>
        <p:nvPicPr>
          <p:cNvPr id="81944" name="Picture 24"/>
          <p:cNvPicPr>
            <a:picLocks noChangeAspect="1" noChangeArrowheads="1"/>
          </p:cNvPicPr>
          <p:nvPr/>
        </p:nvPicPr>
        <p:blipFill>
          <a:blip r:embed="rId14"/>
          <a:srcRect/>
          <a:stretch>
            <a:fillRect/>
          </a:stretch>
        </p:blipFill>
        <p:spPr bwMode="auto">
          <a:xfrm>
            <a:off x="3995738" y="0"/>
            <a:ext cx="3779837" cy="5040313"/>
          </a:xfrm>
          <a:prstGeom prst="rect">
            <a:avLst/>
          </a:prstGeom>
          <a:noFill/>
          <a:ln w="9525">
            <a:noFill/>
            <a:miter lim="800000"/>
            <a:headEnd/>
            <a:tailEnd/>
          </a:ln>
        </p:spPr>
      </p:pic>
      <p:pic>
        <p:nvPicPr>
          <p:cNvPr id="81945" name="Picture 25"/>
          <p:cNvPicPr>
            <a:picLocks noChangeAspect="1" noChangeArrowheads="1"/>
          </p:cNvPicPr>
          <p:nvPr/>
        </p:nvPicPr>
        <p:blipFill>
          <a:blip r:embed="rId15"/>
          <a:srcRect/>
          <a:stretch>
            <a:fillRect/>
          </a:stretch>
        </p:blipFill>
        <p:spPr bwMode="auto">
          <a:xfrm>
            <a:off x="3995738" y="1484313"/>
            <a:ext cx="4762500" cy="357187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81931">
                                            <p:txEl>
                                              <p:pRg st="0" end="0"/>
                                            </p:txEl>
                                          </p:spTgt>
                                        </p:tgtEl>
                                        <p:attrNameLst>
                                          <p:attrName>style.color</p:attrName>
                                        </p:attrNameLst>
                                      </p:cBhvr>
                                      <p:to>
                                        <a:srgbClr val="00FFFF"/>
                                      </p:to>
                                    </p:animClr>
                                  </p:childTnLst>
                                </p:cTn>
                              </p:par>
                              <p:par>
                                <p:cTn id="7" presetID="9" presetClass="entr" presetSubtype="0" fill="hold" nodeType="withEffect">
                                  <p:stCondLst>
                                    <p:cond delay="0"/>
                                  </p:stCondLst>
                                  <p:childTnLst>
                                    <p:set>
                                      <p:cBhvr>
                                        <p:cTn id="8" dur="1" fill="hold">
                                          <p:stCondLst>
                                            <p:cond delay="0"/>
                                          </p:stCondLst>
                                        </p:cTn>
                                        <p:tgtEl>
                                          <p:spTgt spid="81944"/>
                                        </p:tgtEl>
                                        <p:attrNameLst>
                                          <p:attrName>style.visibility</p:attrName>
                                        </p:attrNameLst>
                                      </p:cBhvr>
                                      <p:to>
                                        <p:strVal val="visible"/>
                                      </p:to>
                                    </p:set>
                                    <p:animEffect transition="in" filter="dissolve">
                                      <p:cBhvr>
                                        <p:cTn id="9" dur="500"/>
                                        <p:tgtEl>
                                          <p:spTgt spid="81944"/>
                                        </p:tgtEl>
                                      </p:cBhvr>
                                    </p:animEffect>
                                  </p:childTnLst>
                                  <p:subTnLst>
                                    <p:set>
                                      <p:cBhvr override="childStyle">
                                        <p:cTn dur="1" fill="hold" display="0" masterRel="nextClick" afterEffect="1"/>
                                        <p:tgtEl>
                                          <p:spTgt spid="81944"/>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3" presetClass="emph" presetSubtype="2" fill="hold" nodeType="clickEffect">
                                  <p:stCondLst>
                                    <p:cond delay="0"/>
                                  </p:stCondLst>
                                  <p:childTnLst>
                                    <p:animClr clrSpc="rgb" dir="cw">
                                      <p:cBhvr override="childStyle">
                                        <p:cTn id="13" dur="500" fill="hold"/>
                                        <p:tgtEl>
                                          <p:spTgt spid="81931">
                                            <p:txEl>
                                              <p:pRg st="1" end="1"/>
                                            </p:txEl>
                                          </p:spTgt>
                                        </p:tgtEl>
                                        <p:attrNameLst>
                                          <p:attrName>style.color</p:attrName>
                                        </p:attrNameLst>
                                      </p:cBhvr>
                                      <p:to>
                                        <a:srgbClr val="00FFFF"/>
                                      </p:to>
                                    </p:animClr>
                                  </p:childTnLst>
                                </p:cTn>
                              </p:par>
                              <p:par>
                                <p:cTn id="14" presetID="9" presetClass="entr" presetSubtype="0" fill="hold" nodeType="withEffect">
                                  <p:stCondLst>
                                    <p:cond delay="0"/>
                                  </p:stCondLst>
                                  <p:childTnLst>
                                    <p:set>
                                      <p:cBhvr>
                                        <p:cTn id="15" dur="1" fill="hold">
                                          <p:stCondLst>
                                            <p:cond delay="0"/>
                                          </p:stCondLst>
                                        </p:cTn>
                                        <p:tgtEl>
                                          <p:spTgt spid="81939"/>
                                        </p:tgtEl>
                                        <p:attrNameLst>
                                          <p:attrName>style.visibility</p:attrName>
                                        </p:attrNameLst>
                                      </p:cBhvr>
                                      <p:to>
                                        <p:strVal val="visible"/>
                                      </p:to>
                                    </p:set>
                                    <p:animEffect transition="in" filter="dissolve">
                                      <p:cBhvr>
                                        <p:cTn id="16" dur="500"/>
                                        <p:tgtEl>
                                          <p:spTgt spid="81939"/>
                                        </p:tgtEl>
                                      </p:cBhvr>
                                    </p:animEffect>
                                  </p:childTnLst>
                                  <p:subTnLst>
                                    <p:set>
                                      <p:cBhvr override="childStyle">
                                        <p:cTn dur="1" fill="hold" display="0" masterRel="nextClick" afterEffect="1"/>
                                        <p:tgtEl>
                                          <p:spTgt spid="81939"/>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3" presetClass="emph" presetSubtype="2" fill="hold" nodeType="clickEffect">
                                  <p:stCondLst>
                                    <p:cond delay="0"/>
                                  </p:stCondLst>
                                  <p:childTnLst>
                                    <p:animClr clrSpc="rgb" dir="cw">
                                      <p:cBhvr override="childStyle">
                                        <p:cTn id="20" dur="500" fill="hold"/>
                                        <p:tgtEl>
                                          <p:spTgt spid="81931">
                                            <p:txEl>
                                              <p:pRg st="2" end="2"/>
                                            </p:txEl>
                                          </p:spTgt>
                                        </p:tgtEl>
                                        <p:attrNameLst>
                                          <p:attrName>style.color</p:attrName>
                                        </p:attrNameLst>
                                      </p:cBhvr>
                                      <p:to>
                                        <a:srgbClr val="00FFFF"/>
                                      </p:to>
                                    </p:animClr>
                                  </p:childTnLst>
                                </p:cTn>
                              </p:par>
                              <p:par>
                                <p:cTn id="21" presetID="9" presetClass="entr" presetSubtype="0" fill="hold" nodeType="withEffect">
                                  <p:stCondLst>
                                    <p:cond delay="0"/>
                                  </p:stCondLst>
                                  <p:childTnLst>
                                    <p:set>
                                      <p:cBhvr>
                                        <p:cTn id="22" dur="1" fill="hold">
                                          <p:stCondLst>
                                            <p:cond delay="0"/>
                                          </p:stCondLst>
                                        </p:cTn>
                                        <p:tgtEl>
                                          <p:spTgt spid="81941"/>
                                        </p:tgtEl>
                                        <p:attrNameLst>
                                          <p:attrName>style.visibility</p:attrName>
                                        </p:attrNameLst>
                                      </p:cBhvr>
                                      <p:to>
                                        <p:strVal val="visible"/>
                                      </p:to>
                                    </p:set>
                                    <p:animEffect transition="in" filter="dissolve">
                                      <p:cBhvr>
                                        <p:cTn id="23" dur="500"/>
                                        <p:tgtEl>
                                          <p:spTgt spid="81941"/>
                                        </p:tgtEl>
                                      </p:cBhvr>
                                    </p:animEffect>
                                  </p:childTnLst>
                                  <p:subTnLst>
                                    <p:set>
                                      <p:cBhvr override="childStyle">
                                        <p:cTn dur="1" fill="hold" display="0" masterRel="nextClick" afterEffect="1"/>
                                        <p:tgtEl>
                                          <p:spTgt spid="81941"/>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3" presetClass="emph" presetSubtype="2" fill="hold" nodeType="clickEffect">
                                  <p:stCondLst>
                                    <p:cond delay="0"/>
                                  </p:stCondLst>
                                  <p:childTnLst>
                                    <p:animClr clrSpc="rgb" dir="cw">
                                      <p:cBhvr override="childStyle">
                                        <p:cTn id="27" dur="500" fill="hold"/>
                                        <p:tgtEl>
                                          <p:spTgt spid="81931">
                                            <p:txEl>
                                              <p:pRg st="3" end="3"/>
                                            </p:txEl>
                                          </p:spTgt>
                                        </p:tgtEl>
                                        <p:attrNameLst>
                                          <p:attrName>style.color</p:attrName>
                                        </p:attrNameLst>
                                      </p:cBhvr>
                                      <p:to>
                                        <a:srgbClr val="00FFFF"/>
                                      </p:to>
                                    </p:animClr>
                                  </p:childTnLst>
                                </p:cTn>
                              </p:par>
                              <p:par>
                                <p:cTn id="28" presetID="9" presetClass="entr" presetSubtype="0" fill="hold" nodeType="withEffect">
                                  <p:stCondLst>
                                    <p:cond delay="0"/>
                                  </p:stCondLst>
                                  <p:childTnLst>
                                    <p:set>
                                      <p:cBhvr>
                                        <p:cTn id="29" dur="1" fill="hold">
                                          <p:stCondLst>
                                            <p:cond delay="0"/>
                                          </p:stCondLst>
                                        </p:cTn>
                                        <p:tgtEl>
                                          <p:spTgt spid="81942"/>
                                        </p:tgtEl>
                                        <p:attrNameLst>
                                          <p:attrName>style.visibility</p:attrName>
                                        </p:attrNameLst>
                                      </p:cBhvr>
                                      <p:to>
                                        <p:strVal val="visible"/>
                                      </p:to>
                                    </p:set>
                                    <p:animEffect transition="in" filter="dissolve">
                                      <p:cBhvr>
                                        <p:cTn id="30" dur="500"/>
                                        <p:tgtEl>
                                          <p:spTgt spid="81942"/>
                                        </p:tgtEl>
                                      </p:cBhvr>
                                    </p:animEffect>
                                  </p:childTnLst>
                                  <p:subTnLst>
                                    <p:set>
                                      <p:cBhvr override="childStyle">
                                        <p:cTn dur="1" fill="hold" display="0" masterRel="nextClick" afterEffect="1"/>
                                        <p:tgtEl>
                                          <p:spTgt spid="81942"/>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500" fill="hold"/>
                                        <p:tgtEl>
                                          <p:spTgt spid="81931">
                                            <p:txEl>
                                              <p:pRg st="4" end="4"/>
                                            </p:txEl>
                                          </p:spTgt>
                                        </p:tgtEl>
                                        <p:attrNameLst>
                                          <p:attrName>style.color</p:attrName>
                                        </p:attrNameLst>
                                      </p:cBhvr>
                                      <p:to>
                                        <a:srgbClr val="00FFFF"/>
                                      </p:to>
                                    </p:animClr>
                                  </p:childTnLst>
                                </p:cTn>
                              </p:par>
                              <p:par>
                                <p:cTn id="35" presetID="9" presetClass="entr" presetSubtype="0" fill="hold" nodeType="withEffect">
                                  <p:stCondLst>
                                    <p:cond delay="0"/>
                                  </p:stCondLst>
                                  <p:childTnLst>
                                    <p:set>
                                      <p:cBhvr>
                                        <p:cTn id="36" dur="1" fill="hold">
                                          <p:stCondLst>
                                            <p:cond delay="0"/>
                                          </p:stCondLst>
                                        </p:cTn>
                                        <p:tgtEl>
                                          <p:spTgt spid="81940"/>
                                        </p:tgtEl>
                                        <p:attrNameLst>
                                          <p:attrName>style.visibility</p:attrName>
                                        </p:attrNameLst>
                                      </p:cBhvr>
                                      <p:to>
                                        <p:strVal val="visible"/>
                                      </p:to>
                                    </p:set>
                                    <p:animEffect transition="in" filter="dissolve">
                                      <p:cBhvr>
                                        <p:cTn id="37" dur="500"/>
                                        <p:tgtEl>
                                          <p:spTgt spid="81940"/>
                                        </p:tgtEl>
                                      </p:cBhvr>
                                    </p:animEffect>
                                  </p:childTnLst>
                                  <p:subTnLst>
                                    <p:set>
                                      <p:cBhvr override="childStyle">
                                        <p:cTn dur="1" fill="hold" display="0" masterRel="nextClick" afterEffect="1"/>
                                        <p:tgtEl>
                                          <p:spTgt spid="81940"/>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3" presetClass="emph" presetSubtype="2" fill="hold" nodeType="clickEffect">
                                  <p:stCondLst>
                                    <p:cond delay="0"/>
                                  </p:stCondLst>
                                  <p:childTnLst>
                                    <p:animClr clrSpc="rgb" dir="cw">
                                      <p:cBhvr override="childStyle">
                                        <p:cTn id="41" dur="500" fill="hold"/>
                                        <p:tgtEl>
                                          <p:spTgt spid="81931">
                                            <p:txEl>
                                              <p:pRg st="5" end="5"/>
                                            </p:txEl>
                                          </p:spTgt>
                                        </p:tgtEl>
                                        <p:attrNameLst>
                                          <p:attrName>style.color</p:attrName>
                                        </p:attrNameLst>
                                      </p:cBhvr>
                                      <p:to>
                                        <a:srgbClr val="00FFFF"/>
                                      </p:to>
                                    </p:animClr>
                                  </p:childTnLst>
                                </p:cTn>
                              </p:par>
                              <p:par>
                                <p:cTn id="42" presetID="9" presetClass="entr" presetSubtype="0" fill="hold" nodeType="withEffect">
                                  <p:stCondLst>
                                    <p:cond delay="0"/>
                                  </p:stCondLst>
                                  <p:childTnLst>
                                    <p:set>
                                      <p:cBhvr>
                                        <p:cTn id="43" dur="1" fill="hold">
                                          <p:stCondLst>
                                            <p:cond delay="0"/>
                                          </p:stCondLst>
                                        </p:cTn>
                                        <p:tgtEl>
                                          <p:spTgt spid="81935"/>
                                        </p:tgtEl>
                                        <p:attrNameLst>
                                          <p:attrName>style.visibility</p:attrName>
                                        </p:attrNameLst>
                                      </p:cBhvr>
                                      <p:to>
                                        <p:strVal val="visible"/>
                                      </p:to>
                                    </p:set>
                                    <p:animEffect transition="in" filter="dissolve">
                                      <p:cBhvr>
                                        <p:cTn id="44" dur="500"/>
                                        <p:tgtEl>
                                          <p:spTgt spid="81935"/>
                                        </p:tgtEl>
                                      </p:cBhvr>
                                    </p:animEffect>
                                  </p:childTnLst>
                                  <p:subTnLst>
                                    <p:set>
                                      <p:cBhvr override="childStyle">
                                        <p:cTn dur="1" fill="hold" display="0" masterRel="nextClick" afterEffect="1"/>
                                        <p:tgtEl>
                                          <p:spTgt spid="81935"/>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81938"/>
                                        </p:tgtEl>
                                        <p:attrNameLst>
                                          <p:attrName>style.visibility</p:attrName>
                                        </p:attrNameLst>
                                      </p:cBhvr>
                                      <p:to>
                                        <p:strVal val="visible"/>
                                      </p:to>
                                    </p:set>
                                    <p:animEffect transition="in" filter="dissolve">
                                      <p:cBhvr>
                                        <p:cTn id="49" dur="500"/>
                                        <p:tgtEl>
                                          <p:spTgt spid="81938"/>
                                        </p:tgtEl>
                                      </p:cBhvr>
                                    </p:animEffect>
                                  </p:childTnLst>
                                  <p:subTnLst>
                                    <p:set>
                                      <p:cBhvr override="childStyle">
                                        <p:cTn dur="1" fill="hold" display="0" masterRel="nextClick" afterEffect="1"/>
                                        <p:tgtEl>
                                          <p:spTgt spid="81938"/>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3" presetClass="emph" presetSubtype="2" fill="hold" nodeType="clickEffect">
                                  <p:stCondLst>
                                    <p:cond delay="0"/>
                                  </p:stCondLst>
                                  <p:childTnLst>
                                    <p:animClr clrSpc="rgb" dir="cw">
                                      <p:cBhvr override="childStyle">
                                        <p:cTn id="53" dur="500" fill="hold"/>
                                        <p:tgtEl>
                                          <p:spTgt spid="81931">
                                            <p:txEl>
                                              <p:pRg st="6" end="6"/>
                                            </p:txEl>
                                          </p:spTgt>
                                        </p:tgtEl>
                                        <p:attrNameLst>
                                          <p:attrName>style.color</p:attrName>
                                        </p:attrNameLst>
                                      </p:cBhvr>
                                      <p:to>
                                        <a:srgbClr val="00FFFF"/>
                                      </p:to>
                                    </p:animClr>
                                  </p:childTnLst>
                                </p:cTn>
                              </p:par>
                              <p:par>
                                <p:cTn id="54" presetID="9" presetClass="entr" presetSubtype="0" fill="hold" nodeType="withEffect">
                                  <p:stCondLst>
                                    <p:cond delay="0"/>
                                  </p:stCondLst>
                                  <p:childTnLst>
                                    <p:set>
                                      <p:cBhvr>
                                        <p:cTn id="55" dur="1" fill="hold">
                                          <p:stCondLst>
                                            <p:cond delay="0"/>
                                          </p:stCondLst>
                                        </p:cTn>
                                        <p:tgtEl>
                                          <p:spTgt spid="81943"/>
                                        </p:tgtEl>
                                        <p:attrNameLst>
                                          <p:attrName>style.visibility</p:attrName>
                                        </p:attrNameLst>
                                      </p:cBhvr>
                                      <p:to>
                                        <p:strVal val="visible"/>
                                      </p:to>
                                    </p:set>
                                    <p:animEffect transition="in" filter="dissolve">
                                      <p:cBhvr>
                                        <p:cTn id="56" dur="500"/>
                                        <p:tgtEl>
                                          <p:spTgt spid="81943"/>
                                        </p:tgtEl>
                                      </p:cBhvr>
                                    </p:animEffect>
                                  </p:childTnLst>
                                  <p:subTnLst>
                                    <p:set>
                                      <p:cBhvr override="childStyle">
                                        <p:cTn dur="1" fill="hold" display="0" masterRel="nextClick" afterEffect="1"/>
                                        <p:tgtEl>
                                          <p:spTgt spid="81943"/>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3" presetClass="emph" presetSubtype="2" fill="hold" nodeType="clickEffect">
                                  <p:stCondLst>
                                    <p:cond delay="0"/>
                                  </p:stCondLst>
                                  <p:childTnLst>
                                    <p:animClr clrSpc="rgb" dir="cw">
                                      <p:cBhvr override="childStyle">
                                        <p:cTn id="60" dur="500" fill="hold"/>
                                        <p:tgtEl>
                                          <p:spTgt spid="81931">
                                            <p:txEl>
                                              <p:pRg st="7" end="7"/>
                                            </p:txEl>
                                          </p:spTgt>
                                        </p:tgtEl>
                                        <p:attrNameLst>
                                          <p:attrName>style.color</p:attrName>
                                        </p:attrNameLst>
                                      </p:cBhvr>
                                      <p:to>
                                        <a:srgbClr val="00FFFF"/>
                                      </p:to>
                                    </p:animClr>
                                  </p:childTnLst>
                                </p:cTn>
                              </p:par>
                              <p:par>
                                <p:cTn id="61" presetID="1" presetClass="entr" presetSubtype="0" fill="hold" nodeType="withEffect">
                                  <p:stCondLst>
                                    <p:cond delay="0"/>
                                  </p:stCondLst>
                                  <p:childTnLst>
                                    <p:set>
                                      <p:cBhvr>
                                        <p:cTn id="62" dur="1" fill="hold">
                                          <p:stCondLst>
                                            <p:cond delay="0"/>
                                          </p:stCondLst>
                                        </p:cTn>
                                        <p:tgtEl>
                                          <p:spTgt spid="81932"/>
                                        </p:tgtEl>
                                        <p:attrNameLst>
                                          <p:attrName>style.visibility</p:attrName>
                                        </p:attrNameLst>
                                      </p:cBhvr>
                                      <p:to>
                                        <p:strVal val="visible"/>
                                      </p:to>
                                    </p:set>
                                  </p:childTnLst>
                                  <p:subTnLst>
                                    <p:set>
                                      <p:cBhvr override="childStyle">
                                        <p:cTn dur="1" fill="hold" display="0" masterRel="nextClick" afterEffect="1"/>
                                        <p:tgtEl>
                                          <p:spTgt spid="81932"/>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3" presetClass="emph" presetSubtype="2" fill="hold" nodeType="clickEffect">
                                  <p:stCondLst>
                                    <p:cond delay="0"/>
                                  </p:stCondLst>
                                  <p:childTnLst>
                                    <p:animClr clrSpc="rgb" dir="cw">
                                      <p:cBhvr override="childStyle">
                                        <p:cTn id="66" dur="500" fill="hold"/>
                                        <p:tgtEl>
                                          <p:spTgt spid="81931">
                                            <p:txEl>
                                              <p:pRg st="8" end="8"/>
                                            </p:txEl>
                                          </p:spTgt>
                                        </p:tgtEl>
                                        <p:attrNameLst>
                                          <p:attrName>style.color</p:attrName>
                                        </p:attrNameLst>
                                      </p:cBhvr>
                                      <p:to>
                                        <a:srgbClr val="00FFFF"/>
                                      </p:to>
                                    </p:animClr>
                                  </p:childTnLst>
                                </p:cTn>
                              </p:par>
                              <p:par>
                                <p:cTn id="67" presetID="1" presetClass="entr" presetSubtype="0" fill="hold" nodeType="withEffect">
                                  <p:stCondLst>
                                    <p:cond delay="0"/>
                                  </p:stCondLst>
                                  <p:childTnLst>
                                    <p:set>
                                      <p:cBhvr>
                                        <p:cTn id="68" dur="1" fill="hold">
                                          <p:stCondLst>
                                            <p:cond delay="0"/>
                                          </p:stCondLst>
                                        </p:cTn>
                                        <p:tgtEl>
                                          <p:spTgt spid="81937"/>
                                        </p:tgtEl>
                                        <p:attrNameLst>
                                          <p:attrName>style.visibility</p:attrName>
                                        </p:attrNameLst>
                                      </p:cBhvr>
                                      <p:to>
                                        <p:strVal val="visible"/>
                                      </p:to>
                                    </p:set>
                                  </p:childTnLst>
                                  <p:subTnLst>
                                    <p:set>
                                      <p:cBhvr override="childStyle">
                                        <p:cTn dur="1" fill="hold" display="0" masterRel="nextClick" afterEffect="1"/>
                                        <p:tgtEl>
                                          <p:spTgt spid="81937"/>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3" presetClass="emph" presetSubtype="2" fill="hold" nodeType="clickEffect">
                                  <p:stCondLst>
                                    <p:cond delay="0"/>
                                  </p:stCondLst>
                                  <p:childTnLst>
                                    <p:animClr clrSpc="rgb" dir="cw">
                                      <p:cBhvr override="childStyle">
                                        <p:cTn id="72" dur="500" fill="hold"/>
                                        <p:tgtEl>
                                          <p:spTgt spid="81931">
                                            <p:txEl>
                                              <p:pRg st="9" end="9"/>
                                            </p:txEl>
                                          </p:spTgt>
                                        </p:tgtEl>
                                        <p:attrNameLst>
                                          <p:attrName>style.color</p:attrName>
                                        </p:attrNameLst>
                                      </p:cBhvr>
                                      <p:to>
                                        <a:srgbClr val="00FFFF"/>
                                      </p:to>
                                    </p:animClr>
                                  </p:childTnLst>
                                </p:cTn>
                              </p:par>
                              <p:par>
                                <p:cTn id="73" presetID="9" presetClass="entr" presetSubtype="0" fill="hold" nodeType="withEffect">
                                  <p:stCondLst>
                                    <p:cond delay="0"/>
                                  </p:stCondLst>
                                  <p:childTnLst>
                                    <p:set>
                                      <p:cBhvr>
                                        <p:cTn id="74" dur="1" fill="hold">
                                          <p:stCondLst>
                                            <p:cond delay="0"/>
                                          </p:stCondLst>
                                        </p:cTn>
                                        <p:tgtEl>
                                          <p:spTgt spid="81936"/>
                                        </p:tgtEl>
                                        <p:attrNameLst>
                                          <p:attrName>style.visibility</p:attrName>
                                        </p:attrNameLst>
                                      </p:cBhvr>
                                      <p:to>
                                        <p:strVal val="visible"/>
                                      </p:to>
                                    </p:set>
                                    <p:animEffect transition="in" filter="dissolve">
                                      <p:cBhvr>
                                        <p:cTn id="75" dur="500"/>
                                        <p:tgtEl>
                                          <p:spTgt spid="81936"/>
                                        </p:tgtEl>
                                      </p:cBhvr>
                                    </p:animEffect>
                                  </p:childTnLst>
                                  <p:subTnLst>
                                    <p:set>
                                      <p:cBhvr override="childStyle">
                                        <p:cTn dur="1" fill="hold" display="0" masterRel="nextClick" afterEffect="1"/>
                                        <p:tgtEl>
                                          <p:spTgt spid="81936"/>
                                        </p:tgtEl>
                                        <p:attrNameLst>
                                          <p:attrName>style.visibility</p:attrName>
                                        </p:attrNameLst>
                                      </p:cBhvr>
                                      <p:to>
                                        <p:strVal val="hidden"/>
                                      </p:to>
                                    </p:set>
                                  </p:subTnLst>
                                </p:cTn>
                              </p:par>
                              <p:par>
                                <p:cTn id="76" presetID="9" presetClass="entr" presetSubtype="0" fill="hold" nodeType="withEffect">
                                  <p:stCondLst>
                                    <p:cond delay="0"/>
                                  </p:stCondLst>
                                  <p:childTnLst>
                                    <p:set>
                                      <p:cBhvr>
                                        <p:cTn id="77" dur="1" fill="hold">
                                          <p:stCondLst>
                                            <p:cond delay="0"/>
                                          </p:stCondLst>
                                        </p:cTn>
                                        <p:tgtEl>
                                          <p:spTgt spid="81933"/>
                                        </p:tgtEl>
                                        <p:attrNameLst>
                                          <p:attrName>style.visibility</p:attrName>
                                        </p:attrNameLst>
                                      </p:cBhvr>
                                      <p:to>
                                        <p:strVal val="visible"/>
                                      </p:to>
                                    </p:set>
                                    <p:animEffect transition="in" filter="dissolve">
                                      <p:cBhvr>
                                        <p:cTn id="78" dur="500"/>
                                        <p:tgtEl>
                                          <p:spTgt spid="81933"/>
                                        </p:tgtEl>
                                      </p:cBhvr>
                                    </p:animEffect>
                                  </p:childTnLst>
                                  <p:subTnLst>
                                    <p:set>
                                      <p:cBhvr override="childStyle">
                                        <p:cTn dur="1" fill="hold" display="0" masterRel="nextClick" afterEffect="1"/>
                                        <p:tgtEl>
                                          <p:spTgt spid="81933"/>
                                        </p:tgtEl>
                                        <p:attrNameLst>
                                          <p:attrName>style.visibility</p:attrName>
                                        </p:attrNameLst>
                                      </p:cBhvr>
                                      <p:to>
                                        <p:strVal val="hidden"/>
                                      </p:to>
                                    </p:set>
                                  </p:subTnLst>
                                </p:cTn>
                              </p:par>
                              <p:par>
                                <p:cTn id="79" presetID="9" presetClass="entr" presetSubtype="0" fill="hold" nodeType="withEffect">
                                  <p:stCondLst>
                                    <p:cond delay="0"/>
                                  </p:stCondLst>
                                  <p:childTnLst>
                                    <p:set>
                                      <p:cBhvr>
                                        <p:cTn id="80" dur="1" fill="hold">
                                          <p:stCondLst>
                                            <p:cond delay="0"/>
                                          </p:stCondLst>
                                        </p:cTn>
                                        <p:tgtEl>
                                          <p:spTgt spid="81934"/>
                                        </p:tgtEl>
                                        <p:attrNameLst>
                                          <p:attrName>style.visibility</p:attrName>
                                        </p:attrNameLst>
                                      </p:cBhvr>
                                      <p:to>
                                        <p:strVal val="visible"/>
                                      </p:to>
                                    </p:set>
                                    <p:animEffect transition="in" filter="dissolve">
                                      <p:cBhvr>
                                        <p:cTn id="81" dur="500"/>
                                        <p:tgtEl>
                                          <p:spTgt spid="81934"/>
                                        </p:tgtEl>
                                      </p:cBhvr>
                                    </p:animEffect>
                                  </p:childTnLst>
                                  <p:subTnLst>
                                    <p:set>
                                      <p:cBhvr override="childStyle">
                                        <p:cTn dur="1" fill="hold" display="0" masterRel="nextClick" afterEffect="1"/>
                                        <p:tgtEl>
                                          <p:spTgt spid="81934"/>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3" presetClass="emph" presetSubtype="2" fill="hold" nodeType="clickEffect">
                                  <p:stCondLst>
                                    <p:cond delay="0"/>
                                  </p:stCondLst>
                                  <p:childTnLst>
                                    <p:animClr clrSpc="rgb" dir="cw">
                                      <p:cBhvr override="childStyle">
                                        <p:cTn id="85" dur="500" fill="hold"/>
                                        <p:tgtEl>
                                          <p:spTgt spid="81931">
                                            <p:txEl>
                                              <p:pRg st="10" end="10"/>
                                            </p:txEl>
                                          </p:spTgt>
                                        </p:tgtEl>
                                        <p:attrNameLst>
                                          <p:attrName>style.color</p:attrName>
                                        </p:attrNameLst>
                                      </p:cBhvr>
                                      <p:to>
                                        <a:srgbClr val="00FFFF"/>
                                      </p:to>
                                    </p:animClr>
                                  </p:childTnLst>
                                </p:cTn>
                              </p:par>
                              <p:par>
                                <p:cTn id="86" presetID="9" presetClass="entr" presetSubtype="0" fill="hold" nodeType="withEffect">
                                  <p:stCondLst>
                                    <p:cond delay="0"/>
                                  </p:stCondLst>
                                  <p:childTnLst>
                                    <p:set>
                                      <p:cBhvr>
                                        <p:cTn id="87" dur="1" fill="hold">
                                          <p:stCondLst>
                                            <p:cond delay="0"/>
                                          </p:stCondLst>
                                        </p:cTn>
                                        <p:tgtEl>
                                          <p:spTgt spid="81945"/>
                                        </p:tgtEl>
                                        <p:attrNameLst>
                                          <p:attrName>style.visibility</p:attrName>
                                        </p:attrNameLst>
                                      </p:cBhvr>
                                      <p:to>
                                        <p:strVal val="visible"/>
                                      </p:to>
                                    </p:set>
                                    <p:animEffect transition="in" filter="dissolve">
                                      <p:cBhvr>
                                        <p:cTn id="88" dur="500"/>
                                        <p:tgtEl>
                                          <p:spTgt spid="81945"/>
                                        </p:tgtEl>
                                      </p:cBhvr>
                                    </p:animEffect>
                                  </p:childTnLst>
                                </p:cTn>
                              </p:par>
                              <p:par>
                                <p:cTn id="89" presetID="50" presetClass="entr" presetSubtype="0" decel="10000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 calcmode="lin" valueType="num">
                                      <p:cBhvr>
                                        <p:cTn id="91" dur="1000" fill="hold"/>
                                        <p:tgtEl>
                                          <p:spTgt spid="18"/>
                                        </p:tgtEl>
                                        <p:attrNameLst>
                                          <p:attrName>ppt_w</p:attrName>
                                        </p:attrNameLst>
                                      </p:cBhvr>
                                      <p:tavLst>
                                        <p:tav tm="0">
                                          <p:val>
                                            <p:strVal val="#ppt_w+.3"/>
                                          </p:val>
                                        </p:tav>
                                        <p:tav tm="100000">
                                          <p:val>
                                            <p:strVal val="#ppt_w"/>
                                          </p:val>
                                        </p:tav>
                                      </p:tavLst>
                                    </p:anim>
                                    <p:anim calcmode="lin" valueType="num">
                                      <p:cBhvr>
                                        <p:cTn id="92" dur="1000" fill="hold"/>
                                        <p:tgtEl>
                                          <p:spTgt spid="18"/>
                                        </p:tgtEl>
                                        <p:attrNameLst>
                                          <p:attrName>ppt_h</p:attrName>
                                        </p:attrNameLst>
                                      </p:cBhvr>
                                      <p:tavLst>
                                        <p:tav tm="0">
                                          <p:val>
                                            <p:strVal val="#ppt_h"/>
                                          </p:val>
                                        </p:tav>
                                        <p:tav tm="100000">
                                          <p:val>
                                            <p:strVal val="#ppt_h"/>
                                          </p:val>
                                        </p:tav>
                                      </p:tavLst>
                                    </p:anim>
                                    <p:animEffect transition="in" filter="fade">
                                      <p:cBhvr>
                                        <p:cTn id="93"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Заголовок 1"/>
          <p:cNvSpPr txBox="1">
            <a:spLocks/>
          </p:cNvSpPr>
          <p:nvPr/>
        </p:nvSpPr>
        <p:spPr>
          <a:xfrm>
            <a:off x="323850" y="440294"/>
            <a:ext cx="8469313" cy="738664"/>
          </a:xfrm>
          <a:prstGeom prst="rect">
            <a:avLst/>
          </a:prstGeom>
        </p:spPr>
        <p:txBody>
          <a:bodyPr wrap="square" lIns="0" tIns="0" rIns="0" bIns="0" anchor="b">
            <a:spAutoFit/>
          </a:bodyPr>
          <a:lstStyle/>
          <a:p>
            <a:pPr algn="ctr">
              <a:lnSpc>
                <a:spcPct val="80000"/>
              </a:lnSpc>
              <a:defRPr/>
            </a:pPr>
            <a:r>
              <a:rPr lang="ru-RU" sz="2400" b="1" dirty="0">
                <a:effectLst>
                  <a:outerShdw blurRad="38100" dist="38100" dir="2700000" algn="tl">
                    <a:srgbClr val="C0C0C0"/>
                  </a:outerShdw>
                </a:effectLst>
                <a:latin typeface="Arial" pitchFamily="34" charset="0"/>
                <a:cs typeface="Arial" pitchFamily="34" charset="0"/>
              </a:rPr>
              <a:t>ГОСТ Р </a:t>
            </a:r>
            <a:r>
              <a:rPr lang="ru-RU" sz="2400" b="1" dirty="0" smtClean="0">
                <a:effectLst>
                  <a:outerShdw blurRad="38100" dist="38100" dir="2700000" algn="tl">
                    <a:srgbClr val="C0C0C0"/>
                  </a:outerShdw>
                </a:effectLst>
                <a:latin typeface="Arial" pitchFamily="34" charset="0"/>
                <a:cs typeface="Arial" pitchFamily="34" charset="0"/>
              </a:rPr>
              <a:t>12.0.010-2009</a:t>
            </a:r>
          </a:p>
          <a:p>
            <a:pPr algn="ctr">
              <a:lnSpc>
                <a:spcPct val="80000"/>
              </a:lnSpc>
              <a:defRPr/>
            </a:pPr>
            <a:r>
              <a:rPr lang="ru-RU" sz="1800" b="1" dirty="0" smtClean="0">
                <a:cs typeface="Arial" pitchFamily="34" charset="0"/>
              </a:rPr>
              <a:t>«ССБТ. Система управления охраной труда. </a:t>
            </a:r>
          </a:p>
          <a:p>
            <a:pPr algn="ctr">
              <a:lnSpc>
                <a:spcPct val="80000"/>
              </a:lnSpc>
              <a:defRPr/>
            </a:pPr>
            <a:r>
              <a:rPr lang="ru-RU" sz="1800" b="1" dirty="0" smtClean="0">
                <a:cs typeface="Arial" pitchFamily="34" charset="0"/>
              </a:rPr>
              <a:t>Определение опасностей и оценка рисков»</a:t>
            </a:r>
            <a:endParaRPr lang="ru-RU" sz="2800" b="1" dirty="0">
              <a:effectLst>
                <a:outerShdw blurRad="38100" dist="38100" dir="2700000" algn="tl">
                  <a:srgbClr val="C0C0C0"/>
                </a:outerShdw>
              </a:effectLst>
              <a:latin typeface="Arial" pitchFamily="34" charset="0"/>
              <a:cs typeface="Arial" pitchFamily="34" charset="0"/>
            </a:endParaRPr>
          </a:p>
        </p:txBody>
      </p:sp>
      <p:sp>
        <p:nvSpPr>
          <p:cNvPr id="7" name="Скругленный прямоугольник 6"/>
          <p:cNvSpPr/>
          <p:nvPr/>
        </p:nvSpPr>
        <p:spPr>
          <a:xfrm>
            <a:off x="323850" y="1514475"/>
            <a:ext cx="8316913" cy="58102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800" b="1" dirty="0">
                <a:solidFill>
                  <a:srgbClr val="002060"/>
                </a:solidFill>
                <a:latin typeface="Garamond" pitchFamily="18" charset="0"/>
                <a:cs typeface="Arial" pitchFamily="34" charset="0"/>
              </a:rPr>
              <a:t> </a:t>
            </a:r>
            <a:r>
              <a:rPr lang="ru-RU" sz="1800" dirty="0">
                <a:solidFill>
                  <a:srgbClr val="002060"/>
                </a:solidFill>
              </a:rPr>
              <a:t>Опасности, связанные с </a:t>
            </a:r>
            <a:r>
              <a:rPr lang="ru-RU" sz="1800" b="1" dirty="0">
                <a:solidFill>
                  <a:srgbClr val="002060"/>
                </a:solidFill>
              </a:rPr>
              <a:t>профессиональной деятельностью</a:t>
            </a:r>
            <a:r>
              <a:rPr lang="ru-RU" sz="1800" dirty="0">
                <a:solidFill>
                  <a:srgbClr val="002060"/>
                </a:solidFill>
              </a:rPr>
              <a:t> работника</a:t>
            </a:r>
            <a:endParaRPr lang="ru-RU" altLang="ja-JP" sz="1800" b="1" dirty="0">
              <a:solidFill>
                <a:srgbClr val="002060"/>
              </a:solidFill>
              <a:latin typeface="Garamond" pitchFamily="18" charset="0"/>
              <a:cs typeface="Arial" pitchFamily="34" charset="0"/>
            </a:endParaRPr>
          </a:p>
        </p:txBody>
      </p:sp>
      <p:sp>
        <p:nvSpPr>
          <p:cNvPr id="8" name="Скругленный прямоугольник 7"/>
          <p:cNvSpPr/>
          <p:nvPr/>
        </p:nvSpPr>
        <p:spPr>
          <a:xfrm>
            <a:off x="323850" y="2373313"/>
            <a:ext cx="8316913" cy="59055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800" b="1" dirty="0">
                <a:solidFill>
                  <a:srgbClr val="002060"/>
                </a:solidFill>
                <a:latin typeface="Garamond" pitchFamily="18" charset="0"/>
                <a:cs typeface="Arial" pitchFamily="34" charset="0"/>
              </a:rPr>
              <a:t> </a:t>
            </a:r>
            <a:r>
              <a:rPr lang="ru-RU" sz="1800" dirty="0">
                <a:solidFill>
                  <a:srgbClr val="002060"/>
                </a:solidFill>
              </a:rPr>
              <a:t>Опасности, </a:t>
            </a:r>
            <a:r>
              <a:rPr lang="ru-RU" sz="1800" b="1" dirty="0">
                <a:solidFill>
                  <a:srgbClr val="002060"/>
                </a:solidFill>
              </a:rPr>
              <a:t>связанные с производственной деятельностью организации</a:t>
            </a:r>
            <a:endParaRPr lang="ru-RU" altLang="ja-JP" sz="1800" b="1" dirty="0">
              <a:solidFill>
                <a:srgbClr val="002060"/>
              </a:solidFill>
              <a:latin typeface="Garamond" pitchFamily="18" charset="0"/>
              <a:cs typeface="Arial" pitchFamily="34" charset="0"/>
            </a:endParaRPr>
          </a:p>
        </p:txBody>
      </p:sp>
      <p:sp>
        <p:nvSpPr>
          <p:cNvPr id="9" name="Скругленный прямоугольник 8"/>
          <p:cNvSpPr/>
          <p:nvPr/>
        </p:nvSpPr>
        <p:spPr>
          <a:xfrm>
            <a:off x="323850" y="3052689"/>
            <a:ext cx="8316913" cy="248443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800" b="1" dirty="0">
                <a:solidFill>
                  <a:srgbClr val="002060"/>
                </a:solidFill>
                <a:latin typeface="Garamond" pitchFamily="18" charset="0"/>
                <a:cs typeface="Arial" pitchFamily="34" charset="0"/>
              </a:rPr>
              <a:t> </a:t>
            </a:r>
            <a:r>
              <a:rPr lang="ru-RU" sz="1800" dirty="0">
                <a:solidFill>
                  <a:srgbClr val="002060"/>
                </a:solidFill>
              </a:rPr>
              <a:t>Опасности, </a:t>
            </a:r>
            <a:r>
              <a:rPr lang="ru-RU" sz="1800" b="1" dirty="0">
                <a:solidFill>
                  <a:srgbClr val="002060"/>
                </a:solidFill>
              </a:rPr>
              <a:t>не связанные с профессиональной деятельностью работника и производственной деятельностью организации:</a:t>
            </a:r>
          </a:p>
          <a:p>
            <a:pPr algn="ctr">
              <a:buFont typeface="Wingdings" pitchFamily="2" charset="2"/>
              <a:buChar char="Ø"/>
              <a:defRPr/>
            </a:pPr>
            <a:r>
              <a:rPr lang="ru-RU" sz="1800" dirty="0">
                <a:solidFill>
                  <a:srgbClr val="002060"/>
                </a:solidFill>
              </a:rPr>
              <a:t>Тяжелые физико-географические и климатические условия: полярные, высокогорные, пустынные, необжитые районы и т.д.</a:t>
            </a:r>
          </a:p>
          <a:p>
            <a:pPr algn="ctr">
              <a:buFont typeface="Wingdings" pitchFamily="2" charset="2"/>
              <a:buChar char="Ø"/>
              <a:defRPr/>
            </a:pPr>
            <a:r>
              <a:rPr lang="ru-RU" sz="1800" dirty="0">
                <a:solidFill>
                  <a:srgbClr val="002060"/>
                </a:solidFill>
              </a:rPr>
              <a:t>Размещение вблизи техногенных источников опасности - плотин, АЭС, магистральных трубопроводов, линий электропередачи и т.д.</a:t>
            </a:r>
          </a:p>
          <a:p>
            <a:pPr algn="ctr">
              <a:buFont typeface="Wingdings" pitchFamily="2" charset="2"/>
              <a:buChar char="Ø"/>
              <a:defRPr/>
            </a:pPr>
            <a:r>
              <a:rPr lang="ru-RU" sz="1800" dirty="0">
                <a:solidFill>
                  <a:srgbClr val="002060"/>
                </a:solidFill>
              </a:rPr>
              <a:t>Размещение в пространстве (в космосе, над землей, на воде, под водой и т.д.).</a:t>
            </a:r>
            <a:endParaRPr lang="ru-RU" altLang="ja-JP" sz="1800" b="1" dirty="0">
              <a:solidFill>
                <a:srgbClr val="002060"/>
              </a:solidFill>
              <a:latin typeface="Garamond" pitchFamily="18" charset="0"/>
              <a:cs typeface="Arial" pitchFamily="34" charset="0"/>
            </a:endParaRPr>
          </a:p>
        </p:txBody>
      </p:sp>
      <p:sp>
        <p:nvSpPr>
          <p:cNvPr id="10" name="Скругленный прямоугольник 9"/>
          <p:cNvSpPr/>
          <p:nvPr/>
        </p:nvSpPr>
        <p:spPr>
          <a:xfrm>
            <a:off x="476250" y="5736431"/>
            <a:ext cx="8316913" cy="868363"/>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1800" b="1" dirty="0">
                <a:solidFill>
                  <a:srgbClr val="002060"/>
                </a:solidFill>
                <a:latin typeface="Garamond" pitchFamily="18" charset="0"/>
                <a:cs typeface="Arial" pitchFamily="34" charset="0"/>
              </a:rPr>
              <a:t> </a:t>
            </a:r>
            <a:r>
              <a:rPr lang="ru-RU" sz="1800" dirty="0">
                <a:solidFill>
                  <a:srgbClr val="002060"/>
                </a:solidFill>
              </a:rPr>
              <a:t>Опасности, </a:t>
            </a:r>
            <a:r>
              <a:rPr lang="ru-RU" sz="1800" b="1" dirty="0">
                <a:solidFill>
                  <a:srgbClr val="002060"/>
                </a:solidFill>
              </a:rPr>
              <a:t>связанные с работником</a:t>
            </a:r>
            <a:r>
              <a:rPr lang="ru-RU" sz="1800" dirty="0">
                <a:solidFill>
                  <a:srgbClr val="002060"/>
                </a:solidFill>
              </a:rPr>
              <a:t>, выполняющим данную работу</a:t>
            </a:r>
            <a:br>
              <a:rPr lang="ru-RU" sz="1800" dirty="0">
                <a:solidFill>
                  <a:srgbClr val="002060"/>
                </a:solidFill>
              </a:rPr>
            </a:br>
            <a:endParaRPr lang="ru-RU" altLang="ja-JP" sz="1800" b="1" dirty="0">
              <a:solidFill>
                <a:srgbClr val="002060"/>
              </a:solidFill>
              <a:latin typeface="Garamond" pitchFamily="18" charset="0"/>
              <a:cs typeface="Arial" pitchFamily="34" charset="0"/>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1" name="Picture 13" descr="http://cdn1.itpro.co.uk/sites/itpro/files/styles/gallery_wide/public/images/dir_197/it_photo_98569.jpg"/>
          <p:cNvPicPr>
            <a:picLocks noChangeAspect="1" noChangeArrowheads="1"/>
          </p:cNvPicPr>
          <p:nvPr/>
        </p:nvPicPr>
        <p:blipFill>
          <a:blip r:embed="rId2"/>
          <a:srcRect/>
          <a:stretch>
            <a:fillRect/>
          </a:stretch>
        </p:blipFill>
        <p:spPr bwMode="auto">
          <a:xfrm>
            <a:off x="0" y="1052513"/>
            <a:ext cx="2376488" cy="1847850"/>
          </a:xfrm>
          <a:prstGeom prst="rect">
            <a:avLst/>
          </a:prstGeom>
          <a:noFill/>
          <a:ln w="9525">
            <a:noFill/>
            <a:miter lim="800000"/>
            <a:headEnd/>
            <a:tailEnd/>
          </a:ln>
        </p:spPr>
      </p:pic>
      <p:sp>
        <p:nvSpPr>
          <p:cNvPr id="128002" name="Rectangle 4"/>
          <p:cNvSpPr>
            <a:spLocks noChangeArrowheads="1"/>
          </p:cNvSpPr>
          <p:nvPr/>
        </p:nvSpPr>
        <p:spPr bwMode="auto">
          <a:xfrm>
            <a:off x="555625" y="284163"/>
            <a:ext cx="7302500" cy="830262"/>
          </a:xfrm>
          <a:prstGeom prst="rect">
            <a:avLst/>
          </a:prstGeom>
          <a:noFill/>
          <a:ln w="9525">
            <a:noFill/>
            <a:miter lim="800000"/>
            <a:headEnd/>
            <a:tailEnd/>
          </a:ln>
        </p:spPr>
        <p:txBody>
          <a:bodyPr anchor="ctr">
            <a:spAutoFit/>
          </a:bodyPr>
          <a:lstStyle/>
          <a:p>
            <a:pPr indent="180975" algn="ctr"/>
            <a:r>
              <a:rPr lang="ru-RU" sz="2400" b="1">
                <a:latin typeface="Calibri" pitchFamily="34" charset="0"/>
                <a:cs typeface="Times New Roman" pitchFamily="18" charset="0"/>
              </a:rPr>
              <a:t>ГОСТ Р 51901.1-2002 МЕНЕДЖМЕНТ РИСКА. </a:t>
            </a:r>
          </a:p>
          <a:p>
            <a:pPr indent="180975" algn="ctr"/>
            <a:r>
              <a:rPr lang="ru-RU" sz="2400" b="1">
                <a:latin typeface="Calibri" pitchFamily="34" charset="0"/>
                <a:cs typeface="Times New Roman" pitchFamily="18" charset="0"/>
              </a:rPr>
              <a:t>Анализ риска технологических систем</a:t>
            </a:r>
            <a:endParaRPr lang="ru-RU" sz="2400">
              <a:latin typeface="Arial" charset="0"/>
            </a:endParaRPr>
          </a:p>
        </p:txBody>
      </p:sp>
      <p:sp>
        <p:nvSpPr>
          <p:cNvPr id="128003" name="Прямоугольник 10"/>
          <p:cNvSpPr>
            <a:spLocks noChangeArrowheads="1"/>
          </p:cNvSpPr>
          <p:nvPr/>
        </p:nvSpPr>
        <p:spPr bwMode="auto">
          <a:xfrm>
            <a:off x="1979613" y="1484313"/>
            <a:ext cx="4572000" cy="3046412"/>
          </a:xfrm>
          <a:prstGeom prst="rect">
            <a:avLst/>
          </a:prstGeom>
          <a:noFill/>
          <a:ln w="9525">
            <a:noFill/>
            <a:miter lim="800000"/>
            <a:headEnd/>
            <a:tailEnd/>
          </a:ln>
        </p:spPr>
        <p:txBody>
          <a:bodyPr>
            <a:spAutoFit/>
          </a:bodyPr>
          <a:lstStyle/>
          <a:p>
            <a:pPr algn="ctr"/>
            <a:r>
              <a:rPr lang="ru-RU" sz="2400" b="1">
                <a:latin typeface="Calibri" pitchFamily="34" charset="0"/>
                <a:cs typeface="Times New Roman" pitchFamily="18" charset="0"/>
              </a:rPr>
              <a:t>Идентификация опасности </a:t>
            </a:r>
          </a:p>
          <a:p>
            <a:pPr algn="ctr"/>
            <a:r>
              <a:rPr lang="ru-RU" sz="2400" b="1" i="1">
                <a:latin typeface="Calibri" pitchFamily="34" charset="0"/>
                <a:cs typeface="Times New Roman" pitchFamily="18" charset="0"/>
              </a:rPr>
              <a:t>(источников потенциального вреда, т.е. ущерба)</a:t>
            </a:r>
          </a:p>
          <a:p>
            <a:pPr algn="ctr"/>
            <a:r>
              <a:rPr lang="ru-RU" sz="2400" b="1">
                <a:latin typeface="Calibri" pitchFamily="34" charset="0"/>
                <a:cs typeface="Times New Roman" pitchFamily="18" charset="0"/>
              </a:rPr>
              <a:t>(</a:t>
            </a:r>
            <a:r>
              <a:rPr lang="en-US" sz="2400" b="1">
                <a:latin typeface="Calibri" pitchFamily="34" charset="0"/>
                <a:cs typeface="Times New Roman" pitchFamily="18" charset="0"/>
              </a:rPr>
              <a:t>hazard identification</a:t>
            </a:r>
            <a:r>
              <a:rPr lang="ru-RU" sz="2400" b="1">
                <a:latin typeface="Calibri" pitchFamily="34" charset="0"/>
                <a:cs typeface="Times New Roman" pitchFamily="18" charset="0"/>
              </a:rPr>
              <a:t>)</a:t>
            </a:r>
            <a:r>
              <a:rPr lang="ru-RU" sz="2400">
                <a:latin typeface="Calibri" pitchFamily="34" charset="0"/>
                <a:cs typeface="Times New Roman" pitchFamily="18" charset="0"/>
              </a:rPr>
              <a:t>:</a:t>
            </a:r>
          </a:p>
          <a:p>
            <a:pPr algn="ctr"/>
            <a:r>
              <a:rPr lang="ru-RU" sz="2400">
                <a:latin typeface="Calibri" pitchFamily="34" charset="0"/>
                <a:cs typeface="Times New Roman" pitchFamily="18" charset="0"/>
              </a:rPr>
              <a:t>Процесс </a:t>
            </a:r>
            <a:r>
              <a:rPr lang="ru-RU" sz="2400" b="1" u="sng">
                <a:latin typeface="Calibri" pitchFamily="34" charset="0"/>
                <a:cs typeface="Times New Roman" pitchFamily="18" charset="0"/>
              </a:rPr>
              <a:t>осознания</a:t>
            </a:r>
            <a:r>
              <a:rPr lang="ru-RU" sz="2400">
                <a:latin typeface="Calibri" pitchFamily="34" charset="0"/>
                <a:cs typeface="Times New Roman" pitchFamily="18" charset="0"/>
              </a:rPr>
              <a:t> того, что опасность существует, и </a:t>
            </a:r>
            <a:r>
              <a:rPr lang="ru-RU" sz="2400" b="1" u="sng">
                <a:latin typeface="Calibri" pitchFamily="34" charset="0"/>
                <a:cs typeface="Times New Roman" pitchFamily="18" charset="0"/>
              </a:rPr>
              <a:t>определения ее характерных черт</a:t>
            </a:r>
            <a:r>
              <a:rPr lang="ru-RU" sz="2400">
                <a:latin typeface="Calibri" pitchFamily="34" charset="0"/>
                <a:cs typeface="Times New Roman" pitchFamily="18" charset="0"/>
              </a:rPr>
              <a:t>.</a:t>
            </a:r>
            <a:endParaRPr lang="ru-RU" sz="2400">
              <a:latin typeface="Arial" charset="0"/>
            </a:endParaRPr>
          </a:p>
        </p:txBody>
      </p:sp>
      <p:pic>
        <p:nvPicPr>
          <p:cNvPr id="128004" name="Picture 5" descr="http://www.prodindustry.ru/archive/2005/avgust/shtrih_1.jpg"/>
          <p:cNvPicPr>
            <a:picLocks noChangeAspect="1" noChangeArrowheads="1"/>
          </p:cNvPicPr>
          <p:nvPr/>
        </p:nvPicPr>
        <p:blipFill>
          <a:blip r:embed="rId3"/>
          <a:srcRect/>
          <a:stretch>
            <a:fillRect/>
          </a:stretch>
        </p:blipFill>
        <p:spPr bwMode="auto">
          <a:xfrm>
            <a:off x="6572250" y="4600575"/>
            <a:ext cx="2571750" cy="2257425"/>
          </a:xfrm>
          <a:prstGeom prst="rect">
            <a:avLst/>
          </a:prstGeom>
          <a:noFill/>
          <a:ln w="9525">
            <a:noFill/>
            <a:miter lim="800000"/>
            <a:headEnd/>
            <a:tailEnd/>
          </a:ln>
        </p:spPr>
      </p:pic>
      <p:pic>
        <p:nvPicPr>
          <p:cNvPr id="128005" name="Picture 7" descr="http://d236bkdxj385sg.cloudfront.net/wp-content/uploads/2010/06/inventors.jpg"/>
          <p:cNvPicPr>
            <a:picLocks noChangeAspect="1" noChangeArrowheads="1"/>
          </p:cNvPicPr>
          <p:nvPr/>
        </p:nvPicPr>
        <p:blipFill>
          <a:blip r:embed="rId4"/>
          <a:srcRect/>
          <a:stretch>
            <a:fillRect/>
          </a:stretch>
        </p:blipFill>
        <p:spPr bwMode="auto">
          <a:xfrm>
            <a:off x="6450013" y="1114425"/>
            <a:ext cx="2484437" cy="2293938"/>
          </a:xfrm>
          <a:prstGeom prst="rect">
            <a:avLst/>
          </a:prstGeom>
          <a:noFill/>
          <a:ln w="9525">
            <a:noFill/>
            <a:miter lim="800000"/>
            <a:headEnd/>
            <a:tailEnd/>
          </a:ln>
        </p:spPr>
      </p:pic>
      <p:pic>
        <p:nvPicPr>
          <p:cNvPr id="128006" name="Picture 11" descr="http://www.optimalift.ru/userfiles/%D0%94%D0%B5%D0%BA%D0%BB%D0%B0%D1%80%D0%B8%D1%80%D0%BE%D0%B2%D0%B0%D0%BD%D0%B8%D0%B5%20%D1%81%D0%BE%D0%BE%D1%82%D0%B2%D0%B5%D1%82%D1%81%D1%82%D0%B2%D0%B8%D0%B8%D1%8F%20%D0%BB%D0%B8%D1%84%D1%82%D0%B022.jpeg"/>
          <p:cNvPicPr>
            <a:picLocks noChangeAspect="1" noChangeArrowheads="1"/>
          </p:cNvPicPr>
          <p:nvPr/>
        </p:nvPicPr>
        <p:blipFill>
          <a:blip r:embed="rId5"/>
          <a:srcRect/>
          <a:stretch>
            <a:fillRect/>
          </a:stretch>
        </p:blipFill>
        <p:spPr bwMode="auto">
          <a:xfrm>
            <a:off x="163513" y="4652963"/>
            <a:ext cx="2459037" cy="2068512"/>
          </a:xfrm>
          <a:prstGeom prst="rect">
            <a:avLst/>
          </a:prstGeom>
          <a:noFill/>
          <a:ln w="9525">
            <a:noFill/>
            <a:miter lim="800000"/>
            <a:headEnd/>
            <a:tailEnd/>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2" name="Rectangle 8"/>
          <p:cNvSpPr>
            <a:spLocks noChangeArrowheads="1"/>
          </p:cNvSpPr>
          <p:nvPr/>
        </p:nvSpPr>
        <p:spPr bwMode="auto">
          <a:xfrm>
            <a:off x="127000" y="3127375"/>
            <a:ext cx="8713788" cy="1816100"/>
          </a:xfrm>
          <a:prstGeom prst="rect">
            <a:avLst/>
          </a:prstGeom>
          <a:noFill/>
          <a:ln w="9525" algn="ctr">
            <a:noFill/>
            <a:miter lim="800000"/>
            <a:headEnd/>
            <a:tailEnd/>
          </a:ln>
          <a:effectLst>
            <a:outerShdw dist="38100" algn="ctr" rotWithShape="0">
              <a:schemeClr val="tx1"/>
            </a:outerShdw>
          </a:effectLst>
        </p:spPr>
        <p:txBody>
          <a:bodyPr anchor="ctr">
            <a:spAutoFit/>
          </a:bodyPr>
          <a:lstStyle/>
          <a:p>
            <a:pPr algn="ctr">
              <a:lnSpc>
                <a:spcPct val="175000"/>
              </a:lnSpc>
              <a:defRPr/>
            </a:pPr>
            <a:r>
              <a:rPr lang="ru-RU" sz="3200" b="1" dirty="0">
                <a:latin typeface="Arial" pitchFamily="34" charset="0"/>
                <a:cs typeface="Arial" pitchFamily="34" charset="0"/>
              </a:rPr>
              <a:t>Обзор методов оценки профессиональных рисков </a:t>
            </a:r>
          </a:p>
        </p:txBody>
      </p:sp>
      <p:sp>
        <p:nvSpPr>
          <p:cNvPr id="129026"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pic>
        <p:nvPicPr>
          <p:cNvPr id="129027" name="Picture 2" descr="http://kcmblog.com/wp-content/uploads/2011/01/measuring-risk.jpg"/>
          <p:cNvPicPr>
            <a:picLocks noChangeAspect="1" noChangeArrowheads="1"/>
          </p:cNvPicPr>
          <p:nvPr/>
        </p:nvPicPr>
        <p:blipFill>
          <a:blip r:embed="rId2"/>
          <a:srcRect/>
          <a:stretch>
            <a:fillRect/>
          </a:stretch>
        </p:blipFill>
        <p:spPr bwMode="auto">
          <a:xfrm>
            <a:off x="0" y="0"/>
            <a:ext cx="5676900" cy="337185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49" name="Picture 2" descr="http://maxdvizov.ru/nashi-kupi/imgs/64175-gde-kupit-bezalkogolnoe-vino-kupit.jpg"/>
          <p:cNvPicPr>
            <a:picLocks noChangeAspect="1" noChangeArrowheads="1"/>
          </p:cNvPicPr>
          <p:nvPr/>
        </p:nvPicPr>
        <p:blipFill>
          <a:blip r:embed="rId2"/>
          <a:srcRect/>
          <a:stretch>
            <a:fillRect/>
          </a:stretch>
        </p:blipFill>
        <p:spPr bwMode="auto">
          <a:xfrm>
            <a:off x="5580063" y="4184650"/>
            <a:ext cx="3563937" cy="2673350"/>
          </a:xfrm>
          <a:prstGeom prst="rect">
            <a:avLst/>
          </a:prstGeom>
          <a:noFill/>
          <a:ln w="9525">
            <a:noFill/>
            <a:miter lim="800000"/>
            <a:headEnd/>
            <a:tailEnd/>
          </a:ln>
        </p:spPr>
      </p:pic>
      <p:sp>
        <p:nvSpPr>
          <p:cNvPr id="130050"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sp>
        <p:nvSpPr>
          <p:cNvPr id="124931" name="Text Box 2"/>
          <p:cNvSpPr txBox="1">
            <a:spLocks noChangeArrowheads="1"/>
          </p:cNvSpPr>
          <p:nvPr/>
        </p:nvSpPr>
        <p:spPr bwMode="auto">
          <a:xfrm>
            <a:off x="3059113" y="1412875"/>
            <a:ext cx="2305050" cy="11176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lgn="ctr">
              <a:spcAft>
                <a:spcPts val="1000"/>
              </a:spcAft>
              <a:defRPr/>
            </a:pPr>
            <a:r>
              <a:rPr lang="ru-RU" sz="1600" b="1">
                <a:latin typeface="Calibri" pitchFamily="34" charset="0"/>
              </a:rPr>
              <a:t>Методы оценки рисков для здоровья работников</a:t>
            </a:r>
            <a:endParaRPr lang="ru-RU" sz="1600"/>
          </a:p>
        </p:txBody>
      </p:sp>
      <p:sp>
        <p:nvSpPr>
          <p:cNvPr id="124932" name="Text Box 3"/>
          <p:cNvSpPr txBox="1">
            <a:spLocks noChangeArrowheads="1"/>
          </p:cNvSpPr>
          <p:nvPr/>
        </p:nvSpPr>
        <p:spPr bwMode="auto">
          <a:xfrm>
            <a:off x="4627563" y="2786063"/>
            <a:ext cx="4184650" cy="1592262"/>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a:lstStyle/>
          <a:p>
            <a:pPr algn="ctr">
              <a:spcAft>
                <a:spcPts val="1000"/>
              </a:spcAft>
              <a:defRPr/>
            </a:pPr>
            <a:r>
              <a:rPr lang="ru-RU" sz="1800" b="1" dirty="0">
                <a:latin typeface="Calibri" pitchFamily="34" charset="0"/>
              </a:rPr>
              <a:t>Косвенные (с использованием показателей, характеризующих отклонение контролируемых условий от норм и имеющих причинно-следственную связь с рисками)</a:t>
            </a:r>
            <a:endParaRPr lang="ru-RU" sz="1800" dirty="0"/>
          </a:p>
        </p:txBody>
      </p:sp>
      <p:sp>
        <p:nvSpPr>
          <p:cNvPr id="124933" name="Text Box 4"/>
          <p:cNvSpPr txBox="1">
            <a:spLocks noChangeArrowheads="1"/>
          </p:cNvSpPr>
          <p:nvPr/>
        </p:nvSpPr>
        <p:spPr bwMode="auto">
          <a:xfrm>
            <a:off x="1116013" y="2857500"/>
            <a:ext cx="2519362" cy="1363663"/>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a:lstStyle/>
          <a:p>
            <a:pPr algn="ctr">
              <a:spcAft>
                <a:spcPts val="0"/>
              </a:spcAft>
              <a:defRPr/>
            </a:pPr>
            <a:r>
              <a:rPr lang="ru-RU" sz="1800" b="1" dirty="0">
                <a:latin typeface="Calibri" pitchFamily="34" charset="0"/>
              </a:rPr>
              <a:t>Прямые </a:t>
            </a:r>
          </a:p>
          <a:p>
            <a:pPr algn="ctr">
              <a:spcAft>
                <a:spcPts val="0"/>
              </a:spcAft>
              <a:defRPr/>
            </a:pPr>
            <a:r>
              <a:rPr lang="ru-RU" sz="1800" b="1" dirty="0">
                <a:latin typeface="Calibri" pitchFamily="34" charset="0"/>
              </a:rPr>
              <a:t>(с использованием статистической информации)</a:t>
            </a:r>
            <a:endParaRPr lang="ru-RU" sz="1800" dirty="0"/>
          </a:p>
        </p:txBody>
      </p:sp>
      <p:sp>
        <p:nvSpPr>
          <p:cNvPr id="124934" name="Text Box 5"/>
          <p:cNvSpPr txBox="1">
            <a:spLocks noChangeArrowheads="1"/>
          </p:cNvSpPr>
          <p:nvPr/>
        </p:nvSpPr>
        <p:spPr bwMode="auto">
          <a:xfrm>
            <a:off x="3635375" y="4724400"/>
            <a:ext cx="2146300" cy="1190625"/>
          </a:xfrm>
          <a:prstGeom prst="rect">
            <a:avLst/>
          </a:prstGeom>
          <a:ln>
            <a:headEnd/>
            <a:tailEnd/>
          </a:ln>
        </p:spPr>
        <p:style>
          <a:lnRef idx="3">
            <a:schemeClr val="lt1"/>
          </a:lnRef>
          <a:fillRef idx="1">
            <a:schemeClr val="accent4"/>
          </a:fillRef>
          <a:effectRef idx="1">
            <a:schemeClr val="accent4"/>
          </a:effectRef>
          <a:fontRef idx="minor">
            <a:schemeClr val="lt1"/>
          </a:fontRef>
        </p:style>
        <p:txBody>
          <a:bodyPr/>
          <a:lstStyle/>
          <a:p>
            <a:pPr algn="ctr">
              <a:spcAft>
                <a:spcPts val="1000"/>
              </a:spcAft>
              <a:defRPr/>
            </a:pPr>
            <a:endParaRPr lang="ru-RU" sz="1600" dirty="0">
              <a:latin typeface="Times New Roman" pitchFamily="18" charset="0"/>
            </a:endParaRPr>
          </a:p>
          <a:p>
            <a:pPr algn="ctr">
              <a:spcAft>
                <a:spcPts val="1000"/>
              </a:spcAft>
              <a:defRPr/>
            </a:pPr>
            <a:r>
              <a:rPr lang="ru-RU" sz="1600" b="1" dirty="0">
                <a:latin typeface="Calibri" pitchFamily="34" charset="0"/>
              </a:rPr>
              <a:t>Качественные</a:t>
            </a:r>
            <a:endParaRPr lang="ru-RU" sz="1600" dirty="0"/>
          </a:p>
        </p:txBody>
      </p:sp>
      <p:sp>
        <p:nvSpPr>
          <p:cNvPr id="124935" name="Text Box 6"/>
          <p:cNvSpPr txBox="1">
            <a:spLocks noChangeArrowheads="1"/>
          </p:cNvSpPr>
          <p:nvPr/>
        </p:nvSpPr>
        <p:spPr bwMode="auto">
          <a:xfrm>
            <a:off x="900113" y="4797425"/>
            <a:ext cx="2116137" cy="1117600"/>
          </a:xfrm>
          <a:prstGeom prst="rect">
            <a:avLst/>
          </a:prstGeom>
          <a:ln>
            <a:headEnd/>
            <a:tailEnd/>
          </a:ln>
        </p:spPr>
        <p:style>
          <a:lnRef idx="3">
            <a:schemeClr val="lt1"/>
          </a:lnRef>
          <a:fillRef idx="1">
            <a:schemeClr val="accent4"/>
          </a:fillRef>
          <a:effectRef idx="1">
            <a:schemeClr val="accent4"/>
          </a:effectRef>
          <a:fontRef idx="minor">
            <a:schemeClr val="lt1"/>
          </a:fontRef>
        </p:style>
        <p:txBody>
          <a:bodyPr/>
          <a:lstStyle/>
          <a:p>
            <a:pPr algn="ctr">
              <a:spcAft>
                <a:spcPts val="1000"/>
              </a:spcAft>
              <a:defRPr/>
            </a:pPr>
            <a:endParaRPr lang="ru-RU" sz="1600">
              <a:latin typeface="Times New Roman" pitchFamily="18" charset="0"/>
            </a:endParaRPr>
          </a:p>
          <a:p>
            <a:pPr algn="ctr">
              <a:spcAft>
                <a:spcPts val="1000"/>
              </a:spcAft>
              <a:defRPr/>
            </a:pPr>
            <a:r>
              <a:rPr lang="ru-RU" sz="1600" b="1">
                <a:latin typeface="Calibri" pitchFamily="34" charset="0"/>
              </a:rPr>
              <a:t>Количественные</a:t>
            </a:r>
            <a:endParaRPr lang="ru-RU" sz="1600"/>
          </a:p>
        </p:txBody>
      </p:sp>
      <p:sp>
        <p:nvSpPr>
          <p:cNvPr id="130056" name="Line 7"/>
          <p:cNvSpPr>
            <a:spLocks noChangeShapeType="1"/>
          </p:cNvSpPr>
          <p:nvPr/>
        </p:nvSpPr>
        <p:spPr bwMode="auto">
          <a:xfrm flipH="1">
            <a:off x="2700338" y="2530475"/>
            <a:ext cx="358775" cy="322263"/>
          </a:xfrm>
          <a:prstGeom prst="line">
            <a:avLst/>
          </a:prstGeom>
          <a:noFill/>
          <a:ln w="9525">
            <a:solidFill>
              <a:srgbClr val="000000"/>
            </a:solidFill>
            <a:round/>
            <a:headEnd/>
            <a:tailEnd type="triangle" w="med" len="med"/>
          </a:ln>
        </p:spPr>
        <p:txBody>
          <a:bodyPr/>
          <a:lstStyle/>
          <a:p>
            <a:endParaRPr lang="ru-RU"/>
          </a:p>
        </p:txBody>
      </p:sp>
      <p:sp>
        <p:nvSpPr>
          <p:cNvPr id="130057" name="Line 8"/>
          <p:cNvSpPr>
            <a:spLocks noChangeShapeType="1"/>
          </p:cNvSpPr>
          <p:nvPr/>
        </p:nvSpPr>
        <p:spPr bwMode="auto">
          <a:xfrm>
            <a:off x="2051050" y="4221163"/>
            <a:ext cx="0" cy="601662"/>
          </a:xfrm>
          <a:prstGeom prst="line">
            <a:avLst/>
          </a:prstGeom>
          <a:noFill/>
          <a:ln w="9525">
            <a:solidFill>
              <a:srgbClr val="000000"/>
            </a:solidFill>
            <a:round/>
            <a:headEnd/>
            <a:tailEnd type="triangle" w="med" len="med"/>
          </a:ln>
        </p:spPr>
        <p:txBody>
          <a:bodyPr/>
          <a:lstStyle/>
          <a:p>
            <a:endParaRPr lang="ru-RU"/>
          </a:p>
        </p:txBody>
      </p:sp>
      <p:sp>
        <p:nvSpPr>
          <p:cNvPr id="130058" name="Line 9"/>
          <p:cNvSpPr>
            <a:spLocks noChangeShapeType="1"/>
          </p:cNvSpPr>
          <p:nvPr/>
        </p:nvSpPr>
        <p:spPr bwMode="auto">
          <a:xfrm>
            <a:off x="3132138" y="4221163"/>
            <a:ext cx="1257300" cy="457200"/>
          </a:xfrm>
          <a:prstGeom prst="line">
            <a:avLst/>
          </a:prstGeom>
          <a:noFill/>
          <a:ln w="9525">
            <a:solidFill>
              <a:srgbClr val="000000"/>
            </a:solidFill>
            <a:round/>
            <a:headEnd/>
            <a:tailEnd type="triangle" w="med" len="med"/>
          </a:ln>
        </p:spPr>
        <p:txBody>
          <a:bodyPr/>
          <a:lstStyle/>
          <a:p>
            <a:endParaRPr lang="ru-RU"/>
          </a:p>
        </p:txBody>
      </p:sp>
      <p:sp>
        <p:nvSpPr>
          <p:cNvPr id="130059" name="Line 10"/>
          <p:cNvSpPr>
            <a:spLocks noChangeShapeType="1"/>
          </p:cNvSpPr>
          <p:nvPr/>
        </p:nvSpPr>
        <p:spPr bwMode="auto">
          <a:xfrm>
            <a:off x="5364163" y="2492375"/>
            <a:ext cx="1295400" cy="293688"/>
          </a:xfrm>
          <a:prstGeom prst="line">
            <a:avLst/>
          </a:prstGeom>
          <a:noFill/>
          <a:ln w="9525">
            <a:solidFill>
              <a:srgbClr val="000000"/>
            </a:solidFill>
            <a:round/>
            <a:headEnd/>
            <a:tailEnd type="triangle" w="med" len="med"/>
          </a:ln>
        </p:spPr>
        <p:txBody>
          <a:bodyPr/>
          <a:lstStyle/>
          <a:p>
            <a:endParaRPr lang="ru-RU"/>
          </a:p>
        </p:txBody>
      </p:sp>
      <p:sp>
        <p:nvSpPr>
          <p:cNvPr id="13" name="Заголовок 1"/>
          <p:cNvSpPr txBox="1">
            <a:spLocks/>
          </p:cNvSpPr>
          <p:nvPr/>
        </p:nvSpPr>
        <p:spPr>
          <a:xfrm>
            <a:off x="900113" y="657580"/>
            <a:ext cx="7273925" cy="566309"/>
          </a:xfrm>
          <a:prstGeom prst="rect">
            <a:avLst/>
          </a:prstGeom>
        </p:spPr>
        <p:txBody>
          <a:bodyPr wrap="square" lIns="0" tIns="0" rIns="0" bIns="0" anchor="b">
            <a:spAutoFit/>
          </a:bodyPr>
          <a:lstStyle/>
          <a:p>
            <a:pPr algn="ctr">
              <a:lnSpc>
                <a:spcPct val="80000"/>
              </a:lnSpc>
              <a:defRPr/>
            </a:pPr>
            <a:r>
              <a:rPr lang="ru-RU" sz="1800" b="1" dirty="0">
                <a:latin typeface="+mj-lt"/>
                <a:cs typeface="Arial" pitchFamily="34" charset="0"/>
              </a:rPr>
              <a:t>ГОСТ Р 12.0.010-2009</a:t>
            </a:r>
          </a:p>
          <a:p>
            <a:pPr algn="ctr">
              <a:lnSpc>
                <a:spcPct val="80000"/>
              </a:lnSpc>
              <a:defRPr/>
            </a:pPr>
            <a:r>
              <a:rPr lang="ru-RU" b="1" dirty="0">
                <a:latin typeface="+mj-lt"/>
                <a:cs typeface="Arial" pitchFamily="34" charset="0"/>
              </a:rPr>
              <a:t>«ССБТ. Система управления охраной труда. </a:t>
            </a:r>
          </a:p>
          <a:p>
            <a:pPr algn="ctr">
              <a:lnSpc>
                <a:spcPct val="80000"/>
              </a:lnSpc>
              <a:defRPr/>
            </a:pPr>
            <a:r>
              <a:rPr lang="ru-RU" b="1" dirty="0">
                <a:latin typeface="+mj-lt"/>
                <a:cs typeface="Arial" pitchFamily="34" charset="0"/>
              </a:rPr>
              <a:t>Определение опасностей и оценка рисков»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3"/>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43" name="Picture 11"/>
          <p:cNvPicPr>
            <a:picLocks noChangeAspect="1" noChangeArrowheads="1"/>
          </p:cNvPicPr>
          <p:nvPr/>
        </p:nvPicPr>
        <p:blipFill>
          <a:blip r:embed="rId3"/>
          <a:srcRect/>
          <a:stretch>
            <a:fillRect/>
          </a:stretch>
        </p:blipFill>
        <p:spPr bwMode="auto">
          <a:xfrm>
            <a:off x="5354188" y="1662162"/>
            <a:ext cx="3351662" cy="4465588"/>
          </a:xfrm>
          <a:prstGeom prst="rect">
            <a:avLst/>
          </a:prstGeom>
          <a:noFill/>
          <a:ln w="9525">
            <a:noFill/>
            <a:miter lim="800000"/>
            <a:headEnd/>
            <a:tailEnd/>
          </a:ln>
        </p:spPr>
      </p:pic>
      <p:sp>
        <p:nvSpPr>
          <p:cNvPr id="131074" name="Text Box 11"/>
          <p:cNvSpPr txBox="1">
            <a:spLocks noChangeArrowheads="1"/>
          </p:cNvSpPr>
          <p:nvPr/>
        </p:nvSpPr>
        <p:spPr bwMode="auto">
          <a:xfrm>
            <a:off x="803275" y="650082"/>
            <a:ext cx="7902575" cy="792162"/>
          </a:xfrm>
          <a:prstGeom prst="rect">
            <a:avLst/>
          </a:prstGeom>
          <a:solidFill>
            <a:schemeClr val="bg1"/>
          </a:solidFill>
          <a:ln w="9525">
            <a:noFill/>
            <a:miter lim="800000"/>
            <a:headEnd/>
            <a:tailEnd/>
          </a:ln>
        </p:spPr>
        <p:txBody>
          <a:bodyPr/>
          <a:lstStyle/>
          <a:p>
            <a:pPr algn="ctr">
              <a:spcBef>
                <a:spcPct val="50000"/>
              </a:spcBef>
            </a:pPr>
            <a:r>
              <a:rPr lang="ru-RU" sz="2000" b="1" dirty="0">
                <a:latin typeface="Arial" charset="0"/>
              </a:rPr>
              <a:t>Оценка и определение риска проводится на основе решений, опирающихся на здравый смысл.</a:t>
            </a:r>
          </a:p>
        </p:txBody>
      </p:sp>
      <p:sp>
        <p:nvSpPr>
          <p:cNvPr id="4" name="Прямоугольник 3"/>
          <p:cNvSpPr/>
          <p:nvPr/>
        </p:nvSpPr>
        <p:spPr>
          <a:xfrm>
            <a:off x="803275" y="2311400"/>
            <a:ext cx="3241675" cy="3816350"/>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1800" b="1" i="1" dirty="0">
              <a:solidFill>
                <a:srgbClr val="002060"/>
              </a:solidFill>
            </a:endParaRPr>
          </a:p>
          <a:p>
            <a:pPr marL="266700" indent="-266700" algn="ctr">
              <a:defRPr/>
            </a:pPr>
            <a:r>
              <a:rPr lang="ru-RU" sz="1800" b="1" dirty="0">
                <a:solidFill>
                  <a:srgbClr val="002060"/>
                </a:solidFill>
              </a:rPr>
              <a:t>В этом основное отличие оценки рисков в ОТ и ПБ!</a:t>
            </a:r>
          </a:p>
          <a:p>
            <a:pPr marL="266700" indent="-266700" algn="ctr">
              <a:defRPr/>
            </a:pPr>
            <a:endParaRPr lang="ru-RU" sz="1800" b="1" dirty="0">
              <a:solidFill>
                <a:srgbClr val="002060"/>
              </a:solidFill>
            </a:endParaRPr>
          </a:p>
          <a:p>
            <a:pPr>
              <a:defRPr/>
            </a:pPr>
            <a:endParaRPr lang="ru-RU" sz="1800" b="1" dirty="0">
              <a:solidFill>
                <a:srgbClr val="002060"/>
              </a:solidFill>
              <a:latin typeface="Garamond" pitchFamily="18" charset="0"/>
              <a:cs typeface="Arial" pitchFamily="34" charset="0"/>
            </a:endParaRPr>
          </a:p>
          <a:p>
            <a:pPr marL="285750" indent="-285750">
              <a:buFontTx/>
              <a:buChar char="-"/>
              <a:defRPr/>
            </a:pPr>
            <a:endParaRPr lang="ru-RU" sz="1800" b="1" i="1"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5243"/>
                                        </p:tgtEl>
                                        <p:attrNameLst>
                                          <p:attrName>style.visibility</p:attrName>
                                        </p:attrNameLst>
                                      </p:cBhvr>
                                      <p:to>
                                        <p:strVal val="visible"/>
                                      </p:to>
                                    </p:set>
                                    <p:animEffect transition="in" filter="dissolve">
                                      <p:cBhvr>
                                        <p:cTn id="7" dur="500"/>
                                        <p:tgtEl>
                                          <p:spTgt spid="95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sp>
        <p:nvSpPr>
          <p:cNvPr id="12" name="Rectangle 2"/>
          <p:cNvSpPr>
            <a:spLocks noChangeArrowheads="1"/>
          </p:cNvSpPr>
          <p:nvPr/>
        </p:nvSpPr>
        <p:spPr bwMode="auto">
          <a:xfrm>
            <a:off x="684213" y="549275"/>
            <a:ext cx="7488237" cy="574675"/>
          </a:xfrm>
          <a:prstGeom prst="rect">
            <a:avLst/>
          </a:prstGeom>
          <a:noFill/>
          <a:ln w="9525">
            <a:noFill/>
            <a:miter lim="800000"/>
            <a:headEnd/>
            <a:tailEnd/>
          </a:ln>
        </p:spPr>
        <p:txBody>
          <a:bodyPr lIns="0" rIns="0" bIns="0" anchor="b"/>
          <a:lstStyle/>
          <a:p>
            <a:pPr algn="ctr"/>
            <a:r>
              <a:rPr lang="ru-RU" sz="3200" b="1">
                <a:latin typeface="Arial" charset="0"/>
              </a:rPr>
              <a:t>Применение прямых и косвенных методов оценки </a:t>
            </a:r>
          </a:p>
        </p:txBody>
      </p:sp>
      <p:sp>
        <p:nvSpPr>
          <p:cNvPr id="7" name="Rectangle 8"/>
          <p:cNvSpPr>
            <a:spLocks noChangeArrowheads="1"/>
          </p:cNvSpPr>
          <p:nvPr/>
        </p:nvSpPr>
        <p:spPr bwMode="auto">
          <a:xfrm>
            <a:off x="4883150" y="2373313"/>
            <a:ext cx="4140200" cy="436086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just">
              <a:defRPr/>
            </a:pPr>
            <a:r>
              <a:rPr lang="ru-RU" sz="1800" b="1" dirty="0">
                <a:solidFill>
                  <a:srgbClr val="002060"/>
                </a:solidFill>
              </a:rPr>
              <a:t>Прямые качественные методы используются, е</a:t>
            </a:r>
            <a:r>
              <a:rPr lang="ru-RU" sz="1800" dirty="0">
                <a:solidFill>
                  <a:srgbClr val="002060"/>
                </a:solidFill>
              </a:rPr>
              <a:t>сли </a:t>
            </a:r>
            <a:r>
              <a:rPr lang="ru-RU" sz="1800" u="sng" dirty="0">
                <a:solidFill>
                  <a:srgbClr val="002060"/>
                </a:solidFill>
              </a:rPr>
              <a:t>данных недостаточно </a:t>
            </a:r>
            <a:r>
              <a:rPr lang="ru-RU" sz="1800" dirty="0">
                <a:solidFill>
                  <a:srgbClr val="002060"/>
                </a:solidFill>
              </a:rPr>
              <a:t>для применения статистического анализа. </a:t>
            </a:r>
          </a:p>
          <a:p>
            <a:pPr algn="just">
              <a:defRPr/>
            </a:pPr>
            <a:r>
              <a:rPr lang="ru-RU" sz="1800" dirty="0">
                <a:solidFill>
                  <a:srgbClr val="002060"/>
                </a:solidFill>
              </a:rPr>
              <a:t>Несмотря на то, что их результатом могут являться количественные характеристики риска, </a:t>
            </a:r>
            <a:r>
              <a:rPr lang="ru-RU" sz="1800" u="sng" dirty="0">
                <a:solidFill>
                  <a:srgbClr val="002060"/>
                </a:solidFill>
              </a:rPr>
              <a:t>в основе лежат методы анализа, основанные на бальных оценках </a:t>
            </a:r>
            <a:r>
              <a:rPr lang="ru-RU" sz="1800" dirty="0">
                <a:solidFill>
                  <a:srgbClr val="002060"/>
                </a:solidFill>
              </a:rPr>
              <a:t>условий труда экспертами или оценочной командой</a:t>
            </a:r>
            <a:endParaRPr lang="ru-RU" sz="2400" dirty="0">
              <a:solidFill>
                <a:srgbClr val="002060"/>
              </a:solidFill>
              <a:cs typeface="Arial" pitchFamily="34" charset="0"/>
            </a:endParaRPr>
          </a:p>
        </p:txBody>
      </p:sp>
      <p:sp>
        <p:nvSpPr>
          <p:cNvPr id="9" name="Rectangle 8"/>
          <p:cNvSpPr>
            <a:spLocks noChangeArrowheads="1"/>
          </p:cNvSpPr>
          <p:nvPr/>
        </p:nvSpPr>
        <p:spPr bwMode="auto">
          <a:xfrm>
            <a:off x="179388" y="1341438"/>
            <a:ext cx="4048125" cy="4359275"/>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just">
              <a:defRPr/>
            </a:pPr>
            <a:r>
              <a:rPr lang="ru-RU" sz="1800" b="1" dirty="0">
                <a:solidFill>
                  <a:srgbClr val="002060"/>
                </a:solidFill>
              </a:rPr>
              <a:t>Прямая количественная оценки </a:t>
            </a:r>
            <a:r>
              <a:rPr lang="ru-RU" sz="1800" dirty="0">
                <a:solidFill>
                  <a:srgbClr val="002060"/>
                </a:solidFill>
              </a:rPr>
              <a:t>риска возможна лишь в </a:t>
            </a:r>
            <a:r>
              <a:rPr lang="ru-RU" sz="1800" u="sng" dirty="0">
                <a:solidFill>
                  <a:srgbClr val="002060"/>
                </a:solidFill>
              </a:rPr>
              <a:t>ограниченном числе случаев</a:t>
            </a:r>
            <a:r>
              <a:rPr lang="ru-RU" sz="1800" dirty="0">
                <a:solidFill>
                  <a:srgbClr val="002060"/>
                </a:solidFill>
              </a:rPr>
              <a:t>, когда в организации имеются </a:t>
            </a:r>
            <a:r>
              <a:rPr lang="ru-RU" sz="1800" u="sng" dirty="0">
                <a:solidFill>
                  <a:srgbClr val="002060"/>
                </a:solidFill>
              </a:rPr>
              <a:t>накопленные данные </a:t>
            </a:r>
            <a:r>
              <a:rPr lang="ru-RU" sz="1800" dirty="0">
                <a:solidFill>
                  <a:srgbClr val="002060"/>
                </a:solidFill>
              </a:rPr>
              <a:t>о частоте случаев производственного травматизма (</a:t>
            </a:r>
            <a:r>
              <a:rPr lang="ru-RU" sz="1800" dirty="0" err="1">
                <a:solidFill>
                  <a:srgbClr val="002060"/>
                </a:solidFill>
              </a:rPr>
              <a:t>микротравмирования</a:t>
            </a:r>
            <a:r>
              <a:rPr lang="ru-RU" sz="1800" dirty="0">
                <a:solidFill>
                  <a:srgbClr val="002060"/>
                </a:solidFill>
              </a:rPr>
              <a:t>, профессиональных заболеваний) и их тяжести на объекте оценки рисков. </a:t>
            </a:r>
            <a:endParaRPr lang="ru-RU" sz="2400" dirty="0">
              <a:solidFill>
                <a:srgbClr val="002060"/>
              </a:solidFill>
              <a:cs typeface="Arial" pitchFamily="34" charset="0"/>
            </a:endParaRPr>
          </a:p>
        </p:txBody>
      </p:sp>
      <p:pic>
        <p:nvPicPr>
          <p:cNvPr id="133125" name="Picture 2" descr="Административный надзор реферат"/>
          <p:cNvPicPr>
            <a:picLocks noChangeAspect="1" noChangeArrowheads="1"/>
          </p:cNvPicPr>
          <p:nvPr/>
        </p:nvPicPr>
        <p:blipFill>
          <a:blip r:embed="rId2"/>
          <a:srcRect/>
          <a:stretch>
            <a:fillRect/>
          </a:stretch>
        </p:blipFill>
        <p:spPr bwMode="auto">
          <a:xfrm>
            <a:off x="7305675" y="646113"/>
            <a:ext cx="1717675" cy="16129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9">
                                            <p:bg/>
                                          </p:spTgt>
                                        </p:tgtEl>
                                        <p:attrNameLst>
                                          <p:attrName>style.visibility</p:attrName>
                                        </p:attrNameLst>
                                      </p:cBhvr>
                                      <p:to>
                                        <p:strVal val="visible"/>
                                      </p:to>
                                    </p:set>
                                    <p:animEffect transition="in" filter="wipe(down)">
                                      <p:cBhvr>
                                        <p:cTn id="14" dur="500"/>
                                        <p:tgtEl>
                                          <p:spTgt spid="9">
                                            <p:bg/>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wipe(down)">
                                      <p:cBhvr>
                                        <p:cTn id="19" dur="500"/>
                                        <p:tgtEl>
                                          <p:spTgt spid="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bg/>
                                          </p:spTgt>
                                        </p:tgtEl>
                                        <p:attrNameLst>
                                          <p:attrName>style.visibility</p:attrName>
                                        </p:attrNameLst>
                                      </p:cBhvr>
                                      <p:to>
                                        <p:strVal val="visible"/>
                                      </p:to>
                                    </p:set>
                                    <p:anim calcmode="lin" valueType="num">
                                      <p:cBhvr additive="base">
                                        <p:cTn id="24" dur="500" fill="hold"/>
                                        <p:tgtEl>
                                          <p:spTgt spid="7">
                                            <p:bg/>
                                          </p:spTgt>
                                        </p:tgtEl>
                                        <p:attrNameLst>
                                          <p:attrName>ppt_x</p:attrName>
                                        </p:attrNameLst>
                                      </p:cBhvr>
                                      <p:tavLst>
                                        <p:tav tm="0">
                                          <p:val>
                                            <p:strVal val="#ppt_x"/>
                                          </p:val>
                                        </p:tav>
                                        <p:tav tm="100000">
                                          <p:val>
                                            <p:strVal val="#ppt_x"/>
                                          </p:val>
                                        </p:tav>
                                      </p:tavLst>
                                    </p:anim>
                                    <p:anim calcmode="lin" valueType="num">
                                      <p:cBhvr additive="base">
                                        <p:cTn id="25" dur="500" fill="hold"/>
                                        <p:tgtEl>
                                          <p:spTgt spid="7">
                                            <p:bg/>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additive="base">
                                        <p:cTn id="3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 calcmode="lin" valueType="num">
                                      <p:cBhvr additive="base">
                                        <p:cTn id="36"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build="p" animBg="1"/>
      <p:bldP spid="9" grpId="0" build="p"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sp>
        <p:nvSpPr>
          <p:cNvPr id="12" name="Rectangle 2"/>
          <p:cNvSpPr>
            <a:spLocks noChangeArrowheads="1"/>
          </p:cNvSpPr>
          <p:nvPr/>
        </p:nvSpPr>
        <p:spPr bwMode="auto">
          <a:xfrm>
            <a:off x="0" y="331788"/>
            <a:ext cx="8785225" cy="576262"/>
          </a:xfrm>
          <a:prstGeom prst="rect">
            <a:avLst/>
          </a:prstGeom>
          <a:noFill/>
          <a:ln w="9525">
            <a:noFill/>
            <a:miter lim="800000"/>
            <a:headEnd/>
            <a:tailEnd/>
          </a:ln>
        </p:spPr>
        <p:txBody>
          <a:bodyPr lIns="0" rIns="0" bIns="0" anchor="b"/>
          <a:lstStyle/>
          <a:p>
            <a:pPr algn="ctr"/>
            <a:r>
              <a:rPr lang="ru-RU" sz="2800" b="1" dirty="0">
                <a:latin typeface="Arial" charset="0"/>
              </a:rPr>
              <a:t>Прямой метод оценки риска</a:t>
            </a:r>
          </a:p>
          <a:p>
            <a:pPr algn="ctr"/>
            <a:r>
              <a:rPr lang="ru-RU" sz="1800" b="1" dirty="0">
                <a:latin typeface="Arial" charset="0"/>
              </a:rPr>
              <a:t>(по ГОСТ Р 12.0.010-2009 «ССБТ. Определение опасностей и оценка рисков»)</a:t>
            </a:r>
            <a:r>
              <a:rPr lang="ru-RU" sz="2800" b="1" dirty="0">
                <a:solidFill>
                  <a:schemeClr val="tx2"/>
                </a:solidFill>
                <a:latin typeface="Arial" charset="0"/>
              </a:rPr>
              <a:t> </a:t>
            </a:r>
          </a:p>
        </p:txBody>
      </p:sp>
      <p:sp>
        <p:nvSpPr>
          <p:cNvPr id="13" name="Скругленный прямоугольник 12"/>
          <p:cNvSpPr/>
          <p:nvPr/>
        </p:nvSpPr>
        <p:spPr>
          <a:xfrm>
            <a:off x="468313" y="1052513"/>
            <a:ext cx="8316912" cy="194468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ru-RU" sz="1800" u="sng" dirty="0">
                <a:solidFill>
                  <a:srgbClr val="002060"/>
                </a:solidFill>
              </a:rPr>
              <a:t>Риск </a:t>
            </a:r>
            <a:r>
              <a:rPr lang="en-US" sz="1800" b="1" i="1" u="sng" dirty="0">
                <a:solidFill>
                  <a:srgbClr val="002060"/>
                </a:solidFill>
              </a:rPr>
              <a:t>R</a:t>
            </a:r>
            <a:r>
              <a:rPr lang="ru-RU" sz="1800" u="sng" dirty="0">
                <a:solidFill>
                  <a:srgbClr val="002060"/>
                </a:solidFill>
              </a:rPr>
              <a:t> в общем случае </a:t>
            </a:r>
            <a:r>
              <a:rPr lang="ru-RU" sz="1800" dirty="0">
                <a:solidFill>
                  <a:srgbClr val="002060"/>
                </a:solidFill>
              </a:rPr>
              <a:t>количественно рассчитывают </a:t>
            </a:r>
            <a:r>
              <a:rPr lang="ru-RU" sz="1800" u="sng" dirty="0">
                <a:solidFill>
                  <a:srgbClr val="002060"/>
                </a:solidFill>
              </a:rPr>
              <a:t>суммированием произведений</a:t>
            </a:r>
            <a:r>
              <a:rPr lang="ru-RU" sz="1800" dirty="0">
                <a:solidFill>
                  <a:srgbClr val="002060"/>
                </a:solidFill>
              </a:rPr>
              <a:t> возможных значений ущерба здоровью и жизни работника (</a:t>
            </a:r>
            <a:r>
              <a:rPr lang="ru-RU" sz="1800" u="sng" dirty="0">
                <a:solidFill>
                  <a:srgbClr val="002060"/>
                </a:solidFill>
              </a:rPr>
              <a:t>тяжести последствий</a:t>
            </a:r>
            <a:r>
              <a:rPr lang="ru-RU" sz="1800" dirty="0">
                <a:solidFill>
                  <a:srgbClr val="002060"/>
                </a:solidFill>
              </a:rPr>
              <a:t>) </a:t>
            </a:r>
            <a:r>
              <a:rPr lang="en-US" sz="1800" b="1" i="1" dirty="0">
                <a:solidFill>
                  <a:srgbClr val="002060"/>
                </a:solidFill>
              </a:rPr>
              <a:t>S</a:t>
            </a:r>
            <a:r>
              <a:rPr lang="en-US" sz="1800" b="1" i="1" baseline="-25000" dirty="0">
                <a:solidFill>
                  <a:srgbClr val="002060"/>
                </a:solidFill>
              </a:rPr>
              <a:t>i</a:t>
            </a:r>
            <a:r>
              <a:rPr lang="en-US" sz="1800" dirty="0">
                <a:solidFill>
                  <a:srgbClr val="002060"/>
                </a:solidFill>
              </a:rPr>
              <a:t> </a:t>
            </a:r>
            <a:r>
              <a:rPr lang="ru-RU" sz="1800" dirty="0">
                <a:solidFill>
                  <a:srgbClr val="002060"/>
                </a:solidFill>
              </a:rPr>
              <a:t>в результате несчастных случаев на производстве (микротравм, профессиональных заболеваний) на </a:t>
            </a:r>
            <a:r>
              <a:rPr lang="ru-RU" sz="1800" u="sng" dirty="0">
                <a:solidFill>
                  <a:srgbClr val="002060"/>
                </a:solidFill>
              </a:rPr>
              <a:t>вероятности наступления этих событий </a:t>
            </a:r>
            <a:r>
              <a:rPr lang="ru-RU" sz="1800" b="1" i="1" dirty="0">
                <a:solidFill>
                  <a:srgbClr val="002060"/>
                </a:solidFill>
              </a:rPr>
              <a:t>Р</a:t>
            </a:r>
            <a:r>
              <a:rPr lang="en-US" sz="1800" b="1" i="1" baseline="-25000" dirty="0" err="1">
                <a:solidFill>
                  <a:srgbClr val="002060"/>
                </a:solidFill>
              </a:rPr>
              <a:t>i</a:t>
            </a:r>
            <a:r>
              <a:rPr lang="en-US" sz="1800" dirty="0">
                <a:solidFill>
                  <a:srgbClr val="002060"/>
                </a:solidFill>
              </a:rPr>
              <a:t>  </a:t>
            </a:r>
            <a:r>
              <a:rPr lang="ru-RU" sz="1800" u="sng" dirty="0">
                <a:solidFill>
                  <a:srgbClr val="002060"/>
                </a:solidFill>
              </a:rPr>
              <a:t>по каждой выявленной опасности</a:t>
            </a:r>
            <a:r>
              <a:rPr lang="ru-RU" sz="1800" dirty="0">
                <a:solidFill>
                  <a:srgbClr val="002060"/>
                </a:solidFill>
              </a:rPr>
              <a:t> (опасному или вредному производственному фактору)</a:t>
            </a:r>
            <a:endParaRPr lang="ru-RU" sz="2400" dirty="0">
              <a:solidFill>
                <a:srgbClr val="002060"/>
              </a:solidFill>
              <a:cs typeface="Arial" pitchFamily="34" charset="0"/>
            </a:endParaRPr>
          </a:p>
        </p:txBody>
      </p:sp>
      <p:sp>
        <p:nvSpPr>
          <p:cNvPr id="14" name="Скругленный прямоугольник 13"/>
          <p:cNvSpPr/>
          <p:nvPr/>
        </p:nvSpPr>
        <p:spPr>
          <a:xfrm>
            <a:off x="2411413" y="3141663"/>
            <a:ext cx="3860800" cy="1008062"/>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endParaRPr lang="ru-RU" sz="2400" dirty="0">
              <a:solidFill>
                <a:srgbClr val="002060"/>
              </a:solidFill>
              <a:cs typeface="Arial" pitchFamily="34" charset="0"/>
            </a:endParaRPr>
          </a:p>
        </p:txBody>
      </p:sp>
      <p:sp>
        <p:nvSpPr>
          <p:cNvPr id="15" name="Скругленный прямоугольник 14"/>
          <p:cNvSpPr/>
          <p:nvPr/>
        </p:nvSpPr>
        <p:spPr>
          <a:xfrm>
            <a:off x="755650" y="4292600"/>
            <a:ext cx="7813675" cy="80645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1600" dirty="0">
                <a:solidFill>
                  <a:srgbClr val="002060"/>
                </a:solidFill>
              </a:rPr>
              <a:t>где </a:t>
            </a:r>
            <a:r>
              <a:rPr lang="en-US" sz="1600" b="1" i="1" dirty="0">
                <a:solidFill>
                  <a:srgbClr val="002060"/>
                </a:solidFill>
              </a:rPr>
              <a:t>n</a:t>
            </a:r>
            <a:r>
              <a:rPr lang="ru-RU" sz="1600" dirty="0">
                <a:solidFill>
                  <a:srgbClr val="002060"/>
                </a:solidFill>
              </a:rPr>
              <a:t> – общее число опасностей, в результате воздействия которых может наступить несчастный случай (микротравма, профессиональное заболевание)</a:t>
            </a:r>
            <a:endParaRPr lang="ru-RU" sz="1600" dirty="0">
              <a:solidFill>
                <a:srgbClr val="002060"/>
              </a:solidFill>
              <a:cs typeface="Arial" pitchFamily="34" charset="0"/>
            </a:endParaRPr>
          </a:p>
        </p:txBody>
      </p:sp>
      <p:sp>
        <p:nvSpPr>
          <p:cNvPr id="103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sz="1800">
              <a:solidFill>
                <a:schemeClr val="tx1"/>
              </a:solidFill>
              <a:latin typeface="Arial" charset="0"/>
            </a:endParaRPr>
          </a:p>
        </p:txBody>
      </p:sp>
      <p:sp>
        <p:nvSpPr>
          <p:cNvPr id="9" name="Скругленный прямоугольник 8"/>
          <p:cNvSpPr/>
          <p:nvPr/>
        </p:nvSpPr>
        <p:spPr>
          <a:xfrm>
            <a:off x="755650" y="5300663"/>
            <a:ext cx="7813675" cy="13589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1300" dirty="0">
                <a:solidFill>
                  <a:srgbClr val="002060"/>
                </a:solidFill>
              </a:rPr>
              <a:t>Количественное оценивание риска, проводимое по такой формуле,  в реальных условиях производства затруднено. Только в очень ограниченном числе ситуаций, например, в случаях </a:t>
            </a:r>
            <a:r>
              <a:rPr lang="ru-RU" sz="1300" u="sng" dirty="0">
                <a:solidFill>
                  <a:srgbClr val="002060"/>
                </a:solidFill>
              </a:rPr>
              <a:t>многолетнего контроля </a:t>
            </a:r>
            <a:r>
              <a:rPr lang="ru-RU" sz="1300" dirty="0">
                <a:solidFill>
                  <a:srgbClr val="002060"/>
                </a:solidFill>
              </a:rPr>
              <a:t>за состоянием условий труда на рабочих местах, возможно с </a:t>
            </a:r>
            <a:r>
              <a:rPr lang="ru-RU" sz="1300" u="sng" dirty="0">
                <a:solidFill>
                  <a:srgbClr val="002060"/>
                </a:solidFill>
              </a:rPr>
              <a:t>высокой степенью достоверности </a:t>
            </a:r>
            <a:r>
              <a:rPr lang="ru-RU" sz="1300" dirty="0">
                <a:solidFill>
                  <a:srgbClr val="002060"/>
                </a:solidFill>
              </a:rPr>
              <a:t>говорить о </a:t>
            </a:r>
            <a:r>
              <a:rPr lang="ru-RU" sz="1300" u="sng" dirty="0">
                <a:solidFill>
                  <a:srgbClr val="002060"/>
                </a:solidFill>
              </a:rPr>
              <a:t>значениях вероятности </a:t>
            </a:r>
            <a:r>
              <a:rPr lang="ru-RU" sz="1300" dirty="0">
                <a:solidFill>
                  <a:srgbClr val="002060"/>
                </a:solidFill>
              </a:rPr>
              <a:t>наступления несчастных случаев и </a:t>
            </a:r>
            <a:r>
              <a:rPr lang="ru-RU" sz="1300" u="sng" dirty="0">
                <a:solidFill>
                  <a:srgbClr val="002060"/>
                </a:solidFill>
              </a:rPr>
              <a:t>зафиксированной тяжести </a:t>
            </a:r>
            <a:r>
              <a:rPr lang="ru-RU" sz="1300" dirty="0">
                <a:solidFill>
                  <a:srgbClr val="002060"/>
                </a:solidFill>
              </a:rPr>
              <a:t>их последствий для здоровья работников</a:t>
            </a:r>
            <a:endParaRPr lang="ru-RU" sz="1300" dirty="0">
              <a:solidFill>
                <a:srgbClr val="002060"/>
              </a:solidFill>
              <a:cs typeface="Arial" pitchFamily="34" charset="0"/>
            </a:endParaRPr>
          </a:p>
        </p:txBody>
      </p:sp>
      <p:graphicFrame>
        <p:nvGraphicFramePr>
          <p:cNvPr id="1033" name="Object 9"/>
          <p:cNvGraphicFramePr>
            <a:graphicFrameLocks noChangeAspect="1"/>
          </p:cNvGraphicFramePr>
          <p:nvPr/>
        </p:nvGraphicFramePr>
        <p:xfrm>
          <a:off x="2411413" y="3141663"/>
          <a:ext cx="3324225" cy="1008062"/>
        </p:xfrm>
        <a:graphic>
          <a:graphicData uri="http://schemas.openxmlformats.org/presentationml/2006/ole">
            <mc:AlternateContent xmlns:mc="http://schemas.openxmlformats.org/markup-compatibility/2006">
              <mc:Choice xmlns:v="urn:schemas-microsoft-com:vml" Requires="v">
                <p:oleObj spid="_x0000_s1034" name="Формула" r:id="rId3" imgW="736560" imgH="457200" progId="Equation.3">
                  <p:embed/>
                </p:oleObj>
              </mc:Choice>
              <mc:Fallback>
                <p:oleObj name="Формула" r:id="rId3" imgW="736560" imgH="457200"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3141663"/>
                        <a:ext cx="3324225"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a:xfrm>
            <a:off x="322263" y="1311276"/>
            <a:ext cx="6069012" cy="4569020"/>
          </a:xfrm>
        </p:spPr>
        <p:txBody>
          <a:bodyPr/>
          <a:lstStyle/>
          <a:p>
            <a:pPr>
              <a:lnSpc>
                <a:spcPct val="80000"/>
              </a:lnSpc>
              <a:buFont typeface="Wingdings 2" pitchFamily="18" charset="2"/>
              <a:buNone/>
            </a:pPr>
            <a:r>
              <a:rPr lang="ru-RU" sz="1800" b="1" dirty="0" smtClean="0">
                <a:solidFill>
                  <a:srgbClr val="002060"/>
                </a:solidFill>
                <a:latin typeface="Garamond" pitchFamily="18" charset="0"/>
              </a:rPr>
              <a:t> Косвенные методы оценки рисков для здоровья и жизни работников используют показатели, характеризующие отклонение существующих (контролируемых) условий (параметров) от норм и имеющие причинно-следственную связь с рисками. </a:t>
            </a:r>
          </a:p>
          <a:p>
            <a:pPr>
              <a:lnSpc>
                <a:spcPct val="80000"/>
              </a:lnSpc>
              <a:buFont typeface="Wingdings 2" pitchFamily="18" charset="2"/>
              <a:buNone/>
            </a:pPr>
            <a:endParaRPr lang="ru-RU" sz="1800" b="1" dirty="0" smtClean="0">
              <a:solidFill>
                <a:srgbClr val="002060"/>
              </a:solidFill>
              <a:latin typeface="Garamond" pitchFamily="18" charset="0"/>
            </a:endParaRPr>
          </a:p>
          <a:p>
            <a:pPr>
              <a:lnSpc>
                <a:spcPct val="80000"/>
              </a:lnSpc>
              <a:buFont typeface="Wingdings 2" pitchFamily="18" charset="2"/>
              <a:buNone/>
            </a:pPr>
            <a:r>
              <a:rPr lang="ru-RU" sz="1800" b="1" dirty="0" smtClean="0">
                <a:solidFill>
                  <a:srgbClr val="002060"/>
                </a:solidFill>
                <a:latin typeface="Garamond" pitchFamily="18" charset="0"/>
              </a:rPr>
              <a:t>К таким показателям, например, относятся: </a:t>
            </a:r>
          </a:p>
          <a:p>
            <a:pPr>
              <a:lnSpc>
                <a:spcPct val="80000"/>
              </a:lnSpc>
              <a:buFont typeface="Wingdings" pitchFamily="2" charset="2"/>
              <a:buChar char="ü"/>
            </a:pPr>
            <a:r>
              <a:rPr lang="ru-RU" sz="1800" b="1" dirty="0" smtClean="0">
                <a:solidFill>
                  <a:srgbClr val="002060"/>
                </a:solidFill>
                <a:latin typeface="Garamond" pitchFamily="18" charset="0"/>
              </a:rPr>
              <a:t>- превышение измеренных или рассчитанных значений вредных и (или) опасных производственных факторов предельно допустимых концентраций (ПДК), уровней (ПДУ), установленных гигиеническими критериями и нормативами;</a:t>
            </a:r>
          </a:p>
          <a:p>
            <a:pPr>
              <a:lnSpc>
                <a:spcPct val="80000"/>
              </a:lnSpc>
              <a:buFont typeface="Wingdings" pitchFamily="2" charset="2"/>
              <a:buChar char="ü"/>
            </a:pPr>
            <a:r>
              <a:rPr lang="ru-RU" sz="1800" b="1" dirty="0" smtClean="0">
                <a:solidFill>
                  <a:srgbClr val="002060"/>
                </a:solidFill>
                <a:latin typeface="Garamond" pitchFamily="18" charset="0"/>
              </a:rPr>
              <a:t>- общее количество факторов производственной среды, отклоняющихся от нормальных;</a:t>
            </a:r>
          </a:p>
          <a:p>
            <a:pPr>
              <a:lnSpc>
                <a:spcPct val="80000"/>
              </a:lnSpc>
              <a:buFont typeface="Wingdings" pitchFamily="2" charset="2"/>
              <a:buChar char="ü"/>
            </a:pPr>
            <a:r>
              <a:rPr lang="ru-RU" sz="1800" b="1" dirty="0" smtClean="0">
                <a:solidFill>
                  <a:srgbClr val="002060"/>
                </a:solidFill>
                <a:latin typeface="Garamond" pitchFamily="18" charset="0"/>
              </a:rPr>
              <a:t>- отношение выполненных на рабочем месте нормативных требований охраны труда к их общему количеству.</a:t>
            </a:r>
          </a:p>
        </p:txBody>
      </p:sp>
      <p:sp>
        <p:nvSpPr>
          <p:cNvPr id="218114" name="Rectangle 2"/>
          <p:cNvSpPr>
            <a:spLocks noChangeArrowheads="1"/>
          </p:cNvSpPr>
          <p:nvPr/>
        </p:nvSpPr>
        <p:spPr bwMode="auto">
          <a:xfrm>
            <a:off x="250825" y="404813"/>
            <a:ext cx="8496300" cy="649287"/>
          </a:xfrm>
          <a:prstGeom prst="rect">
            <a:avLst/>
          </a:prstGeom>
          <a:noFill/>
          <a:ln w="9525">
            <a:noFill/>
            <a:miter lim="800000"/>
            <a:headEnd/>
            <a:tailEnd/>
          </a:ln>
        </p:spPr>
        <p:txBody>
          <a:bodyPr lIns="0" rIns="0" bIns="0" anchor="b"/>
          <a:lstStyle/>
          <a:p>
            <a:pPr algn="ctr">
              <a:defRPr/>
            </a:pPr>
            <a:r>
              <a:rPr lang="ru-RU" sz="3200" b="1" dirty="0">
                <a:effectLst>
                  <a:outerShdw blurRad="38100" dist="38100" dir="2700000" algn="tl">
                    <a:srgbClr val="C0C0C0"/>
                  </a:outerShdw>
                </a:effectLst>
                <a:latin typeface="Arial" pitchFamily="34" charset="0"/>
                <a:cs typeface="Arial" pitchFamily="34" charset="0"/>
              </a:rPr>
              <a:t>Косвенные методы оценки риска</a:t>
            </a:r>
          </a:p>
        </p:txBody>
      </p:sp>
      <p:pic>
        <p:nvPicPr>
          <p:cNvPr id="136195" name="Picture 2" descr="http://novostipmr.com/sites/default/files/field/image/201509/vozduh.jpg"/>
          <p:cNvPicPr>
            <a:picLocks noChangeAspect="1" noChangeArrowheads="1"/>
          </p:cNvPicPr>
          <p:nvPr/>
        </p:nvPicPr>
        <p:blipFill>
          <a:blip r:embed="rId3"/>
          <a:srcRect/>
          <a:stretch>
            <a:fillRect/>
          </a:stretch>
        </p:blipFill>
        <p:spPr bwMode="auto">
          <a:xfrm>
            <a:off x="6391274" y="3483391"/>
            <a:ext cx="2752725" cy="183062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35170">
                                            <p:txEl>
                                              <p:pRg st="0" end="0"/>
                                            </p:txEl>
                                          </p:spTgt>
                                        </p:tgtEl>
                                        <p:attrNameLst>
                                          <p:attrName>style.visibility</p:attrName>
                                        </p:attrNameLst>
                                      </p:cBhvr>
                                      <p:to>
                                        <p:strVal val="visible"/>
                                      </p:to>
                                    </p:set>
                                    <p:anim calcmode="lin" valueType="num">
                                      <p:cBhvr additive="base">
                                        <p:cTn id="14" dur="500" fill="hold"/>
                                        <p:tgtEl>
                                          <p:spTgt spid="135170">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35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35170">
                                            <p:txEl>
                                              <p:pRg st="2" end="2"/>
                                            </p:txEl>
                                          </p:spTgt>
                                        </p:tgtEl>
                                        <p:attrNameLst>
                                          <p:attrName>style.visibility</p:attrName>
                                        </p:attrNameLst>
                                      </p:cBhvr>
                                      <p:to>
                                        <p:strVal val="visible"/>
                                      </p:to>
                                    </p:set>
                                    <p:anim calcmode="lin" valueType="num">
                                      <p:cBhvr additive="base">
                                        <p:cTn id="20" dur="500" fill="hold"/>
                                        <p:tgtEl>
                                          <p:spTgt spid="135170">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35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35170">
                                            <p:txEl>
                                              <p:pRg st="3" end="3"/>
                                            </p:txEl>
                                          </p:spTgt>
                                        </p:tgtEl>
                                        <p:attrNameLst>
                                          <p:attrName>style.visibility</p:attrName>
                                        </p:attrNameLst>
                                      </p:cBhvr>
                                      <p:to>
                                        <p:strVal val="visible"/>
                                      </p:to>
                                    </p:set>
                                    <p:anim calcmode="lin" valueType="num">
                                      <p:cBhvr additive="base">
                                        <p:cTn id="26" dur="500" fill="hold"/>
                                        <p:tgtEl>
                                          <p:spTgt spid="135170">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51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5170">
                                            <p:txEl>
                                              <p:pRg st="4" end="4"/>
                                            </p:txEl>
                                          </p:spTgt>
                                        </p:tgtEl>
                                        <p:attrNameLst>
                                          <p:attrName>style.visibility</p:attrName>
                                        </p:attrNameLst>
                                      </p:cBhvr>
                                      <p:to>
                                        <p:strVal val="visible"/>
                                      </p:to>
                                    </p:set>
                                    <p:anim calcmode="lin" valueType="num">
                                      <p:cBhvr additive="base">
                                        <p:cTn id="32" dur="500" fill="hold"/>
                                        <p:tgtEl>
                                          <p:spTgt spid="135170">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51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35170">
                                            <p:txEl>
                                              <p:pRg st="5" end="5"/>
                                            </p:txEl>
                                          </p:spTgt>
                                        </p:tgtEl>
                                        <p:attrNameLst>
                                          <p:attrName>style.visibility</p:attrName>
                                        </p:attrNameLst>
                                      </p:cBhvr>
                                      <p:to>
                                        <p:strVal val="visible"/>
                                      </p:to>
                                    </p:set>
                                    <p:anim calcmode="lin" valueType="num">
                                      <p:cBhvr additive="base">
                                        <p:cTn id="38" dur="500" fill="hold"/>
                                        <p:tgtEl>
                                          <p:spTgt spid="135170">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351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build="p"/>
      <p:bldP spid="218114"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ChangeArrowheads="1"/>
          </p:cNvSpPr>
          <p:nvPr/>
        </p:nvSpPr>
        <p:spPr bwMode="auto">
          <a:xfrm>
            <a:off x="250825" y="404813"/>
            <a:ext cx="8496300" cy="649287"/>
          </a:xfrm>
          <a:prstGeom prst="rect">
            <a:avLst/>
          </a:prstGeom>
          <a:noFill/>
          <a:ln w="9525">
            <a:noFill/>
            <a:miter lim="800000"/>
            <a:headEnd/>
            <a:tailEnd/>
          </a:ln>
        </p:spPr>
        <p:txBody>
          <a:bodyPr lIns="0" rIns="0" bIns="0" anchor="b"/>
          <a:lstStyle/>
          <a:p>
            <a:pPr algn="ctr">
              <a:defRPr/>
            </a:pPr>
            <a:r>
              <a:rPr lang="ru-RU" sz="3200" b="1" dirty="0">
                <a:effectLst>
                  <a:outerShdw blurRad="38100" dist="38100" dir="2700000" algn="tl">
                    <a:srgbClr val="C0C0C0"/>
                  </a:outerShdw>
                </a:effectLst>
                <a:latin typeface="Arial" pitchFamily="34" charset="0"/>
                <a:cs typeface="Arial" pitchFamily="34" charset="0"/>
              </a:rPr>
              <a:t>Косвенные методы оценки риска</a:t>
            </a:r>
          </a:p>
        </p:txBody>
      </p:sp>
      <p:sp>
        <p:nvSpPr>
          <p:cNvPr id="5" name="Скругленный прямоугольник 4"/>
          <p:cNvSpPr/>
          <p:nvPr/>
        </p:nvSpPr>
        <p:spPr>
          <a:xfrm>
            <a:off x="250825" y="1173163"/>
            <a:ext cx="8316913" cy="118268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ru-RU" sz="1800" b="1" dirty="0">
                <a:solidFill>
                  <a:srgbClr val="002060"/>
                </a:solidFill>
              </a:rPr>
              <a:t>Р 2.2.1766-03 </a:t>
            </a:r>
            <a:r>
              <a:rPr lang="ru-RU" sz="1800" b="1" dirty="0" smtClean="0">
                <a:solidFill>
                  <a:srgbClr val="002060"/>
                </a:solidFill>
              </a:rPr>
              <a:t>«Руководство </a:t>
            </a:r>
            <a:r>
              <a:rPr lang="ru-RU" sz="1800" b="1" dirty="0">
                <a:solidFill>
                  <a:srgbClr val="002060"/>
                </a:solidFill>
              </a:rPr>
              <a:t>по оценке профессионального риска для здоровья работников. Организационно – методические основы, принципы и критерии </a:t>
            </a:r>
            <a:r>
              <a:rPr lang="ru-RU" sz="1800" b="1" dirty="0" smtClean="0">
                <a:solidFill>
                  <a:srgbClr val="002060"/>
                </a:solidFill>
              </a:rPr>
              <a:t>оценки»</a:t>
            </a:r>
            <a:endParaRPr lang="ru-RU" sz="2400" dirty="0">
              <a:solidFill>
                <a:srgbClr val="002060"/>
              </a:solidFill>
              <a:cs typeface="Arial" pitchFamily="34" charset="0"/>
            </a:endParaRPr>
          </a:p>
        </p:txBody>
      </p:sp>
      <p:sp>
        <p:nvSpPr>
          <p:cNvPr id="7" name="Скругленный прямоугольник 6"/>
          <p:cNvSpPr/>
          <p:nvPr/>
        </p:nvSpPr>
        <p:spPr>
          <a:xfrm>
            <a:off x="250825" y="2493963"/>
            <a:ext cx="8716963" cy="39624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1200" b="1" dirty="0">
                <a:solidFill>
                  <a:srgbClr val="002060"/>
                </a:solidFill>
              </a:rPr>
              <a:t>Косвенный метод оценки рисков на основе определения класса условий труда</a:t>
            </a:r>
          </a:p>
          <a:p>
            <a:pPr>
              <a:defRPr/>
            </a:pPr>
            <a:r>
              <a:rPr lang="ru-RU" sz="1200" dirty="0">
                <a:solidFill>
                  <a:srgbClr val="002060"/>
                </a:solidFill>
              </a:rPr>
              <a:t>	Все условия труда в зависимости от величины возможного ущерба здоровью и жизни работника делят на классы. </a:t>
            </a:r>
          </a:p>
          <a:p>
            <a:pPr>
              <a:defRPr/>
            </a:pPr>
            <a:r>
              <a:rPr lang="ru-RU" sz="1200" dirty="0">
                <a:solidFill>
                  <a:srgbClr val="002060"/>
                </a:solidFill>
              </a:rPr>
              <a:t>	Например, к первому классу относят такие условия, при которых вредные факторы отсутствуют либо не превышают уровни, принятые в качестве безопасных. Ко второму классу - условия, при которых нет превышения установленных гигиенических нормативов, а возможные изменения функционального состояния организма восстанавливаются во время регламентированного отдыха или к началу следующей смены и не оказывают неблагоприятного действия в ближайшем и отдаленном периоде на состояние здоровья работника. К третьему классу - условия, при которых возможен ущерб, присущий первой группе и т.д. </a:t>
            </a:r>
          </a:p>
          <a:p>
            <a:pPr>
              <a:defRPr/>
            </a:pPr>
            <a:r>
              <a:rPr lang="ru-RU" sz="1200" dirty="0">
                <a:solidFill>
                  <a:srgbClr val="002060"/>
                </a:solidFill>
              </a:rPr>
              <a:t>	Отнесение условий труда к тому или иному классу в зависимости от уровней (значений) показателей, характеризующих вредные и (или) опасные производственные факторы, тяжесть и напряженность труда, выполнение требований безопасности труда, проводят по действующим правилам, методикам, руководствам. Для этого сначала измеряют (рассчитывают) значение показателя, а затем его сравнивают с нормативными предельно допустимыми значениями (концентрациями, уровнями и т.д.). Степень (кратность) превышения является критерием отнесения конкретных условий к классу.</a:t>
            </a:r>
            <a:br>
              <a:rPr lang="ru-RU" sz="1200" dirty="0">
                <a:solidFill>
                  <a:srgbClr val="002060"/>
                </a:solidFill>
              </a:rPr>
            </a:br>
            <a:r>
              <a:rPr lang="ru-RU" sz="1200" dirty="0">
                <a:solidFill>
                  <a:srgbClr val="002060"/>
                </a:solidFill>
              </a:rPr>
              <a:t>	Каждому классу условий труда соответствует определенный риск, выраженный как качественной величиной (от пренебрежимо малого до сверхвысокого), так и количественной величиной - индексом профессиональной заболеваемости.</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ChangeArrowheads="1"/>
          </p:cNvSpPr>
          <p:nvPr/>
        </p:nvSpPr>
        <p:spPr bwMode="auto">
          <a:xfrm>
            <a:off x="895350" y="225425"/>
            <a:ext cx="7924800" cy="647700"/>
          </a:xfrm>
          <a:prstGeom prst="rect">
            <a:avLst/>
          </a:prstGeom>
          <a:noFill/>
          <a:ln w="9525">
            <a:noFill/>
            <a:miter lim="800000"/>
            <a:headEnd/>
            <a:tailEnd/>
          </a:ln>
        </p:spPr>
        <p:txBody>
          <a:bodyPr lIns="0" rIns="0" bIns="0" anchor="b"/>
          <a:lstStyle/>
          <a:p>
            <a:pPr algn="ctr">
              <a:defRPr/>
            </a:pPr>
            <a:r>
              <a:rPr lang="ru-RU" sz="2800" b="1" dirty="0">
                <a:effectLst>
                  <a:outerShdw blurRad="38100" dist="38100" dir="2700000" algn="tl">
                    <a:srgbClr val="C0C0C0"/>
                  </a:outerShdw>
                </a:effectLst>
                <a:latin typeface="Arial" pitchFamily="34" charset="0"/>
                <a:cs typeface="Arial" pitchFamily="34" charset="0"/>
              </a:rPr>
              <a:t>Примеры косвенных методов оценки риска</a:t>
            </a:r>
          </a:p>
        </p:txBody>
      </p:sp>
      <p:sp>
        <p:nvSpPr>
          <p:cNvPr id="7" name="Прямоугольник 6"/>
          <p:cNvSpPr>
            <a:spLocks noChangeArrowheads="1"/>
          </p:cNvSpPr>
          <p:nvPr/>
        </p:nvSpPr>
        <p:spPr bwMode="auto">
          <a:xfrm>
            <a:off x="323850" y="1006475"/>
            <a:ext cx="6192838" cy="4402138"/>
          </a:xfrm>
          <a:prstGeom prst="rect">
            <a:avLst/>
          </a:prstGeom>
          <a:noFill/>
          <a:ln w="9525">
            <a:noFill/>
            <a:miter lim="800000"/>
            <a:headEnd/>
            <a:tailEnd/>
          </a:ln>
        </p:spPr>
        <p:txBody>
          <a:bodyPr>
            <a:spAutoFit/>
          </a:bodyPr>
          <a:lstStyle/>
          <a:p>
            <a:r>
              <a:rPr lang="ru-RU" b="1" u="sng">
                <a:latin typeface="Arial" charset="0"/>
              </a:rPr>
              <a:t>Метод интервью. </a:t>
            </a:r>
          </a:p>
          <a:p>
            <a:r>
              <a:rPr lang="ru-RU" b="1" i="1">
                <a:latin typeface="Arial" charset="0"/>
              </a:rPr>
              <a:t>Отдельным группам работников (например, работающим в одном цехе, отделе, либо обслуживающим оборудование) задают ряд уже подготовленных вопросов относительно возможных опасностей (рисков), с которыми работники сталкиваются в ходе выполнения своей трудовой функции. </a:t>
            </a:r>
          </a:p>
          <a:p>
            <a:r>
              <a:rPr lang="ru-RU" b="1" i="1">
                <a:latin typeface="Arial" charset="0"/>
              </a:rPr>
              <a:t>Целями использования метода являются как выявление опасностей, с которыми сталкиваются работники, так и вовлечение работников в процесс оценки и управления рисками. </a:t>
            </a:r>
          </a:p>
          <a:p>
            <a:r>
              <a:rPr lang="ru-RU" b="1" i="1">
                <a:latin typeface="Arial" charset="0"/>
              </a:rPr>
              <a:t>Метод может применяться как в форме анкетирования, так и в форме так называемых «аудитов безопасного поведения».</a:t>
            </a:r>
          </a:p>
          <a:p>
            <a:endParaRPr lang="ru-RU" b="1" i="1">
              <a:latin typeface="Arial" charset="0"/>
            </a:endParaRPr>
          </a:p>
          <a:p>
            <a:r>
              <a:rPr lang="ru-RU" b="1" u="sng">
                <a:latin typeface="Arial" charset="0"/>
              </a:rPr>
              <a:t>Метод контрольных листов («чек-листов»). </a:t>
            </a:r>
          </a:p>
          <a:p>
            <a:r>
              <a:rPr lang="ru-RU" b="1" i="1">
                <a:latin typeface="Arial" charset="0"/>
              </a:rPr>
              <a:t>Контрольный лист – это перечень опасностей и/или рисков, который формируется на основе данных производственного контроля, предыдущих оценок рисков. Организация, как правило, разрабатывает контрольные листы с учетом специфики своей деятельности, однако, имеются и типовые контрольные листы для определенных опасностей, профессий и видов работ. </a:t>
            </a:r>
          </a:p>
        </p:txBody>
      </p:sp>
      <p:pic>
        <p:nvPicPr>
          <p:cNvPr id="140291" name="Рисунок 4" descr="http://d3lgc28rsiigal.cloudfront.net/wp-content/uploads/2014/07/polls.jpg?4814de"/>
          <p:cNvPicPr>
            <a:picLocks noChangeAspect="1" noChangeArrowheads="1"/>
          </p:cNvPicPr>
          <p:nvPr/>
        </p:nvPicPr>
        <p:blipFill>
          <a:blip r:embed="rId3"/>
          <a:srcRect/>
          <a:stretch>
            <a:fillRect/>
          </a:stretch>
        </p:blipFill>
        <p:spPr bwMode="auto">
          <a:xfrm>
            <a:off x="5984875" y="3592513"/>
            <a:ext cx="3159125" cy="32654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wipe(down)">
                                      <p:cBhvr>
                                        <p:cTn id="14" dur="500"/>
                                        <p:tgtEl>
                                          <p:spTgt spid="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wipe(down)">
                                      <p:cBhvr>
                                        <p:cTn id="19" dur="500"/>
                                        <p:tgtEl>
                                          <p:spTgt spid="7">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wipe(down)">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wipe(down)">
                                      <p:cBhvr>
                                        <p:cTn id="29" dur="500"/>
                                        <p:tgtEl>
                                          <p:spTgt spid="7">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wipe(down)">
                                      <p:cBhvr>
                                        <p:cTn id="34" dur="500"/>
                                        <p:tgtEl>
                                          <p:spTgt spid="7">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animEffect transition="in" filter="wipe(down)">
                                      <p:cBhvr>
                                        <p:cTn id="39"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2337" name="Рисунок 6" descr="http://d3lgc28rsiigal.cloudfront.net/wp-content/uploads/2014/07/polls.jpg?4814de"/>
          <p:cNvPicPr>
            <a:picLocks noChangeAspect="1" noChangeArrowheads="1"/>
          </p:cNvPicPr>
          <p:nvPr/>
        </p:nvPicPr>
        <p:blipFill>
          <a:blip r:embed="rId3"/>
          <a:srcRect/>
          <a:stretch>
            <a:fillRect/>
          </a:stretch>
        </p:blipFill>
        <p:spPr bwMode="auto">
          <a:xfrm>
            <a:off x="6321425" y="2271713"/>
            <a:ext cx="2822575" cy="2365375"/>
          </a:xfrm>
          <a:prstGeom prst="rect">
            <a:avLst/>
          </a:prstGeom>
          <a:noFill/>
          <a:ln w="9525">
            <a:noFill/>
            <a:miter lim="800000"/>
            <a:headEnd/>
            <a:tailEnd/>
          </a:ln>
        </p:spPr>
      </p:pic>
      <p:sp>
        <p:nvSpPr>
          <p:cNvPr id="6" name="Rectangle 4"/>
          <p:cNvSpPr>
            <a:spLocks noChangeArrowheads="1"/>
          </p:cNvSpPr>
          <p:nvPr/>
        </p:nvSpPr>
        <p:spPr bwMode="auto">
          <a:xfrm>
            <a:off x="323850" y="2565400"/>
            <a:ext cx="6215063" cy="3816350"/>
          </a:xfrm>
          <a:prstGeom prst="rect">
            <a:avLst/>
          </a:prstGeom>
          <a:noFill/>
          <a:ln w="9525">
            <a:noFill/>
            <a:miter lim="800000"/>
            <a:headEnd/>
            <a:tailEnd/>
          </a:ln>
        </p:spPr>
        <p:txBody>
          <a:bodyPr/>
          <a:lstStyle/>
          <a:p>
            <a:pPr marL="342900" indent="-342900">
              <a:lnSpc>
                <a:spcPct val="80000"/>
              </a:lnSpc>
              <a:spcBef>
                <a:spcPct val="20000"/>
              </a:spcBef>
              <a:buClr>
                <a:schemeClr val="hlink"/>
              </a:buClr>
              <a:buFont typeface="Wingdings" pitchFamily="2" charset="2"/>
              <a:buChar char="ü"/>
            </a:pPr>
            <a:endParaRPr lang="ru-RU" sz="2800" b="1">
              <a:latin typeface="Arial" charset="0"/>
            </a:endParaRPr>
          </a:p>
          <a:p>
            <a:pPr marL="342900" indent="-342900">
              <a:lnSpc>
                <a:spcPct val="80000"/>
              </a:lnSpc>
              <a:spcBef>
                <a:spcPct val="20000"/>
              </a:spcBef>
              <a:buClr>
                <a:schemeClr val="hlink"/>
              </a:buClr>
              <a:buFont typeface="Wingdings" pitchFamily="2" charset="2"/>
              <a:buChar char="ü"/>
            </a:pPr>
            <a:r>
              <a:rPr lang="ru-RU" sz="2400" b="1">
                <a:latin typeface="Arial" charset="0"/>
              </a:rPr>
              <a:t>Производственный процесс </a:t>
            </a:r>
          </a:p>
          <a:p>
            <a:pPr marL="342900" indent="-342900">
              <a:lnSpc>
                <a:spcPct val="80000"/>
              </a:lnSpc>
              <a:spcBef>
                <a:spcPct val="20000"/>
              </a:spcBef>
              <a:buClr>
                <a:schemeClr val="hlink"/>
              </a:buClr>
              <a:buFont typeface="Wingdings" pitchFamily="2" charset="2"/>
              <a:buChar char="ü"/>
            </a:pPr>
            <a:r>
              <a:rPr lang="ru-RU" sz="2400" b="1">
                <a:latin typeface="Arial" charset="0"/>
              </a:rPr>
              <a:t>Машины и оборудование </a:t>
            </a:r>
          </a:p>
          <a:p>
            <a:pPr marL="342900" indent="-342900">
              <a:lnSpc>
                <a:spcPct val="80000"/>
              </a:lnSpc>
              <a:spcBef>
                <a:spcPct val="20000"/>
              </a:spcBef>
              <a:buClr>
                <a:schemeClr val="hlink"/>
              </a:buClr>
              <a:buFont typeface="Wingdings" pitchFamily="2" charset="2"/>
              <a:buChar char="ü"/>
            </a:pPr>
            <a:r>
              <a:rPr lang="ru-RU" sz="2400" b="1">
                <a:latin typeface="Arial" charset="0"/>
              </a:rPr>
              <a:t>Порядок и чистота на рабочем месте </a:t>
            </a:r>
          </a:p>
          <a:p>
            <a:pPr marL="342900" indent="-342900">
              <a:lnSpc>
                <a:spcPct val="80000"/>
              </a:lnSpc>
              <a:spcBef>
                <a:spcPct val="20000"/>
              </a:spcBef>
              <a:buClr>
                <a:schemeClr val="hlink"/>
              </a:buClr>
              <a:buFont typeface="Wingdings" pitchFamily="2" charset="2"/>
              <a:buChar char="ü"/>
            </a:pPr>
            <a:r>
              <a:rPr lang="ru-RU" sz="2400" b="1">
                <a:latin typeface="Arial" charset="0"/>
              </a:rPr>
              <a:t>Факторы окружающей среды </a:t>
            </a:r>
          </a:p>
          <a:p>
            <a:pPr marL="342900" indent="-342900">
              <a:lnSpc>
                <a:spcPct val="80000"/>
              </a:lnSpc>
              <a:spcBef>
                <a:spcPct val="20000"/>
              </a:spcBef>
              <a:buClr>
                <a:schemeClr val="hlink"/>
              </a:buClr>
              <a:buFont typeface="Wingdings" pitchFamily="2" charset="2"/>
              <a:buChar char="ü"/>
            </a:pPr>
            <a:r>
              <a:rPr lang="ru-RU" sz="2400" b="1">
                <a:latin typeface="Arial" charset="0"/>
              </a:rPr>
              <a:t>Эргономика </a:t>
            </a:r>
          </a:p>
          <a:p>
            <a:pPr marL="342900" indent="-342900">
              <a:lnSpc>
                <a:spcPct val="80000"/>
              </a:lnSpc>
              <a:spcBef>
                <a:spcPct val="20000"/>
              </a:spcBef>
              <a:buClr>
                <a:schemeClr val="hlink"/>
              </a:buClr>
              <a:buFont typeface="Wingdings" pitchFamily="2" charset="2"/>
              <a:buChar char="ü"/>
            </a:pPr>
            <a:r>
              <a:rPr lang="ru-RU" sz="2400" b="1">
                <a:latin typeface="Arial" charset="0"/>
              </a:rPr>
              <a:t>Проходы и проезды </a:t>
            </a:r>
          </a:p>
          <a:p>
            <a:pPr marL="342900" indent="-342900">
              <a:lnSpc>
                <a:spcPct val="80000"/>
              </a:lnSpc>
              <a:spcBef>
                <a:spcPct val="20000"/>
              </a:spcBef>
              <a:buClr>
                <a:schemeClr val="hlink"/>
              </a:buClr>
              <a:buFont typeface="Wingdings" pitchFamily="2" charset="2"/>
              <a:buChar char="ü"/>
            </a:pPr>
            <a:r>
              <a:rPr lang="ru-RU" sz="2400" b="1">
                <a:latin typeface="Arial" charset="0"/>
              </a:rPr>
              <a:t>Возможности для спасения и оказания первой помощи </a:t>
            </a:r>
          </a:p>
        </p:txBody>
      </p:sp>
      <p:sp>
        <p:nvSpPr>
          <p:cNvPr id="8" name="Rectangle 2"/>
          <p:cNvSpPr>
            <a:spLocks noChangeArrowheads="1"/>
          </p:cNvSpPr>
          <p:nvPr/>
        </p:nvSpPr>
        <p:spPr bwMode="auto">
          <a:xfrm>
            <a:off x="628650" y="220663"/>
            <a:ext cx="8101013" cy="511175"/>
          </a:xfrm>
          <a:prstGeom prst="rect">
            <a:avLst/>
          </a:prstGeom>
          <a:noFill/>
          <a:ln w="9525">
            <a:noFill/>
            <a:miter lim="800000"/>
            <a:headEnd/>
            <a:tailEnd/>
          </a:ln>
        </p:spPr>
        <p:txBody>
          <a:bodyPr lIns="0" rIns="0" bIns="0" anchor="b"/>
          <a:lstStyle/>
          <a:p>
            <a:pPr algn="ctr">
              <a:defRPr/>
            </a:pPr>
            <a:r>
              <a:rPr lang="ru-RU" sz="2800" b="1" dirty="0">
                <a:effectLst>
                  <a:outerShdw blurRad="38100" dist="38100" dir="2700000" algn="tl">
                    <a:srgbClr val="000000">
                      <a:alpha val="43137"/>
                    </a:srgbClr>
                  </a:outerShdw>
                </a:effectLst>
                <a:latin typeface="Arial" pitchFamily="34" charset="0"/>
                <a:cs typeface="Arial" pitchFamily="34" charset="0"/>
              </a:rPr>
              <a:t>Пример косвенного метода оценки риска</a:t>
            </a:r>
          </a:p>
        </p:txBody>
      </p:sp>
      <p:sp>
        <p:nvSpPr>
          <p:cNvPr id="9" name="Выноска со стрелкой вниз 8"/>
          <p:cNvSpPr/>
          <p:nvPr/>
        </p:nvSpPr>
        <p:spPr>
          <a:xfrm>
            <a:off x="960438" y="1019175"/>
            <a:ext cx="7029450" cy="1968500"/>
          </a:xfrm>
          <a:prstGeom prst="downArrowCallou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3200" b="1" dirty="0">
                <a:solidFill>
                  <a:srgbClr val="002060"/>
                </a:solidFill>
              </a:rPr>
              <a:t>Метод </a:t>
            </a:r>
            <a:r>
              <a:rPr lang="ru-RU" sz="3200" b="1" dirty="0" err="1">
                <a:solidFill>
                  <a:srgbClr val="002060"/>
                </a:solidFill>
              </a:rPr>
              <a:t>Элмери</a:t>
            </a:r>
            <a:r>
              <a:rPr lang="ru-RU" sz="3200" b="1" dirty="0">
                <a:solidFill>
                  <a:srgbClr val="002060"/>
                </a:solidFill>
              </a:rPr>
              <a:t>. Наблюдение за производственной средой</a:t>
            </a:r>
          </a:p>
        </p:txBody>
      </p:sp>
      <p:pic>
        <p:nvPicPr>
          <p:cNvPr id="142341" name="Рисунок 7" descr="http://avtomobilist-sbor.ru/wp-content/uploads/2014/07/%D1%87%D0%B5%D0%BB81.jpeg"/>
          <p:cNvPicPr>
            <a:picLocks noChangeAspect="1" noChangeArrowheads="1"/>
          </p:cNvPicPr>
          <p:nvPr/>
        </p:nvPicPr>
        <p:blipFill>
          <a:blip r:embed="rId4"/>
          <a:srcRect/>
          <a:stretch>
            <a:fillRect/>
          </a:stretch>
        </p:blipFill>
        <p:spPr bwMode="auto">
          <a:xfrm>
            <a:off x="6072188" y="4378325"/>
            <a:ext cx="2657475" cy="24796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9">
                                            <p:bg/>
                                          </p:spTgt>
                                        </p:tgtEl>
                                        <p:attrNameLst>
                                          <p:attrName>style.visibility</p:attrName>
                                        </p:attrNameLst>
                                      </p:cBhvr>
                                      <p:to>
                                        <p:strVal val="visible"/>
                                      </p:to>
                                    </p:set>
                                    <p:animEffect transition="in" filter="wipe(down)">
                                      <p:cBhvr>
                                        <p:cTn id="14" dur="500"/>
                                        <p:tgtEl>
                                          <p:spTgt spid="9">
                                            <p:bg/>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wipe(down)">
                                      <p:cBhvr>
                                        <p:cTn id="19" dur="500"/>
                                        <p:tgtEl>
                                          <p:spTgt spid="9">
                                            <p:txEl>
                                              <p:pRg st="0" end="0"/>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wipe(down)">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wipe(down)">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wipe(down)">
                                      <p:cBhvr>
                                        <p:cTn id="32" dur="500"/>
                                        <p:tgtEl>
                                          <p:spTgt spid="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Effect transition="in" filter="wipe(down)">
                                      <p:cBhvr>
                                        <p:cTn id="37" dur="500"/>
                                        <p:tgtEl>
                                          <p:spTgt spid="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wipe(down)">
                                      <p:cBhvr>
                                        <p:cTn id="42" dur="500"/>
                                        <p:tgtEl>
                                          <p:spTgt spid="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wipe(down)">
                                      <p:cBhvr>
                                        <p:cTn id="47" dur="500"/>
                                        <p:tgtEl>
                                          <p:spTgt spid="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wipe(down)">
                                      <p:cBhvr>
                                        <p:cTn id="5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P spid="9" grpId="0" build="p"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Grp="1" noChangeArrowheads="1"/>
          </p:cNvSpPr>
          <p:nvPr>
            <p:ph idx="1"/>
          </p:nvPr>
        </p:nvSpPr>
        <p:spPr>
          <a:xfrm>
            <a:off x="179388" y="1557338"/>
            <a:ext cx="7593012" cy="4940300"/>
          </a:xfrm>
        </p:spPr>
        <p:txBody>
          <a:bodyPr/>
          <a:lstStyle/>
          <a:p>
            <a:pPr>
              <a:buFont typeface="Wingdings" pitchFamily="2" charset="2"/>
              <a:buChar char="ü"/>
            </a:pPr>
            <a:r>
              <a:rPr lang="ru-RU" sz="2800" b="1" smtClean="0">
                <a:solidFill>
                  <a:srgbClr val="002060"/>
                </a:solidFill>
                <a:latin typeface="Garamond" pitchFamily="18" charset="0"/>
                <a:cs typeface="Arial" charset="0"/>
              </a:rPr>
              <a:t>Работники;</a:t>
            </a:r>
          </a:p>
          <a:p>
            <a:pPr>
              <a:buFont typeface="Wingdings" pitchFamily="2" charset="2"/>
              <a:buChar char="ü"/>
            </a:pPr>
            <a:endParaRPr lang="ru-RU" sz="2800" b="1" smtClean="0">
              <a:solidFill>
                <a:srgbClr val="002060"/>
              </a:solidFill>
              <a:latin typeface="Garamond" pitchFamily="18" charset="0"/>
              <a:cs typeface="Arial" charset="0"/>
            </a:endParaRPr>
          </a:p>
          <a:p>
            <a:pPr>
              <a:buFont typeface="Wingdings" pitchFamily="2" charset="2"/>
              <a:buChar char="ü"/>
            </a:pPr>
            <a:r>
              <a:rPr lang="ru-RU" sz="2800" b="1" smtClean="0">
                <a:solidFill>
                  <a:srgbClr val="002060"/>
                </a:solidFill>
                <a:latin typeface="Garamond" pitchFamily="18" charset="0"/>
                <a:cs typeface="Arial" charset="0"/>
              </a:rPr>
              <a:t>Начальники цехов;</a:t>
            </a:r>
          </a:p>
          <a:p>
            <a:pPr>
              <a:buFont typeface="Wingdings" pitchFamily="2" charset="2"/>
              <a:buChar char="ü"/>
            </a:pPr>
            <a:endParaRPr lang="ru-RU" sz="2800" b="1" smtClean="0">
              <a:solidFill>
                <a:srgbClr val="002060"/>
              </a:solidFill>
              <a:latin typeface="Garamond" pitchFamily="18" charset="0"/>
              <a:cs typeface="Arial" charset="0"/>
            </a:endParaRPr>
          </a:p>
          <a:p>
            <a:pPr>
              <a:buFont typeface="Wingdings" pitchFamily="2" charset="2"/>
              <a:buChar char="ü"/>
            </a:pPr>
            <a:r>
              <a:rPr lang="ru-RU" sz="2800" b="1" smtClean="0">
                <a:solidFill>
                  <a:srgbClr val="002060"/>
                </a:solidFill>
                <a:latin typeface="Garamond" pitchFamily="18" charset="0"/>
                <a:cs typeface="Arial" charset="0"/>
              </a:rPr>
              <a:t>Уполномоченный по охране труда;</a:t>
            </a:r>
          </a:p>
          <a:p>
            <a:pPr>
              <a:buFont typeface="Wingdings" pitchFamily="2" charset="2"/>
              <a:buChar char="ü"/>
            </a:pPr>
            <a:endParaRPr lang="ru-RU" sz="2800" b="1" smtClean="0">
              <a:solidFill>
                <a:srgbClr val="002060"/>
              </a:solidFill>
              <a:latin typeface="Garamond" pitchFamily="18" charset="0"/>
              <a:cs typeface="Arial" charset="0"/>
            </a:endParaRPr>
          </a:p>
          <a:p>
            <a:pPr>
              <a:buFont typeface="Wingdings" pitchFamily="2" charset="2"/>
              <a:buChar char="ü"/>
            </a:pPr>
            <a:r>
              <a:rPr lang="ru-RU" sz="2800" b="1" smtClean="0">
                <a:solidFill>
                  <a:srgbClr val="002060"/>
                </a:solidFill>
                <a:latin typeface="Garamond" pitchFamily="18" charset="0"/>
                <a:cs typeface="Arial" charset="0"/>
              </a:rPr>
              <a:t>Инженер по охране труда;</a:t>
            </a:r>
          </a:p>
          <a:p>
            <a:pPr>
              <a:buFont typeface="Wingdings" pitchFamily="2" charset="2"/>
              <a:buChar char="ü"/>
            </a:pPr>
            <a:endParaRPr lang="ru-RU" sz="2800" b="1" smtClean="0">
              <a:solidFill>
                <a:srgbClr val="002060"/>
              </a:solidFill>
              <a:latin typeface="Garamond" pitchFamily="18" charset="0"/>
              <a:cs typeface="Arial" charset="0"/>
            </a:endParaRPr>
          </a:p>
          <a:p>
            <a:pPr>
              <a:buFont typeface="Wingdings" pitchFamily="2" charset="2"/>
              <a:buChar char="ü"/>
            </a:pPr>
            <a:r>
              <a:rPr lang="ru-RU" sz="2800" b="1" smtClean="0">
                <a:solidFill>
                  <a:srgbClr val="002060"/>
                </a:solidFill>
                <a:latin typeface="Garamond" pitchFamily="18" charset="0"/>
                <a:cs typeface="Arial" charset="0"/>
              </a:rPr>
              <a:t>Службы гигиены труда на предприятии</a:t>
            </a:r>
            <a:r>
              <a:rPr lang="ru-RU" sz="2800" b="1" smtClean="0">
                <a:solidFill>
                  <a:srgbClr val="002060"/>
                </a:solidFill>
              </a:rPr>
              <a:t>.</a:t>
            </a:r>
          </a:p>
        </p:txBody>
      </p:sp>
      <p:pic>
        <p:nvPicPr>
          <p:cNvPr id="329732" name="Picture 4" descr="MCPE01838_0000[1]"/>
          <p:cNvPicPr>
            <a:picLocks noChangeAspect="1" noChangeArrowheads="1"/>
          </p:cNvPicPr>
          <p:nvPr/>
        </p:nvPicPr>
        <p:blipFill>
          <a:blip r:embed="rId3"/>
          <a:srcRect/>
          <a:stretch>
            <a:fillRect/>
          </a:stretch>
        </p:blipFill>
        <p:spPr bwMode="auto">
          <a:xfrm>
            <a:off x="5003800" y="2276475"/>
            <a:ext cx="1249363" cy="1198563"/>
          </a:xfrm>
          <a:prstGeom prst="rect">
            <a:avLst/>
          </a:prstGeom>
          <a:noFill/>
          <a:ln w="9525">
            <a:noFill/>
            <a:miter lim="800000"/>
            <a:headEnd/>
            <a:tailEnd/>
          </a:ln>
        </p:spPr>
      </p:pic>
      <p:pic>
        <p:nvPicPr>
          <p:cNvPr id="329733" name="Picture 5" descr="MCPE02002_0000[1]"/>
          <p:cNvPicPr>
            <a:picLocks noChangeAspect="1" noChangeArrowheads="1"/>
          </p:cNvPicPr>
          <p:nvPr/>
        </p:nvPicPr>
        <p:blipFill>
          <a:blip r:embed="rId4"/>
          <a:srcRect/>
          <a:stretch>
            <a:fillRect/>
          </a:stretch>
        </p:blipFill>
        <p:spPr bwMode="auto">
          <a:xfrm>
            <a:off x="3563938" y="1412875"/>
            <a:ext cx="1157287" cy="1158875"/>
          </a:xfrm>
          <a:prstGeom prst="rect">
            <a:avLst/>
          </a:prstGeom>
          <a:noFill/>
          <a:ln w="9525">
            <a:noFill/>
            <a:miter lim="800000"/>
            <a:headEnd/>
            <a:tailEnd/>
          </a:ln>
        </p:spPr>
      </p:pic>
      <p:pic>
        <p:nvPicPr>
          <p:cNvPr id="329734" name="Picture 6" descr="MCPE01460_0000[1]"/>
          <p:cNvPicPr>
            <a:picLocks noChangeAspect="1" noChangeArrowheads="1"/>
          </p:cNvPicPr>
          <p:nvPr/>
        </p:nvPicPr>
        <p:blipFill>
          <a:blip r:embed="rId5"/>
          <a:srcRect/>
          <a:stretch>
            <a:fillRect/>
          </a:stretch>
        </p:blipFill>
        <p:spPr bwMode="auto">
          <a:xfrm>
            <a:off x="7524750" y="2997200"/>
            <a:ext cx="1163638" cy="1446213"/>
          </a:xfrm>
          <a:prstGeom prst="rect">
            <a:avLst/>
          </a:prstGeom>
          <a:noFill/>
          <a:ln w="9525">
            <a:noFill/>
            <a:miter lim="800000"/>
            <a:headEnd/>
            <a:tailEnd/>
          </a:ln>
        </p:spPr>
      </p:pic>
      <p:pic>
        <p:nvPicPr>
          <p:cNvPr id="329735" name="Picture 7" descr="MCPE06267_0000[1]"/>
          <p:cNvPicPr>
            <a:picLocks noChangeAspect="1" noChangeArrowheads="1"/>
          </p:cNvPicPr>
          <p:nvPr/>
        </p:nvPicPr>
        <p:blipFill>
          <a:blip r:embed="rId6"/>
          <a:srcRect/>
          <a:stretch>
            <a:fillRect/>
          </a:stretch>
        </p:blipFill>
        <p:spPr bwMode="auto">
          <a:xfrm>
            <a:off x="5459413" y="4292600"/>
            <a:ext cx="1250950" cy="1330325"/>
          </a:xfrm>
          <a:prstGeom prst="rect">
            <a:avLst/>
          </a:prstGeom>
          <a:noFill/>
          <a:ln w="9525">
            <a:noFill/>
            <a:miter lim="800000"/>
            <a:headEnd/>
            <a:tailEnd/>
          </a:ln>
        </p:spPr>
      </p:pic>
      <p:pic>
        <p:nvPicPr>
          <p:cNvPr id="329736" name="Picture 8" descr="j0240719"/>
          <p:cNvPicPr>
            <a:picLocks noChangeAspect="1" noChangeArrowheads="1"/>
          </p:cNvPicPr>
          <p:nvPr/>
        </p:nvPicPr>
        <p:blipFill>
          <a:blip r:embed="rId7"/>
          <a:srcRect/>
          <a:stretch>
            <a:fillRect/>
          </a:stretch>
        </p:blipFill>
        <p:spPr bwMode="auto">
          <a:xfrm>
            <a:off x="7277100" y="5208588"/>
            <a:ext cx="1411288" cy="1538287"/>
          </a:xfrm>
          <a:prstGeom prst="rect">
            <a:avLst/>
          </a:prstGeom>
          <a:noFill/>
          <a:ln w="9525">
            <a:noFill/>
            <a:miter lim="800000"/>
            <a:headEnd/>
            <a:tailEnd/>
          </a:ln>
        </p:spPr>
      </p:pic>
      <p:sp>
        <p:nvSpPr>
          <p:cNvPr id="218114" name="Rectangle 2"/>
          <p:cNvSpPr>
            <a:spLocks noChangeArrowheads="1"/>
          </p:cNvSpPr>
          <p:nvPr/>
        </p:nvSpPr>
        <p:spPr bwMode="auto">
          <a:xfrm>
            <a:off x="876300" y="138113"/>
            <a:ext cx="7812088" cy="665162"/>
          </a:xfrm>
          <a:prstGeom prst="rect">
            <a:avLst/>
          </a:prstGeom>
          <a:noFill/>
          <a:ln w="9525">
            <a:noFill/>
            <a:miter lim="800000"/>
            <a:headEnd/>
            <a:tailEnd/>
          </a:ln>
        </p:spPr>
        <p:txBody>
          <a:bodyPr lIns="0" rIns="0" bIns="0" anchor="b"/>
          <a:lstStyle/>
          <a:p>
            <a:pPr algn="ctr">
              <a:defRPr/>
            </a:pPr>
            <a:r>
              <a:rPr lang="ru-RU" sz="2800" b="1" dirty="0">
                <a:effectLst>
                  <a:outerShdw blurRad="38100" dist="38100" dir="2700000" algn="tl">
                    <a:srgbClr val="000000">
                      <a:alpha val="43137"/>
                    </a:srgbClr>
                  </a:outerShdw>
                </a:effectLst>
                <a:latin typeface="Arial" pitchFamily="34" charset="0"/>
                <a:cs typeface="Arial" pitchFamily="34" charset="0"/>
              </a:rPr>
              <a:t>Для кого предназначена система </a:t>
            </a:r>
            <a:r>
              <a:rPr lang="ru-RU" sz="2800" b="1" dirty="0" err="1">
                <a:effectLst>
                  <a:outerShdw blurRad="38100" dist="38100" dir="2700000" algn="tl">
                    <a:srgbClr val="000000">
                      <a:alpha val="43137"/>
                    </a:srgbClr>
                  </a:outerShdw>
                </a:effectLst>
                <a:latin typeface="Arial" pitchFamily="34" charset="0"/>
                <a:cs typeface="Arial" pitchFamily="34" charset="0"/>
              </a:rPr>
              <a:t>Элмери</a:t>
            </a:r>
            <a:r>
              <a:rPr lang="ru-RU" sz="2800" b="1" dirty="0">
                <a:effectLst>
                  <a:outerShdw blurRad="38100" dist="38100" dir="2700000" algn="tl">
                    <a:srgbClr val="000000">
                      <a:alpha val="43137"/>
                    </a:srgbClr>
                  </a:outerShdw>
                </a:effectLst>
                <a:latin typeface="Arial" pitchFamily="34" charset="0"/>
                <a:cs typeface="Arial"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29733"/>
                                        </p:tgtEl>
                                        <p:attrNameLst>
                                          <p:attrName>style.visibility</p:attrName>
                                        </p:attrNameLst>
                                      </p:cBhvr>
                                      <p:to>
                                        <p:strVal val="visible"/>
                                      </p:to>
                                    </p:set>
                                    <p:animEffect transition="in" filter="blinds(horizontal)">
                                      <p:cBhvr>
                                        <p:cTn id="7" dur="500"/>
                                        <p:tgtEl>
                                          <p:spTgt spid="329733"/>
                                        </p:tgtEl>
                                      </p:cBhvr>
                                    </p:animEffect>
                                  </p:childTnLst>
                                </p:cTn>
                              </p:par>
                              <p:par>
                                <p:cTn id="8" presetID="3" presetClass="entr" presetSubtype="10" fill="hold" nodeType="withEffect">
                                  <p:stCondLst>
                                    <p:cond delay="0"/>
                                  </p:stCondLst>
                                  <p:childTnLst>
                                    <p:set>
                                      <p:cBhvr>
                                        <p:cTn id="9" dur="1" fill="hold">
                                          <p:stCondLst>
                                            <p:cond delay="0"/>
                                          </p:stCondLst>
                                        </p:cTn>
                                        <p:tgtEl>
                                          <p:spTgt spid="329732"/>
                                        </p:tgtEl>
                                        <p:attrNameLst>
                                          <p:attrName>style.visibility</p:attrName>
                                        </p:attrNameLst>
                                      </p:cBhvr>
                                      <p:to>
                                        <p:strVal val="visible"/>
                                      </p:to>
                                    </p:set>
                                    <p:animEffect transition="in" filter="blinds(horizontal)">
                                      <p:cBhvr>
                                        <p:cTn id="10" dur="500"/>
                                        <p:tgtEl>
                                          <p:spTgt spid="329732"/>
                                        </p:tgtEl>
                                      </p:cBhvr>
                                    </p:animEffect>
                                  </p:childTnLst>
                                </p:cTn>
                              </p:par>
                              <p:par>
                                <p:cTn id="11" presetID="3" presetClass="entr" presetSubtype="10" fill="hold" nodeType="withEffect">
                                  <p:stCondLst>
                                    <p:cond delay="0"/>
                                  </p:stCondLst>
                                  <p:childTnLst>
                                    <p:set>
                                      <p:cBhvr>
                                        <p:cTn id="12" dur="1" fill="hold">
                                          <p:stCondLst>
                                            <p:cond delay="0"/>
                                          </p:stCondLst>
                                        </p:cTn>
                                        <p:tgtEl>
                                          <p:spTgt spid="329734"/>
                                        </p:tgtEl>
                                        <p:attrNameLst>
                                          <p:attrName>style.visibility</p:attrName>
                                        </p:attrNameLst>
                                      </p:cBhvr>
                                      <p:to>
                                        <p:strVal val="visible"/>
                                      </p:to>
                                    </p:set>
                                    <p:animEffect transition="in" filter="blinds(horizontal)">
                                      <p:cBhvr>
                                        <p:cTn id="13" dur="500"/>
                                        <p:tgtEl>
                                          <p:spTgt spid="329734"/>
                                        </p:tgtEl>
                                      </p:cBhvr>
                                    </p:animEffect>
                                  </p:childTnLst>
                                </p:cTn>
                              </p:par>
                              <p:par>
                                <p:cTn id="14" presetID="3" presetClass="entr" presetSubtype="10" fill="hold" nodeType="withEffect">
                                  <p:stCondLst>
                                    <p:cond delay="0"/>
                                  </p:stCondLst>
                                  <p:childTnLst>
                                    <p:set>
                                      <p:cBhvr>
                                        <p:cTn id="15" dur="1" fill="hold">
                                          <p:stCondLst>
                                            <p:cond delay="0"/>
                                          </p:stCondLst>
                                        </p:cTn>
                                        <p:tgtEl>
                                          <p:spTgt spid="329735"/>
                                        </p:tgtEl>
                                        <p:attrNameLst>
                                          <p:attrName>style.visibility</p:attrName>
                                        </p:attrNameLst>
                                      </p:cBhvr>
                                      <p:to>
                                        <p:strVal val="visible"/>
                                      </p:to>
                                    </p:set>
                                    <p:animEffect transition="in" filter="blinds(horizontal)">
                                      <p:cBhvr>
                                        <p:cTn id="16" dur="500"/>
                                        <p:tgtEl>
                                          <p:spTgt spid="329735"/>
                                        </p:tgtEl>
                                      </p:cBhvr>
                                    </p:animEffect>
                                  </p:childTnLst>
                                </p:cTn>
                              </p:par>
                              <p:par>
                                <p:cTn id="17" presetID="3" presetClass="entr" presetSubtype="10" fill="hold" nodeType="withEffect">
                                  <p:stCondLst>
                                    <p:cond delay="0"/>
                                  </p:stCondLst>
                                  <p:childTnLst>
                                    <p:set>
                                      <p:cBhvr>
                                        <p:cTn id="18" dur="1" fill="hold">
                                          <p:stCondLst>
                                            <p:cond delay="0"/>
                                          </p:stCondLst>
                                        </p:cTn>
                                        <p:tgtEl>
                                          <p:spTgt spid="329736"/>
                                        </p:tgtEl>
                                        <p:attrNameLst>
                                          <p:attrName>style.visibility</p:attrName>
                                        </p:attrNameLst>
                                      </p:cBhvr>
                                      <p:to>
                                        <p:strVal val="visible"/>
                                      </p:to>
                                    </p:set>
                                    <p:animEffect transition="in" filter="blinds(horizontal)">
                                      <p:cBhvr>
                                        <p:cTn id="19" dur="500"/>
                                        <p:tgtEl>
                                          <p:spTgt spid="329736"/>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218114"/>
                                        </p:tgtEl>
                                        <p:attrNameLst>
                                          <p:attrName>style.visibility</p:attrName>
                                        </p:attrNameLst>
                                      </p:cBhvr>
                                      <p:to>
                                        <p:strVal val="visible"/>
                                      </p:to>
                                    </p:set>
                                    <p:anim calcmode="lin" valueType="num">
                                      <p:cBhvr>
                                        <p:cTn id="22" dur="500" fill="hold"/>
                                        <p:tgtEl>
                                          <p:spTgt spid="218114"/>
                                        </p:tgtEl>
                                        <p:attrNameLst>
                                          <p:attrName>ppt_w</p:attrName>
                                        </p:attrNameLst>
                                      </p:cBhvr>
                                      <p:tavLst>
                                        <p:tav tm="0">
                                          <p:val>
                                            <p:fltVal val="0"/>
                                          </p:val>
                                        </p:tav>
                                        <p:tav tm="100000">
                                          <p:val>
                                            <p:strVal val="#ppt_w"/>
                                          </p:val>
                                        </p:tav>
                                      </p:tavLst>
                                    </p:anim>
                                    <p:anim calcmode="lin" valueType="num">
                                      <p:cBhvr>
                                        <p:cTn id="23" dur="500" fill="hold"/>
                                        <p:tgtEl>
                                          <p:spTgt spid="218114"/>
                                        </p:tgtEl>
                                        <p:attrNameLst>
                                          <p:attrName>ppt_h</p:attrName>
                                        </p:attrNameLst>
                                      </p:cBhvr>
                                      <p:tavLst>
                                        <p:tav tm="0">
                                          <p:val>
                                            <p:fltVal val="0"/>
                                          </p:val>
                                        </p:tav>
                                        <p:tav tm="100000">
                                          <p:val>
                                            <p:strVal val="#ppt_h"/>
                                          </p:val>
                                        </p:tav>
                                      </p:tavLst>
                                    </p:anim>
                                    <p:animEffect transition="in" filter="fade">
                                      <p:cBhvr>
                                        <p:cTn id="24" dur="500"/>
                                        <p:tgtEl>
                                          <p:spTgt spid="21811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29731">
                                            <p:txEl>
                                              <p:pRg st="0" end="0"/>
                                            </p:txEl>
                                          </p:spTgt>
                                        </p:tgtEl>
                                        <p:attrNameLst>
                                          <p:attrName>style.visibility</p:attrName>
                                        </p:attrNameLst>
                                      </p:cBhvr>
                                      <p:to>
                                        <p:strVal val="visible"/>
                                      </p:to>
                                    </p:set>
                                    <p:anim calcmode="lin" valueType="num">
                                      <p:cBhvr additive="base">
                                        <p:cTn id="29" dur="500" fill="hold"/>
                                        <p:tgtEl>
                                          <p:spTgt spid="329731">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297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29731">
                                            <p:txEl>
                                              <p:pRg st="2" end="2"/>
                                            </p:txEl>
                                          </p:spTgt>
                                        </p:tgtEl>
                                        <p:attrNameLst>
                                          <p:attrName>style.visibility</p:attrName>
                                        </p:attrNameLst>
                                      </p:cBhvr>
                                      <p:to>
                                        <p:strVal val="visible"/>
                                      </p:to>
                                    </p:set>
                                    <p:anim calcmode="lin" valueType="num">
                                      <p:cBhvr additive="base">
                                        <p:cTn id="35" dur="500" fill="hold"/>
                                        <p:tgtEl>
                                          <p:spTgt spid="329731">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297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29731">
                                            <p:txEl>
                                              <p:pRg st="4" end="4"/>
                                            </p:txEl>
                                          </p:spTgt>
                                        </p:tgtEl>
                                        <p:attrNameLst>
                                          <p:attrName>style.visibility</p:attrName>
                                        </p:attrNameLst>
                                      </p:cBhvr>
                                      <p:to>
                                        <p:strVal val="visible"/>
                                      </p:to>
                                    </p:set>
                                    <p:anim calcmode="lin" valueType="num">
                                      <p:cBhvr additive="base">
                                        <p:cTn id="41" dur="500" fill="hold"/>
                                        <p:tgtEl>
                                          <p:spTgt spid="329731">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297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29731">
                                            <p:txEl>
                                              <p:pRg st="6" end="6"/>
                                            </p:txEl>
                                          </p:spTgt>
                                        </p:tgtEl>
                                        <p:attrNameLst>
                                          <p:attrName>style.visibility</p:attrName>
                                        </p:attrNameLst>
                                      </p:cBhvr>
                                      <p:to>
                                        <p:strVal val="visible"/>
                                      </p:to>
                                    </p:set>
                                    <p:anim calcmode="lin" valueType="num">
                                      <p:cBhvr additive="base">
                                        <p:cTn id="47" dur="500" fill="hold"/>
                                        <p:tgtEl>
                                          <p:spTgt spid="329731">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297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29731">
                                            <p:txEl>
                                              <p:pRg st="8" end="8"/>
                                            </p:txEl>
                                          </p:spTgt>
                                        </p:tgtEl>
                                        <p:attrNameLst>
                                          <p:attrName>style.visibility</p:attrName>
                                        </p:attrNameLst>
                                      </p:cBhvr>
                                      <p:to>
                                        <p:strVal val="visible"/>
                                      </p:to>
                                    </p:set>
                                    <p:anim calcmode="lin" valueType="num">
                                      <p:cBhvr additive="base">
                                        <p:cTn id="53" dur="500" fill="hold"/>
                                        <p:tgtEl>
                                          <p:spTgt spid="329731">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297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uild="p"/>
      <p:bldP spid="218114"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23850" y="1052513"/>
            <a:ext cx="8569325" cy="4781550"/>
          </a:xfrm>
          <a:prstGeom prst="rect">
            <a:avLst/>
          </a:prstGeom>
          <a:noFill/>
          <a:ln w="9525">
            <a:noFill/>
            <a:miter lim="800000"/>
            <a:headEnd/>
            <a:tailEnd/>
          </a:ln>
        </p:spPr>
        <p:txBody>
          <a:bodyPr/>
          <a:lstStyle/>
          <a:p>
            <a:pPr marL="342900" indent="-342900">
              <a:lnSpc>
                <a:spcPct val="80000"/>
              </a:lnSpc>
              <a:spcBef>
                <a:spcPct val="20000"/>
              </a:spcBef>
              <a:buClr>
                <a:schemeClr val="hlink"/>
              </a:buClr>
              <a:buFontTx/>
              <a:buChar char="•"/>
            </a:pPr>
            <a:endParaRPr lang="ru-RU" sz="1800" b="1" dirty="0">
              <a:latin typeface="Arial" charset="0"/>
            </a:endParaRPr>
          </a:p>
          <a:p>
            <a:pPr marL="342900" indent="-342900">
              <a:spcBef>
                <a:spcPct val="20000"/>
              </a:spcBef>
              <a:buClr>
                <a:schemeClr val="hlink"/>
              </a:buClr>
            </a:pPr>
            <a:r>
              <a:rPr lang="ru-RU" sz="2400" b="1" dirty="0">
                <a:latin typeface="Arial" charset="0"/>
              </a:rPr>
              <a:t>Состояние объекта наблюдения (пункт) признается "хорошим" и ставится  «+»  в графу, если он отвечает минимальному уровню (по мнению наблюдателя) требований безопасности. Если состояние объекта не соответствует требованиям охраны труда, то ставится отметка "–".</a:t>
            </a:r>
          </a:p>
          <a:p>
            <a:pPr marL="342900" indent="-342900">
              <a:spcBef>
                <a:spcPct val="20000"/>
              </a:spcBef>
              <a:buClr>
                <a:schemeClr val="hlink"/>
              </a:buClr>
            </a:pPr>
            <a:endParaRPr lang="ru-RU" sz="800" b="1" dirty="0">
              <a:latin typeface="Arial" charset="0"/>
            </a:endParaRPr>
          </a:p>
          <a:p>
            <a:pPr marL="342900" indent="-342900">
              <a:spcBef>
                <a:spcPct val="20000"/>
              </a:spcBef>
              <a:buClr>
                <a:schemeClr val="hlink"/>
              </a:buClr>
            </a:pPr>
            <a:r>
              <a:rPr lang="ru-RU" sz="2400" b="1" dirty="0">
                <a:latin typeface="Arial" charset="0"/>
              </a:rPr>
              <a:t>Если по какой-либо причине нет возможности оценить данный показатель или методом наблюдения его нельзя определить, то в соответствующей графе карты наблюдений указывается отметка "отсутствует" или "0".</a:t>
            </a:r>
          </a:p>
        </p:txBody>
      </p:sp>
      <p:sp>
        <p:nvSpPr>
          <p:cNvPr id="6" name="Rectangle 5"/>
          <p:cNvSpPr>
            <a:spLocks noChangeArrowheads="1"/>
          </p:cNvSpPr>
          <p:nvPr/>
        </p:nvSpPr>
        <p:spPr bwMode="auto">
          <a:xfrm>
            <a:off x="1104900" y="133350"/>
            <a:ext cx="7150100" cy="919163"/>
          </a:xfrm>
          <a:prstGeom prst="rect">
            <a:avLst/>
          </a:prstGeom>
          <a:noFill/>
          <a:ln w="9525">
            <a:noFill/>
            <a:miter lim="800000"/>
            <a:headEnd/>
            <a:tailEnd/>
          </a:ln>
        </p:spPr>
        <p:txBody>
          <a:bodyPr anchor="ctr"/>
          <a:lstStyle/>
          <a:p>
            <a:pPr algn="ctr">
              <a:defRPr/>
            </a:pPr>
            <a:r>
              <a:rPr lang="ru-RU" sz="3200" b="1" dirty="0">
                <a:effectLst>
                  <a:outerShdw blurRad="38100" dist="38100" dir="2700000" algn="tl">
                    <a:srgbClr val="000000">
                      <a:alpha val="43137"/>
                    </a:srgbClr>
                  </a:outerShdw>
                </a:effectLst>
                <a:latin typeface="Arial" pitchFamily="34" charset="0"/>
                <a:cs typeface="Arial" pitchFamily="34" charset="0"/>
              </a:rPr>
              <a:t>Карты наблюдений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 calcmode="lin" valueType="num">
                                      <p:cBhvr additive="base">
                                        <p:cTn id="1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 calcmode="lin" valueType="num">
                                      <p:cBhvr additive="base">
                                        <p:cTn id="20"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3827" name="Rectangle 3"/>
          <p:cNvSpPr>
            <a:spLocks noGrp="1" noChangeArrowheads="1"/>
          </p:cNvSpPr>
          <p:nvPr>
            <p:ph idx="1"/>
          </p:nvPr>
        </p:nvSpPr>
        <p:spPr>
          <a:xfrm>
            <a:off x="685800" y="1484313"/>
            <a:ext cx="7772400" cy="908050"/>
          </a:xfrm>
        </p:spPr>
        <p:txBody>
          <a:bodyPr/>
          <a:lstStyle/>
          <a:p>
            <a:pPr marL="0" indent="0" algn="ctr">
              <a:buFontTx/>
              <a:buNone/>
            </a:pPr>
            <a:r>
              <a:rPr lang="ru-RU" sz="2400" b="1" dirty="0" smtClean="0">
                <a:solidFill>
                  <a:srgbClr val="002060"/>
                </a:solidFill>
                <a:latin typeface="Garamond" pitchFamily="18" charset="0"/>
                <a:cs typeface="Arial" charset="0"/>
              </a:rPr>
              <a:t>Характеризует уровень безопасности наблюдаемого участка (рабочего места)</a:t>
            </a:r>
          </a:p>
        </p:txBody>
      </p:sp>
      <p:sp>
        <p:nvSpPr>
          <p:cNvPr id="141315" name="Text Box 4"/>
          <p:cNvSpPr txBox="1">
            <a:spLocks noChangeArrowheads="1"/>
          </p:cNvSpPr>
          <p:nvPr/>
        </p:nvSpPr>
        <p:spPr bwMode="auto">
          <a:xfrm>
            <a:off x="131763" y="4267200"/>
            <a:ext cx="8642350" cy="1631950"/>
          </a:xfrm>
          <a:prstGeom prst="rect">
            <a:avLst/>
          </a:prstGeom>
          <a:noFill/>
          <a:ln w="9525">
            <a:noFill/>
            <a:miter lim="800000"/>
            <a:headEnd/>
            <a:tailEnd/>
          </a:ln>
        </p:spPr>
        <p:txBody>
          <a:bodyPr>
            <a:spAutoFit/>
          </a:bodyPr>
          <a:lstStyle/>
          <a:p>
            <a:pPr>
              <a:spcBef>
                <a:spcPct val="50000"/>
              </a:spcBef>
            </a:pPr>
            <a:r>
              <a:rPr lang="ru-RU" sz="2000" b="1">
                <a:latin typeface="Arial" charset="0"/>
              </a:rPr>
              <a:t>Индекс обозначает процентное соотношение, значение которого может быть от 0 до 100. </a:t>
            </a:r>
          </a:p>
          <a:p>
            <a:pPr>
              <a:spcBef>
                <a:spcPct val="100000"/>
              </a:spcBef>
            </a:pPr>
            <a:r>
              <a:rPr lang="ru-RU" sz="2000" b="1">
                <a:latin typeface="Arial" charset="0"/>
              </a:rPr>
              <a:t>Например, результат 60 % показывает, что 60 пунктов из 100 соответствует требованиям охраны труда</a:t>
            </a:r>
          </a:p>
        </p:txBody>
      </p:sp>
      <p:sp>
        <p:nvSpPr>
          <p:cNvPr id="141316" name="Text Box 5"/>
          <p:cNvSpPr txBox="1">
            <a:spLocks noChangeArrowheads="1"/>
          </p:cNvSpPr>
          <p:nvPr/>
        </p:nvSpPr>
        <p:spPr bwMode="auto">
          <a:xfrm>
            <a:off x="250825" y="3213100"/>
            <a:ext cx="2624138" cy="461963"/>
          </a:xfrm>
          <a:prstGeom prst="rect">
            <a:avLst/>
          </a:prstGeom>
          <a:noFill/>
          <a:ln w="9525">
            <a:noFill/>
            <a:miter lim="800000"/>
            <a:headEnd/>
            <a:tailEnd/>
          </a:ln>
        </p:spPr>
        <p:txBody>
          <a:bodyPr wrap="none">
            <a:spAutoFit/>
          </a:bodyPr>
          <a:lstStyle/>
          <a:p>
            <a:r>
              <a:rPr lang="ru-RU" sz="2400" b="1">
                <a:latin typeface="Arial" charset="0"/>
              </a:rPr>
              <a:t>Индекс Элмери =</a:t>
            </a:r>
          </a:p>
        </p:txBody>
      </p:sp>
      <p:sp>
        <p:nvSpPr>
          <p:cNvPr id="141317" name="Text Box 6"/>
          <p:cNvSpPr txBox="1">
            <a:spLocks noChangeArrowheads="1"/>
          </p:cNvSpPr>
          <p:nvPr/>
        </p:nvSpPr>
        <p:spPr bwMode="auto">
          <a:xfrm>
            <a:off x="4067175" y="2924175"/>
            <a:ext cx="2700338" cy="461963"/>
          </a:xfrm>
          <a:prstGeom prst="rect">
            <a:avLst/>
          </a:prstGeom>
          <a:noFill/>
          <a:ln w="9525">
            <a:noFill/>
            <a:miter lim="800000"/>
            <a:headEnd/>
            <a:tailEnd/>
          </a:ln>
        </p:spPr>
        <p:txBody>
          <a:bodyPr wrap="none">
            <a:spAutoFit/>
          </a:bodyPr>
          <a:lstStyle/>
          <a:p>
            <a:r>
              <a:rPr lang="ru-RU" sz="2400" b="1" dirty="0">
                <a:latin typeface="Arial" charset="0"/>
              </a:rPr>
              <a:t>пункты «хорошо»</a:t>
            </a:r>
          </a:p>
        </p:txBody>
      </p:sp>
      <p:sp>
        <p:nvSpPr>
          <p:cNvPr id="141318" name="Line 7"/>
          <p:cNvSpPr>
            <a:spLocks noChangeShapeType="1"/>
          </p:cNvSpPr>
          <p:nvPr/>
        </p:nvSpPr>
        <p:spPr bwMode="auto">
          <a:xfrm>
            <a:off x="3203575" y="3429000"/>
            <a:ext cx="4537075" cy="0"/>
          </a:xfrm>
          <a:prstGeom prst="line">
            <a:avLst/>
          </a:prstGeom>
          <a:noFill/>
          <a:ln w="28575">
            <a:solidFill>
              <a:schemeClr val="tx1"/>
            </a:solidFill>
            <a:round/>
            <a:headEnd/>
            <a:tailEnd/>
          </a:ln>
        </p:spPr>
        <p:txBody>
          <a:bodyPr/>
          <a:lstStyle/>
          <a:p>
            <a:endParaRPr lang="ru-RU"/>
          </a:p>
        </p:txBody>
      </p:sp>
      <p:sp>
        <p:nvSpPr>
          <p:cNvPr id="141319" name="Text Box 8"/>
          <p:cNvSpPr txBox="1">
            <a:spLocks noChangeArrowheads="1"/>
          </p:cNvSpPr>
          <p:nvPr/>
        </p:nvSpPr>
        <p:spPr bwMode="auto">
          <a:xfrm>
            <a:off x="2843213" y="3500438"/>
            <a:ext cx="5295900" cy="461962"/>
          </a:xfrm>
          <a:prstGeom prst="rect">
            <a:avLst/>
          </a:prstGeom>
          <a:noFill/>
          <a:ln w="9525">
            <a:noFill/>
            <a:miter lim="800000"/>
            <a:headEnd/>
            <a:tailEnd/>
          </a:ln>
        </p:spPr>
        <p:txBody>
          <a:bodyPr wrap="none">
            <a:spAutoFit/>
          </a:bodyPr>
          <a:lstStyle/>
          <a:p>
            <a:r>
              <a:rPr lang="ru-RU" sz="2400" b="1" dirty="0">
                <a:latin typeface="Arial" charset="0"/>
              </a:rPr>
              <a:t>пункты</a:t>
            </a:r>
            <a:r>
              <a:rPr lang="ru-RU" sz="2000" b="1" dirty="0">
                <a:latin typeface="Arial" charset="0"/>
              </a:rPr>
              <a:t> </a:t>
            </a:r>
            <a:r>
              <a:rPr lang="ru-RU" sz="2400" b="1" dirty="0">
                <a:latin typeface="Arial" charset="0"/>
              </a:rPr>
              <a:t>«хорошо» + пункты «плохо»</a:t>
            </a:r>
          </a:p>
        </p:txBody>
      </p:sp>
      <p:sp>
        <p:nvSpPr>
          <p:cNvPr id="141320" name="Text Box 9"/>
          <p:cNvSpPr txBox="1">
            <a:spLocks noChangeArrowheads="1"/>
          </p:cNvSpPr>
          <p:nvPr/>
        </p:nvSpPr>
        <p:spPr bwMode="auto">
          <a:xfrm>
            <a:off x="7793038" y="3206750"/>
            <a:ext cx="1139825" cy="461963"/>
          </a:xfrm>
          <a:prstGeom prst="rect">
            <a:avLst/>
          </a:prstGeom>
          <a:noFill/>
          <a:ln w="9525">
            <a:noFill/>
            <a:miter lim="800000"/>
            <a:headEnd/>
            <a:tailEnd/>
          </a:ln>
        </p:spPr>
        <p:txBody>
          <a:bodyPr wrap="none">
            <a:spAutoFit/>
          </a:bodyPr>
          <a:lstStyle/>
          <a:p>
            <a:r>
              <a:rPr lang="ru-RU" sz="2400" b="1">
                <a:latin typeface="Arial" charset="0"/>
              </a:rPr>
              <a:t>Х 100%</a:t>
            </a:r>
          </a:p>
        </p:txBody>
      </p:sp>
      <p:sp>
        <p:nvSpPr>
          <p:cNvPr id="218114" name="Rectangle 2"/>
          <p:cNvSpPr>
            <a:spLocks noChangeArrowheads="1"/>
          </p:cNvSpPr>
          <p:nvPr/>
        </p:nvSpPr>
        <p:spPr bwMode="auto">
          <a:xfrm>
            <a:off x="684213" y="477838"/>
            <a:ext cx="7812087" cy="723900"/>
          </a:xfrm>
          <a:prstGeom prst="rect">
            <a:avLst/>
          </a:prstGeom>
          <a:noFill/>
          <a:ln w="9525">
            <a:noFill/>
            <a:miter lim="800000"/>
            <a:headEnd/>
            <a:tailEnd/>
          </a:ln>
        </p:spPr>
        <p:txBody>
          <a:bodyPr lIns="0" rIns="0" bIns="0" anchor="b"/>
          <a:lstStyle/>
          <a:p>
            <a:pPr algn="ctr">
              <a:defRPr/>
            </a:pPr>
            <a:r>
              <a:rPr lang="ru-RU" sz="3200" b="1" dirty="0">
                <a:effectLst>
                  <a:outerShdw blurRad="38100" dist="38100" dir="2700000" algn="tl">
                    <a:srgbClr val="000000">
                      <a:alpha val="43137"/>
                    </a:srgbClr>
                  </a:outerShdw>
                </a:effectLst>
                <a:latin typeface="Arial" pitchFamily="34" charset="0"/>
                <a:cs typeface="Arial" pitchFamily="34" charset="0"/>
              </a:rPr>
              <a:t>Индекс </a:t>
            </a:r>
            <a:r>
              <a:rPr lang="ru-RU" sz="3200" b="1" dirty="0" smtClean="0">
                <a:effectLst>
                  <a:outerShdw blurRad="38100" dist="38100" dir="2700000" algn="tl">
                    <a:srgbClr val="000000">
                      <a:alpha val="43137"/>
                    </a:srgbClr>
                  </a:outerShdw>
                </a:effectLst>
                <a:latin typeface="Arial" pitchFamily="34" charset="0"/>
                <a:cs typeface="Arial" pitchFamily="34" charset="0"/>
              </a:rPr>
              <a:t>Элмери </a:t>
            </a:r>
            <a:endParaRPr lang="ru-RU" sz="3200" b="1" dirty="0">
              <a:effectLst>
                <a:outerShdw blurRad="38100" dist="38100" dir="2700000" algn="tl">
                  <a:srgbClr val="000000">
                    <a:alpha val="43137"/>
                  </a:srgbClr>
                </a:outerShdw>
              </a:effectLst>
              <a:latin typeface="Arial" pitchFamily="34" charset="0"/>
              <a:cs typeface="Arial" pitchFamily="34"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33827">
                                            <p:txEl>
                                              <p:pRg st="0" end="0"/>
                                            </p:txEl>
                                          </p:spTgt>
                                        </p:tgtEl>
                                        <p:attrNameLst>
                                          <p:attrName>style.visibility</p:attrName>
                                        </p:attrNameLst>
                                      </p:cBhvr>
                                      <p:to>
                                        <p:strVal val="visible"/>
                                      </p:to>
                                    </p:set>
                                    <p:anim calcmode="lin" valueType="num">
                                      <p:cBhvr additive="base">
                                        <p:cTn id="14" dur="500" fill="hold"/>
                                        <p:tgtEl>
                                          <p:spTgt spid="33382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33827">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141316"/>
                                        </p:tgtEl>
                                        <p:attrNameLst>
                                          <p:attrName>style.visibility</p:attrName>
                                        </p:attrNameLst>
                                      </p:cBhvr>
                                      <p:to>
                                        <p:strVal val="visible"/>
                                      </p:to>
                                    </p:set>
                                    <p:anim calcmode="lin" valueType="num">
                                      <p:cBhvr additive="base">
                                        <p:cTn id="18" dur="500" fill="hold"/>
                                        <p:tgtEl>
                                          <p:spTgt spid="141316"/>
                                        </p:tgtEl>
                                        <p:attrNameLst>
                                          <p:attrName>ppt_x</p:attrName>
                                        </p:attrNameLst>
                                      </p:cBhvr>
                                      <p:tavLst>
                                        <p:tav tm="0">
                                          <p:val>
                                            <p:strVal val="#ppt_x"/>
                                          </p:val>
                                        </p:tav>
                                        <p:tav tm="100000">
                                          <p:val>
                                            <p:strVal val="#ppt_x"/>
                                          </p:val>
                                        </p:tav>
                                      </p:tavLst>
                                    </p:anim>
                                    <p:anim calcmode="lin" valueType="num">
                                      <p:cBhvr additive="base">
                                        <p:cTn id="19" dur="500" fill="hold"/>
                                        <p:tgtEl>
                                          <p:spTgt spid="14131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41317"/>
                                        </p:tgtEl>
                                        <p:attrNameLst>
                                          <p:attrName>style.visibility</p:attrName>
                                        </p:attrNameLst>
                                      </p:cBhvr>
                                      <p:to>
                                        <p:strVal val="visible"/>
                                      </p:to>
                                    </p:set>
                                    <p:anim calcmode="lin" valueType="num">
                                      <p:cBhvr additive="base">
                                        <p:cTn id="22" dur="500" fill="hold"/>
                                        <p:tgtEl>
                                          <p:spTgt spid="141317"/>
                                        </p:tgtEl>
                                        <p:attrNameLst>
                                          <p:attrName>ppt_x</p:attrName>
                                        </p:attrNameLst>
                                      </p:cBhvr>
                                      <p:tavLst>
                                        <p:tav tm="0">
                                          <p:val>
                                            <p:strVal val="#ppt_x"/>
                                          </p:val>
                                        </p:tav>
                                        <p:tav tm="100000">
                                          <p:val>
                                            <p:strVal val="#ppt_x"/>
                                          </p:val>
                                        </p:tav>
                                      </p:tavLst>
                                    </p:anim>
                                    <p:anim calcmode="lin" valueType="num">
                                      <p:cBhvr additive="base">
                                        <p:cTn id="23" dur="500" fill="hold"/>
                                        <p:tgtEl>
                                          <p:spTgt spid="141317"/>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41319"/>
                                        </p:tgtEl>
                                        <p:attrNameLst>
                                          <p:attrName>style.visibility</p:attrName>
                                        </p:attrNameLst>
                                      </p:cBhvr>
                                      <p:to>
                                        <p:strVal val="visible"/>
                                      </p:to>
                                    </p:set>
                                    <p:anim calcmode="lin" valueType="num">
                                      <p:cBhvr additive="base">
                                        <p:cTn id="26" dur="500" fill="hold"/>
                                        <p:tgtEl>
                                          <p:spTgt spid="141319"/>
                                        </p:tgtEl>
                                        <p:attrNameLst>
                                          <p:attrName>ppt_x</p:attrName>
                                        </p:attrNameLst>
                                      </p:cBhvr>
                                      <p:tavLst>
                                        <p:tav tm="0">
                                          <p:val>
                                            <p:strVal val="#ppt_x"/>
                                          </p:val>
                                        </p:tav>
                                        <p:tav tm="100000">
                                          <p:val>
                                            <p:strVal val="#ppt_x"/>
                                          </p:val>
                                        </p:tav>
                                      </p:tavLst>
                                    </p:anim>
                                    <p:anim calcmode="lin" valueType="num">
                                      <p:cBhvr additive="base">
                                        <p:cTn id="27" dur="500" fill="hold"/>
                                        <p:tgtEl>
                                          <p:spTgt spid="141319"/>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41318"/>
                                        </p:tgtEl>
                                        <p:attrNameLst>
                                          <p:attrName>style.visibility</p:attrName>
                                        </p:attrNameLst>
                                      </p:cBhvr>
                                      <p:to>
                                        <p:strVal val="visible"/>
                                      </p:to>
                                    </p:set>
                                    <p:anim calcmode="lin" valueType="num">
                                      <p:cBhvr additive="base">
                                        <p:cTn id="30" dur="500" fill="hold"/>
                                        <p:tgtEl>
                                          <p:spTgt spid="141318"/>
                                        </p:tgtEl>
                                        <p:attrNameLst>
                                          <p:attrName>ppt_x</p:attrName>
                                        </p:attrNameLst>
                                      </p:cBhvr>
                                      <p:tavLst>
                                        <p:tav tm="0">
                                          <p:val>
                                            <p:strVal val="#ppt_x"/>
                                          </p:val>
                                        </p:tav>
                                        <p:tav tm="100000">
                                          <p:val>
                                            <p:strVal val="#ppt_x"/>
                                          </p:val>
                                        </p:tav>
                                      </p:tavLst>
                                    </p:anim>
                                    <p:anim calcmode="lin" valueType="num">
                                      <p:cBhvr additive="base">
                                        <p:cTn id="31" dur="500" fill="hold"/>
                                        <p:tgtEl>
                                          <p:spTgt spid="14131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41320"/>
                                        </p:tgtEl>
                                        <p:attrNameLst>
                                          <p:attrName>style.visibility</p:attrName>
                                        </p:attrNameLst>
                                      </p:cBhvr>
                                      <p:to>
                                        <p:strVal val="visible"/>
                                      </p:to>
                                    </p:set>
                                    <p:anim calcmode="lin" valueType="num">
                                      <p:cBhvr additive="base">
                                        <p:cTn id="34" dur="500" fill="hold"/>
                                        <p:tgtEl>
                                          <p:spTgt spid="141320"/>
                                        </p:tgtEl>
                                        <p:attrNameLst>
                                          <p:attrName>ppt_x</p:attrName>
                                        </p:attrNameLst>
                                      </p:cBhvr>
                                      <p:tavLst>
                                        <p:tav tm="0">
                                          <p:val>
                                            <p:strVal val="#ppt_x"/>
                                          </p:val>
                                        </p:tav>
                                        <p:tav tm="100000">
                                          <p:val>
                                            <p:strVal val="#ppt_x"/>
                                          </p:val>
                                        </p:tav>
                                      </p:tavLst>
                                    </p:anim>
                                    <p:anim calcmode="lin" valueType="num">
                                      <p:cBhvr additive="base">
                                        <p:cTn id="35" dur="500" fill="hold"/>
                                        <p:tgtEl>
                                          <p:spTgt spid="14132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41315"/>
                                        </p:tgtEl>
                                        <p:attrNameLst>
                                          <p:attrName>style.visibility</p:attrName>
                                        </p:attrNameLst>
                                      </p:cBhvr>
                                      <p:to>
                                        <p:strVal val="visible"/>
                                      </p:to>
                                    </p:set>
                                    <p:anim calcmode="lin" valueType="num">
                                      <p:cBhvr additive="base">
                                        <p:cTn id="38" dur="500" fill="hold"/>
                                        <p:tgtEl>
                                          <p:spTgt spid="141315"/>
                                        </p:tgtEl>
                                        <p:attrNameLst>
                                          <p:attrName>ppt_x</p:attrName>
                                        </p:attrNameLst>
                                      </p:cBhvr>
                                      <p:tavLst>
                                        <p:tav tm="0">
                                          <p:val>
                                            <p:strVal val="#ppt_x"/>
                                          </p:val>
                                        </p:tav>
                                        <p:tav tm="100000">
                                          <p:val>
                                            <p:strVal val="#ppt_x"/>
                                          </p:val>
                                        </p:tav>
                                      </p:tavLst>
                                    </p:anim>
                                    <p:anim calcmode="lin" valueType="num">
                                      <p:cBhvr additive="base">
                                        <p:cTn id="39" dur="500" fill="hold"/>
                                        <p:tgtEl>
                                          <p:spTgt spid="1413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build="p"/>
      <p:bldP spid="141315" grpId="0"/>
      <p:bldP spid="141316" grpId="0"/>
      <p:bldP spid="141317" grpId="0"/>
      <p:bldP spid="141318" grpId="0" animBg="1"/>
      <p:bldP spid="141319" grpId="0"/>
      <p:bldP spid="1413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29" name="Picture 10"/>
          <p:cNvPicPr>
            <a:picLocks noChangeAspect="1" noChangeArrowheads="1"/>
          </p:cNvPicPr>
          <p:nvPr/>
        </p:nvPicPr>
        <p:blipFill>
          <a:blip r:embed="rId2"/>
          <a:srcRect/>
          <a:stretch>
            <a:fillRect/>
          </a:stretch>
        </p:blipFill>
        <p:spPr bwMode="auto">
          <a:xfrm>
            <a:off x="0" y="895350"/>
            <a:ext cx="9167813" cy="5783263"/>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3" name="Picture 3"/>
          <p:cNvPicPr>
            <a:picLocks noChangeAspect="1" noChangeArrowheads="1"/>
          </p:cNvPicPr>
          <p:nvPr/>
        </p:nvPicPr>
        <p:blipFill>
          <a:blip r:embed="rId2"/>
          <a:srcRect/>
          <a:stretch>
            <a:fillRect/>
          </a:stretch>
        </p:blipFill>
        <p:spPr bwMode="auto">
          <a:xfrm>
            <a:off x="700088" y="1100138"/>
            <a:ext cx="7743825" cy="4657725"/>
          </a:xfrm>
          <a:prstGeom prst="rect">
            <a:avLst/>
          </a:prstGeom>
          <a:noFill/>
          <a:ln w="9525">
            <a:noFill/>
            <a:miter lim="800000"/>
            <a:headEnd/>
            <a:tailEnd/>
          </a:ln>
        </p:spPr>
      </p:pic>
      <p:pic>
        <p:nvPicPr>
          <p:cNvPr id="151554" name="Picture 7" descr="4"/>
          <p:cNvPicPr>
            <a:picLocks noChangeAspect="1" noChangeArrowheads="1"/>
          </p:cNvPicPr>
          <p:nvPr/>
        </p:nvPicPr>
        <p:blipFill>
          <a:blip r:embed="rId3"/>
          <a:srcRect/>
          <a:stretch>
            <a:fillRect/>
          </a:stretch>
        </p:blipFill>
        <p:spPr bwMode="auto">
          <a:xfrm>
            <a:off x="107950" y="0"/>
            <a:ext cx="719138" cy="676275"/>
          </a:xfrm>
          <a:prstGeom prst="rect">
            <a:avLst/>
          </a:prstGeom>
          <a:noFill/>
          <a:ln w="9525">
            <a:noFill/>
            <a:miter lim="800000"/>
            <a:headEnd/>
            <a:tailEnd/>
          </a:ln>
        </p:spPr>
      </p:pic>
      <p:sp>
        <p:nvSpPr>
          <p:cNvPr id="231435" name="Oval 11"/>
          <p:cNvSpPr>
            <a:spLocks noChangeArrowheads="1"/>
          </p:cNvSpPr>
          <p:nvPr/>
        </p:nvSpPr>
        <p:spPr bwMode="auto">
          <a:xfrm>
            <a:off x="1476375" y="1484313"/>
            <a:ext cx="1800225" cy="2592387"/>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1436" name="Text Box 12"/>
          <p:cNvSpPr txBox="1">
            <a:spLocks noChangeArrowheads="1"/>
          </p:cNvSpPr>
          <p:nvPr/>
        </p:nvSpPr>
        <p:spPr bwMode="auto">
          <a:xfrm>
            <a:off x="395288" y="5013325"/>
            <a:ext cx="7272337" cy="1552575"/>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Работник 1:</a:t>
            </a:r>
          </a:p>
          <a:p>
            <a:r>
              <a:rPr lang="ru-RU" sz="2400" b="1">
                <a:solidFill>
                  <a:srgbClr val="FFFFCC"/>
                </a:solidFill>
                <a:latin typeface="Arial" charset="0"/>
              </a:rPr>
              <a:t>Каска отсутствует. </a:t>
            </a:r>
            <a:r>
              <a:rPr lang="ru-RU" sz="2400" b="1">
                <a:solidFill>
                  <a:srgbClr val="FF0066"/>
                </a:solidFill>
                <a:latin typeface="Arial" charset="0"/>
              </a:rPr>
              <a:t>Пометка «неправильно».</a:t>
            </a:r>
            <a:r>
              <a:rPr lang="ru-RU" sz="2400" b="1">
                <a:solidFill>
                  <a:srgbClr val="FFFFCC"/>
                </a:solidFill>
                <a:latin typeface="Arial" charset="0"/>
              </a:rPr>
              <a:t> Использование каски на стройке необходимо, так как  существует риск травмы головы. </a:t>
            </a:r>
          </a:p>
        </p:txBody>
      </p:sp>
      <p:sp>
        <p:nvSpPr>
          <p:cNvPr id="231437" name="Text Box 13"/>
          <p:cNvSpPr txBox="1">
            <a:spLocks noChangeArrowheads="1"/>
          </p:cNvSpPr>
          <p:nvPr/>
        </p:nvSpPr>
        <p:spPr bwMode="auto">
          <a:xfrm>
            <a:off x="179388" y="4292600"/>
            <a:ext cx="8208962" cy="2282825"/>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Работник 2:</a:t>
            </a:r>
          </a:p>
          <a:p>
            <a:r>
              <a:rPr lang="ru-RU" sz="2400" b="1">
                <a:solidFill>
                  <a:srgbClr val="FFFFCC"/>
                </a:solidFill>
                <a:latin typeface="Arial" charset="0"/>
              </a:rPr>
              <a:t>Имеются требуемые средства защиты, но работник рискует, когда пользуется неисправным сварочным оборудованием. Отсутствует пожаротушительная перчатка при баллонах и огнетушитель. </a:t>
            </a:r>
            <a:r>
              <a:rPr lang="ru-RU" sz="2400" b="1">
                <a:solidFill>
                  <a:srgbClr val="FF0066"/>
                </a:solidFill>
                <a:latin typeface="Arial" charset="0"/>
              </a:rPr>
              <a:t>Отметка «неправильно».</a:t>
            </a:r>
          </a:p>
        </p:txBody>
      </p:sp>
      <p:sp>
        <p:nvSpPr>
          <p:cNvPr id="231438" name="Text Box 14"/>
          <p:cNvSpPr txBox="1">
            <a:spLocks noChangeArrowheads="1"/>
          </p:cNvSpPr>
          <p:nvPr/>
        </p:nvSpPr>
        <p:spPr bwMode="auto">
          <a:xfrm>
            <a:off x="0" y="0"/>
            <a:ext cx="4176713" cy="1917700"/>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Работник 3:</a:t>
            </a:r>
          </a:p>
          <a:p>
            <a:r>
              <a:rPr lang="ru-RU" sz="2400" b="1">
                <a:solidFill>
                  <a:srgbClr val="FFFFCC"/>
                </a:solidFill>
                <a:latin typeface="Arial" charset="0"/>
              </a:rPr>
              <a:t>Требуемые средства защиты имеются. Работник не рискует. </a:t>
            </a:r>
            <a:r>
              <a:rPr lang="ru-RU" sz="2400" b="1">
                <a:solidFill>
                  <a:srgbClr val="FFFF00"/>
                </a:solidFill>
                <a:latin typeface="Arial" charset="0"/>
              </a:rPr>
              <a:t>Отметка «правильно».</a:t>
            </a:r>
            <a:r>
              <a:rPr lang="ru-RU" sz="2400">
                <a:solidFill>
                  <a:schemeClr val="tx1"/>
                </a:solidFill>
                <a:latin typeface="Arial" charset="0"/>
              </a:rPr>
              <a:t> </a:t>
            </a:r>
          </a:p>
        </p:txBody>
      </p:sp>
      <p:sp>
        <p:nvSpPr>
          <p:cNvPr id="231439" name="Text Box 15"/>
          <p:cNvSpPr txBox="1">
            <a:spLocks noChangeArrowheads="1"/>
          </p:cNvSpPr>
          <p:nvPr/>
        </p:nvSpPr>
        <p:spPr bwMode="auto">
          <a:xfrm>
            <a:off x="107950" y="58738"/>
            <a:ext cx="4176713" cy="1552575"/>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Работник 4:</a:t>
            </a:r>
          </a:p>
          <a:p>
            <a:r>
              <a:rPr lang="ru-RU" sz="2400" b="1">
                <a:solidFill>
                  <a:srgbClr val="FFFFCC"/>
                </a:solidFill>
                <a:latin typeface="Arial" charset="0"/>
              </a:rPr>
              <a:t>Пользуется каской в зоне работы крана.</a:t>
            </a:r>
            <a:r>
              <a:rPr lang="ru-RU" sz="2400" b="1">
                <a:solidFill>
                  <a:schemeClr val="tx1"/>
                </a:solidFill>
                <a:latin typeface="Arial" charset="0"/>
              </a:rPr>
              <a:t> </a:t>
            </a:r>
            <a:r>
              <a:rPr lang="ru-RU" sz="2400" b="1">
                <a:solidFill>
                  <a:srgbClr val="FFFF00"/>
                </a:solidFill>
                <a:latin typeface="Arial" charset="0"/>
              </a:rPr>
              <a:t>Отметка «правильно».</a:t>
            </a:r>
            <a:endParaRPr lang="ru-RU" sz="2400">
              <a:solidFill>
                <a:srgbClr val="FFFF00"/>
              </a:solidFill>
              <a:latin typeface="Arial" charset="0"/>
            </a:endParaRPr>
          </a:p>
        </p:txBody>
      </p:sp>
      <p:sp>
        <p:nvSpPr>
          <p:cNvPr id="231440" name="Oval 16"/>
          <p:cNvSpPr>
            <a:spLocks noChangeArrowheads="1"/>
          </p:cNvSpPr>
          <p:nvPr/>
        </p:nvSpPr>
        <p:spPr bwMode="auto">
          <a:xfrm>
            <a:off x="3563938" y="1125538"/>
            <a:ext cx="2520950" cy="2016125"/>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1441" name="Oval 17"/>
          <p:cNvSpPr>
            <a:spLocks noChangeArrowheads="1"/>
          </p:cNvSpPr>
          <p:nvPr/>
        </p:nvSpPr>
        <p:spPr bwMode="auto">
          <a:xfrm>
            <a:off x="5580063" y="1916113"/>
            <a:ext cx="1584325" cy="1800225"/>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1442" name="Oval 18"/>
          <p:cNvSpPr>
            <a:spLocks noChangeArrowheads="1"/>
          </p:cNvSpPr>
          <p:nvPr/>
        </p:nvSpPr>
        <p:spPr bwMode="auto">
          <a:xfrm>
            <a:off x="2987675" y="3213100"/>
            <a:ext cx="2160588" cy="208915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31435"/>
                                        </p:tgtEl>
                                        <p:attrNameLst>
                                          <p:attrName>style.visibility</p:attrName>
                                        </p:attrNameLst>
                                      </p:cBhvr>
                                      <p:to>
                                        <p:strVal val="visible"/>
                                      </p:to>
                                    </p:set>
                                    <p:anim calcmode="lin" valueType="num">
                                      <p:cBhvr>
                                        <p:cTn id="7" dur="500" fill="hold"/>
                                        <p:tgtEl>
                                          <p:spTgt spid="231435"/>
                                        </p:tgtEl>
                                        <p:attrNameLst>
                                          <p:attrName>ppt_w</p:attrName>
                                        </p:attrNameLst>
                                      </p:cBhvr>
                                      <p:tavLst>
                                        <p:tav tm="0">
                                          <p:val>
                                            <p:fltVal val="0"/>
                                          </p:val>
                                        </p:tav>
                                        <p:tav tm="100000">
                                          <p:val>
                                            <p:strVal val="#ppt_w"/>
                                          </p:val>
                                        </p:tav>
                                      </p:tavLst>
                                    </p:anim>
                                    <p:anim calcmode="lin" valueType="num">
                                      <p:cBhvr>
                                        <p:cTn id="8" dur="500" fill="hold"/>
                                        <p:tgtEl>
                                          <p:spTgt spid="231435"/>
                                        </p:tgtEl>
                                        <p:attrNameLst>
                                          <p:attrName>ppt_h</p:attrName>
                                        </p:attrNameLst>
                                      </p:cBhvr>
                                      <p:tavLst>
                                        <p:tav tm="0">
                                          <p:val>
                                            <p:fltVal val="0"/>
                                          </p:val>
                                        </p:tav>
                                        <p:tav tm="100000">
                                          <p:val>
                                            <p:strVal val="#ppt_h"/>
                                          </p:val>
                                        </p:tav>
                                      </p:tavLst>
                                    </p:anim>
                                    <p:animEffect transition="in" filter="fade">
                                      <p:cBhvr>
                                        <p:cTn id="9" dur="500"/>
                                        <p:tgtEl>
                                          <p:spTgt spid="231435"/>
                                        </p:tgtEl>
                                      </p:cBhvr>
                                    </p:animEffect>
                                  </p:childTnLst>
                                  <p:subTnLst>
                                    <p:set>
                                      <p:cBhvr override="childStyle">
                                        <p:cTn dur="1" fill="hold" display="0" masterRel="nextClick" afterEffect="1"/>
                                        <p:tgtEl>
                                          <p:spTgt spid="231435"/>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 presetClass="entr" presetSubtype="1" fill="hold" grpId="0" nodeType="clickEffect">
                                  <p:stCondLst>
                                    <p:cond delay="0"/>
                                  </p:stCondLst>
                                  <p:childTnLst>
                                    <p:set>
                                      <p:cBhvr>
                                        <p:cTn id="13" dur="1" fill="hold">
                                          <p:stCondLst>
                                            <p:cond delay="0"/>
                                          </p:stCondLst>
                                        </p:cTn>
                                        <p:tgtEl>
                                          <p:spTgt spid="231436"/>
                                        </p:tgtEl>
                                        <p:attrNameLst>
                                          <p:attrName>style.visibility</p:attrName>
                                        </p:attrNameLst>
                                      </p:cBhvr>
                                      <p:to>
                                        <p:strVal val="visible"/>
                                      </p:to>
                                    </p:set>
                                    <p:anim calcmode="lin" valueType="num">
                                      <p:cBhvr additive="base">
                                        <p:cTn id="14" dur="500" fill="hold"/>
                                        <p:tgtEl>
                                          <p:spTgt spid="231436"/>
                                        </p:tgtEl>
                                        <p:attrNameLst>
                                          <p:attrName>ppt_x</p:attrName>
                                        </p:attrNameLst>
                                      </p:cBhvr>
                                      <p:tavLst>
                                        <p:tav tm="0">
                                          <p:val>
                                            <p:strVal val="#ppt_x"/>
                                          </p:val>
                                        </p:tav>
                                        <p:tav tm="100000">
                                          <p:val>
                                            <p:strVal val="#ppt_x"/>
                                          </p:val>
                                        </p:tav>
                                      </p:tavLst>
                                    </p:anim>
                                    <p:anim calcmode="lin" valueType="num">
                                      <p:cBhvr additive="base">
                                        <p:cTn id="15" dur="500" fill="hold"/>
                                        <p:tgtEl>
                                          <p:spTgt spid="231436"/>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231436"/>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53" presetClass="entr" presetSubtype="0" fill="hold" grpId="0" nodeType="clickEffect">
                                  <p:stCondLst>
                                    <p:cond delay="0"/>
                                  </p:stCondLst>
                                  <p:childTnLst>
                                    <p:set>
                                      <p:cBhvr>
                                        <p:cTn id="19" dur="1" fill="hold">
                                          <p:stCondLst>
                                            <p:cond delay="0"/>
                                          </p:stCondLst>
                                        </p:cTn>
                                        <p:tgtEl>
                                          <p:spTgt spid="231440"/>
                                        </p:tgtEl>
                                        <p:attrNameLst>
                                          <p:attrName>style.visibility</p:attrName>
                                        </p:attrNameLst>
                                      </p:cBhvr>
                                      <p:to>
                                        <p:strVal val="visible"/>
                                      </p:to>
                                    </p:set>
                                    <p:anim calcmode="lin" valueType="num">
                                      <p:cBhvr>
                                        <p:cTn id="20" dur="500" fill="hold"/>
                                        <p:tgtEl>
                                          <p:spTgt spid="231440"/>
                                        </p:tgtEl>
                                        <p:attrNameLst>
                                          <p:attrName>ppt_w</p:attrName>
                                        </p:attrNameLst>
                                      </p:cBhvr>
                                      <p:tavLst>
                                        <p:tav tm="0">
                                          <p:val>
                                            <p:fltVal val="0"/>
                                          </p:val>
                                        </p:tav>
                                        <p:tav tm="100000">
                                          <p:val>
                                            <p:strVal val="#ppt_w"/>
                                          </p:val>
                                        </p:tav>
                                      </p:tavLst>
                                    </p:anim>
                                    <p:anim calcmode="lin" valueType="num">
                                      <p:cBhvr>
                                        <p:cTn id="21" dur="500" fill="hold"/>
                                        <p:tgtEl>
                                          <p:spTgt spid="231440"/>
                                        </p:tgtEl>
                                        <p:attrNameLst>
                                          <p:attrName>ppt_h</p:attrName>
                                        </p:attrNameLst>
                                      </p:cBhvr>
                                      <p:tavLst>
                                        <p:tav tm="0">
                                          <p:val>
                                            <p:fltVal val="0"/>
                                          </p:val>
                                        </p:tav>
                                        <p:tav tm="100000">
                                          <p:val>
                                            <p:strVal val="#ppt_h"/>
                                          </p:val>
                                        </p:tav>
                                      </p:tavLst>
                                    </p:anim>
                                    <p:animEffect transition="in" filter="fade">
                                      <p:cBhvr>
                                        <p:cTn id="22" dur="500"/>
                                        <p:tgtEl>
                                          <p:spTgt spid="231440"/>
                                        </p:tgtEl>
                                      </p:cBhvr>
                                    </p:animEffect>
                                  </p:childTnLst>
                                  <p:subTnLst>
                                    <p:set>
                                      <p:cBhvr override="childStyle">
                                        <p:cTn dur="1" fill="hold" display="0" masterRel="nextClick" afterEffect="1"/>
                                        <p:tgtEl>
                                          <p:spTgt spid="23144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231437"/>
                                        </p:tgtEl>
                                        <p:attrNameLst>
                                          <p:attrName>style.visibility</p:attrName>
                                        </p:attrNameLst>
                                      </p:cBhvr>
                                      <p:to>
                                        <p:strVal val="visible"/>
                                      </p:to>
                                    </p:set>
                                    <p:animEffect transition="in" filter="fade">
                                      <p:cBhvr>
                                        <p:cTn id="27" dur="1000"/>
                                        <p:tgtEl>
                                          <p:spTgt spid="231437"/>
                                        </p:tgtEl>
                                      </p:cBhvr>
                                    </p:animEffect>
                                    <p:anim calcmode="lin" valueType="num">
                                      <p:cBhvr>
                                        <p:cTn id="28" dur="1000" fill="hold"/>
                                        <p:tgtEl>
                                          <p:spTgt spid="231437"/>
                                        </p:tgtEl>
                                        <p:attrNameLst>
                                          <p:attrName>ppt_x</p:attrName>
                                        </p:attrNameLst>
                                      </p:cBhvr>
                                      <p:tavLst>
                                        <p:tav tm="0">
                                          <p:val>
                                            <p:strVal val="#ppt_x"/>
                                          </p:val>
                                        </p:tav>
                                        <p:tav tm="100000">
                                          <p:val>
                                            <p:strVal val="#ppt_x"/>
                                          </p:val>
                                        </p:tav>
                                      </p:tavLst>
                                    </p:anim>
                                    <p:anim calcmode="lin" valueType="num">
                                      <p:cBhvr>
                                        <p:cTn id="29" dur="900" decel="100000" fill="hold"/>
                                        <p:tgtEl>
                                          <p:spTgt spid="231437"/>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31437"/>
                                        </p:tgtEl>
                                        <p:attrNameLst>
                                          <p:attrName>ppt_y</p:attrName>
                                        </p:attrNameLst>
                                      </p:cBhvr>
                                      <p:tavLst>
                                        <p:tav tm="0">
                                          <p:val>
                                            <p:strVal val="#ppt_y-.03"/>
                                          </p:val>
                                        </p:tav>
                                        <p:tav tm="100000">
                                          <p:val>
                                            <p:strVal val="#ppt_y"/>
                                          </p:val>
                                        </p:tav>
                                      </p:tavLst>
                                    </p:anim>
                                  </p:childTnLst>
                                  <p:subTnLst>
                                    <p:set>
                                      <p:cBhvr override="childStyle">
                                        <p:cTn dur="1" fill="hold" display="0" masterRel="nextClick" afterEffect="1"/>
                                        <p:tgtEl>
                                          <p:spTgt spid="23143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231441"/>
                                        </p:tgtEl>
                                        <p:attrNameLst>
                                          <p:attrName>style.visibility</p:attrName>
                                        </p:attrNameLst>
                                      </p:cBhvr>
                                      <p:to>
                                        <p:strVal val="visible"/>
                                      </p:to>
                                    </p:set>
                                    <p:anim calcmode="lin" valueType="num">
                                      <p:cBhvr>
                                        <p:cTn id="35" dur="500" fill="hold"/>
                                        <p:tgtEl>
                                          <p:spTgt spid="231441"/>
                                        </p:tgtEl>
                                        <p:attrNameLst>
                                          <p:attrName>ppt_w</p:attrName>
                                        </p:attrNameLst>
                                      </p:cBhvr>
                                      <p:tavLst>
                                        <p:tav tm="0">
                                          <p:val>
                                            <p:fltVal val="0"/>
                                          </p:val>
                                        </p:tav>
                                        <p:tav tm="100000">
                                          <p:val>
                                            <p:strVal val="#ppt_w"/>
                                          </p:val>
                                        </p:tav>
                                      </p:tavLst>
                                    </p:anim>
                                    <p:anim calcmode="lin" valueType="num">
                                      <p:cBhvr>
                                        <p:cTn id="36" dur="500" fill="hold"/>
                                        <p:tgtEl>
                                          <p:spTgt spid="231441"/>
                                        </p:tgtEl>
                                        <p:attrNameLst>
                                          <p:attrName>ppt_h</p:attrName>
                                        </p:attrNameLst>
                                      </p:cBhvr>
                                      <p:tavLst>
                                        <p:tav tm="0">
                                          <p:val>
                                            <p:fltVal val="0"/>
                                          </p:val>
                                        </p:tav>
                                        <p:tav tm="100000">
                                          <p:val>
                                            <p:strVal val="#ppt_h"/>
                                          </p:val>
                                        </p:tav>
                                      </p:tavLst>
                                    </p:anim>
                                    <p:animEffect transition="in" filter="fade">
                                      <p:cBhvr>
                                        <p:cTn id="37" dur="500"/>
                                        <p:tgtEl>
                                          <p:spTgt spid="231441"/>
                                        </p:tgtEl>
                                      </p:cBhvr>
                                    </p:animEffect>
                                  </p:childTnLst>
                                  <p:subTnLst>
                                    <p:set>
                                      <p:cBhvr override="childStyle">
                                        <p:cTn dur="1" fill="hold" display="0" masterRel="nextClick" afterEffect="1"/>
                                        <p:tgtEl>
                                          <p:spTgt spid="231441"/>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52" presetClass="entr" presetSubtype="0" fill="hold" grpId="0" nodeType="clickEffect">
                                  <p:stCondLst>
                                    <p:cond delay="0"/>
                                  </p:stCondLst>
                                  <p:childTnLst>
                                    <p:set>
                                      <p:cBhvr>
                                        <p:cTn id="41" dur="1" fill="hold">
                                          <p:stCondLst>
                                            <p:cond delay="0"/>
                                          </p:stCondLst>
                                        </p:cTn>
                                        <p:tgtEl>
                                          <p:spTgt spid="231438"/>
                                        </p:tgtEl>
                                        <p:attrNameLst>
                                          <p:attrName>style.visibility</p:attrName>
                                        </p:attrNameLst>
                                      </p:cBhvr>
                                      <p:to>
                                        <p:strVal val="visible"/>
                                      </p:to>
                                    </p:set>
                                    <p:animScale>
                                      <p:cBhvr>
                                        <p:cTn id="42" dur="1000" decel="50000" fill="hold">
                                          <p:stCondLst>
                                            <p:cond delay="0"/>
                                          </p:stCondLst>
                                        </p:cTn>
                                        <p:tgtEl>
                                          <p:spTgt spid="2314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231438"/>
                                        </p:tgtEl>
                                        <p:attrNameLst>
                                          <p:attrName>ppt_x</p:attrName>
                                          <p:attrName>ppt_y</p:attrName>
                                        </p:attrNameLst>
                                      </p:cBhvr>
                                    </p:animMotion>
                                    <p:animEffect transition="in" filter="fade">
                                      <p:cBhvr>
                                        <p:cTn id="44" dur="1000"/>
                                        <p:tgtEl>
                                          <p:spTgt spid="231438"/>
                                        </p:tgtEl>
                                      </p:cBhvr>
                                    </p:animEffect>
                                  </p:childTnLst>
                                  <p:subTnLst>
                                    <p:set>
                                      <p:cBhvr override="childStyle">
                                        <p:cTn dur="1" fill="hold" display="0" masterRel="nextClick" afterEffect="1"/>
                                        <p:tgtEl>
                                          <p:spTgt spid="23143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231442"/>
                                        </p:tgtEl>
                                        <p:attrNameLst>
                                          <p:attrName>style.visibility</p:attrName>
                                        </p:attrNameLst>
                                      </p:cBhvr>
                                      <p:to>
                                        <p:strVal val="visible"/>
                                      </p:to>
                                    </p:set>
                                    <p:anim calcmode="lin" valueType="num">
                                      <p:cBhvr>
                                        <p:cTn id="49" dur="500" fill="hold"/>
                                        <p:tgtEl>
                                          <p:spTgt spid="231442"/>
                                        </p:tgtEl>
                                        <p:attrNameLst>
                                          <p:attrName>ppt_w</p:attrName>
                                        </p:attrNameLst>
                                      </p:cBhvr>
                                      <p:tavLst>
                                        <p:tav tm="0">
                                          <p:val>
                                            <p:fltVal val="0"/>
                                          </p:val>
                                        </p:tav>
                                        <p:tav tm="100000">
                                          <p:val>
                                            <p:strVal val="#ppt_w"/>
                                          </p:val>
                                        </p:tav>
                                      </p:tavLst>
                                    </p:anim>
                                    <p:anim calcmode="lin" valueType="num">
                                      <p:cBhvr>
                                        <p:cTn id="50" dur="500" fill="hold"/>
                                        <p:tgtEl>
                                          <p:spTgt spid="231442"/>
                                        </p:tgtEl>
                                        <p:attrNameLst>
                                          <p:attrName>ppt_h</p:attrName>
                                        </p:attrNameLst>
                                      </p:cBhvr>
                                      <p:tavLst>
                                        <p:tav tm="0">
                                          <p:val>
                                            <p:fltVal val="0"/>
                                          </p:val>
                                        </p:tav>
                                        <p:tav tm="100000">
                                          <p:val>
                                            <p:strVal val="#ppt_h"/>
                                          </p:val>
                                        </p:tav>
                                      </p:tavLst>
                                    </p:anim>
                                    <p:animEffect transition="in" filter="fade">
                                      <p:cBhvr>
                                        <p:cTn id="51" dur="500"/>
                                        <p:tgtEl>
                                          <p:spTgt spid="231442"/>
                                        </p:tgtEl>
                                      </p:cBhvr>
                                    </p:animEffect>
                                  </p:childTnLst>
                                  <p:subTnLst>
                                    <p:set>
                                      <p:cBhvr override="childStyle">
                                        <p:cTn dur="1" fill="hold" display="0" masterRel="nextClick" afterEffect="1"/>
                                        <p:tgtEl>
                                          <p:spTgt spid="23144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231439"/>
                                        </p:tgtEl>
                                        <p:attrNameLst>
                                          <p:attrName>style.visibility</p:attrName>
                                        </p:attrNameLst>
                                      </p:cBhvr>
                                      <p:to>
                                        <p:strVal val="visible"/>
                                      </p:to>
                                    </p:set>
                                    <p:animEffect transition="in" filter="wipe(up)">
                                      <p:cBhvr>
                                        <p:cTn id="56" dur="500"/>
                                        <p:tgtEl>
                                          <p:spTgt spid="231439"/>
                                        </p:tgtEl>
                                      </p:cBhvr>
                                    </p:animEffect>
                                  </p:childTnLst>
                                  <p:subTnLst>
                                    <p:set>
                                      <p:cBhvr override="childStyle">
                                        <p:cTn dur="1" fill="hold" display="0" masterRel="nextClick" afterEffect="1"/>
                                        <p:tgtEl>
                                          <p:spTgt spid="23143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5" grpId="0" animBg="1"/>
      <p:bldP spid="231436" grpId="0" animBg="1"/>
      <p:bldP spid="231437" grpId="0" animBg="1"/>
      <p:bldP spid="231438" grpId="0" animBg="1"/>
      <p:bldP spid="231439" grpId="0" animBg="1"/>
      <p:bldP spid="231440" grpId="0" animBg="1"/>
      <p:bldP spid="231441" grpId="0" animBg="1"/>
      <p:bldP spid="23144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7" name="Picture 3"/>
          <p:cNvPicPr>
            <a:picLocks noChangeAspect="1" noChangeArrowheads="1"/>
          </p:cNvPicPr>
          <p:nvPr/>
        </p:nvPicPr>
        <p:blipFill>
          <a:blip r:embed="rId2"/>
          <a:srcRect/>
          <a:stretch>
            <a:fillRect/>
          </a:stretch>
        </p:blipFill>
        <p:spPr bwMode="auto">
          <a:xfrm>
            <a:off x="684213" y="803275"/>
            <a:ext cx="7620000" cy="5505450"/>
          </a:xfrm>
          <a:prstGeom prst="rect">
            <a:avLst/>
          </a:prstGeom>
          <a:noFill/>
          <a:ln w="9525">
            <a:noFill/>
            <a:miter lim="800000"/>
            <a:headEnd/>
            <a:tailEnd/>
          </a:ln>
        </p:spPr>
      </p:pic>
      <p:sp>
        <p:nvSpPr>
          <p:cNvPr id="232459" name="Oval 11"/>
          <p:cNvSpPr>
            <a:spLocks noChangeArrowheads="1"/>
          </p:cNvSpPr>
          <p:nvPr/>
        </p:nvSpPr>
        <p:spPr bwMode="auto">
          <a:xfrm>
            <a:off x="1763713" y="4941888"/>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60" name="Text Box 12"/>
          <p:cNvSpPr txBox="1">
            <a:spLocks noChangeArrowheads="1"/>
          </p:cNvSpPr>
          <p:nvPr/>
        </p:nvSpPr>
        <p:spPr bwMode="auto">
          <a:xfrm>
            <a:off x="179388" y="476250"/>
            <a:ext cx="7956550" cy="1187450"/>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Поручень 8:</a:t>
            </a:r>
            <a:br>
              <a:rPr lang="ru-RU" sz="2400" b="1">
                <a:solidFill>
                  <a:srgbClr val="FFFF00"/>
                </a:solidFill>
                <a:latin typeface="Arial" charset="0"/>
              </a:rPr>
            </a:br>
            <a:r>
              <a:rPr lang="ru-RU" sz="2400" b="1">
                <a:solidFill>
                  <a:srgbClr val="FFFFCC"/>
                </a:solidFill>
                <a:latin typeface="Arial" charset="0"/>
              </a:rPr>
              <a:t>Поручень не имеет промежуточной перекладины. Отметка</a:t>
            </a:r>
            <a:r>
              <a:rPr lang="en-US" sz="2400" b="1">
                <a:solidFill>
                  <a:srgbClr val="FFFFCC"/>
                </a:solidFill>
                <a:latin typeface="Arial" charset="0"/>
              </a:rPr>
              <a:t> </a:t>
            </a:r>
            <a:r>
              <a:rPr lang="ru-RU" sz="2400" b="1">
                <a:solidFill>
                  <a:srgbClr val="FFFFCC"/>
                </a:solidFill>
                <a:latin typeface="Arial" charset="0"/>
              </a:rPr>
              <a:t>-</a:t>
            </a:r>
            <a:r>
              <a:rPr lang="en-US" sz="2400" b="1">
                <a:solidFill>
                  <a:srgbClr val="FFFFCC"/>
                </a:solidFill>
                <a:latin typeface="Arial" charset="0"/>
              </a:rPr>
              <a:t> </a:t>
            </a:r>
            <a:r>
              <a:rPr lang="ru-RU" sz="2400" b="1">
                <a:solidFill>
                  <a:srgbClr val="FF0066"/>
                </a:solidFill>
                <a:latin typeface="Arial" charset="0"/>
              </a:rPr>
              <a:t>неправильно.</a:t>
            </a:r>
          </a:p>
        </p:txBody>
      </p:sp>
      <p:sp>
        <p:nvSpPr>
          <p:cNvPr id="232461" name="Text Box 13"/>
          <p:cNvSpPr txBox="1">
            <a:spLocks noChangeArrowheads="1"/>
          </p:cNvSpPr>
          <p:nvPr/>
        </p:nvSpPr>
        <p:spPr bwMode="auto">
          <a:xfrm>
            <a:off x="755650" y="5337175"/>
            <a:ext cx="7185025" cy="1187450"/>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Поручень 1-7:</a:t>
            </a:r>
          </a:p>
          <a:p>
            <a:r>
              <a:rPr lang="ru-RU" sz="2400" b="1">
                <a:solidFill>
                  <a:srgbClr val="FFFFCC"/>
                </a:solidFill>
                <a:latin typeface="Arial" charset="0"/>
              </a:rPr>
              <a:t>Конструкция поручней</a:t>
            </a:r>
            <a:r>
              <a:rPr lang="en-US" sz="2400" b="1">
                <a:solidFill>
                  <a:srgbClr val="FFFFCC"/>
                </a:solidFill>
                <a:latin typeface="Arial" charset="0"/>
              </a:rPr>
              <a:t> </a:t>
            </a:r>
            <a:r>
              <a:rPr lang="ru-RU" sz="2400" b="1">
                <a:solidFill>
                  <a:srgbClr val="FFFFCC"/>
                </a:solidFill>
                <a:latin typeface="Arial" charset="0"/>
              </a:rPr>
              <a:t>-</a:t>
            </a:r>
            <a:r>
              <a:rPr lang="en-US" sz="2400" b="1">
                <a:solidFill>
                  <a:srgbClr val="FFFFCC"/>
                </a:solidFill>
                <a:latin typeface="Arial" charset="0"/>
              </a:rPr>
              <a:t> </a:t>
            </a:r>
            <a:r>
              <a:rPr lang="ru-RU" sz="2400" b="1">
                <a:solidFill>
                  <a:srgbClr val="FFFFCC"/>
                </a:solidFill>
                <a:latin typeface="Arial" charset="0"/>
              </a:rPr>
              <a:t>согласно указаниям, поэтому делаем </a:t>
            </a:r>
            <a:r>
              <a:rPr lang="ru-RU" sz="2400" b="1">
                <a:solidFill>
                  <a:srgbClr val="FFFF00"/>
                </a:solidFill>
                <a:latin typeface="Arial" charset="0"/>
              </a:rPr>
              <a:t>7</a:t>
            </a:r>
            <a:r>
              <a:rPr lang="en-US" sz="2400" b="1">
                <a:solidFill>
                  <a:srgbClr val="FFFF00"/>
                </a:solidFill>
                <a:latin typeface="Arial" charset="0"/>
              </a:rPr>
              <a:t> </a:t>
            </a:r>
            <a:r>
              <a:rPr lang="ru-RU" sz="2400" b="1">
                <a:solidFill>
                  <a:srgbClr val="FFFF00"/>
                </a:solidFill>
                <a:latin typeface="Arial" charset="0"/>
              </a:rPr>
              <a:t>Отметок</a:t>
            </a:r>
            <a:r>
              <a:rPr lang="en-US" sz="2400" b="1">
                <a:solidFill>
                  <a:srgbClr val="FFFF00"/>
                </a:solidFill>
                <a:latin typeface="Arial" charset="0"/>
              </a:rPr>
              <a:t> </a:t>
            </a:r>
            <a:r>
              <a:rPr lang="ru-RU" sz="2400" b="1">
                <a:solidFill>
                  <a:srgbClr val="FFFF00"/>
                </a:solidFill>
                <a:latin typeface="Arial" charset="0"/>
              </a:rPr>
              <a:t>правильно.</a:t>
            </a:r>
          </a:p>
        </p:txBody>
      </p:sp>
      <p:sp>
        <p:nvSpPr>
          <p:cNvPr id="232462" name="Text Box 14"/>
          <p:cNvSpPr txBox="1">
            <a:spLocks noChangeArrowheads="1"/>
          </p:cNvSpPr>
          <p:nvPr/>
        </p:nvSpPr>
        <p:spPr bwMode="auto">
          <a:xfrm>
            <a:off x="266700" y="260350"/>
            <a:ext cx="8877300" cy="1187450"/>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Защита от падения 9:</a:t>
            </a:r>
          </a:p>
          <a:p>
            <a:r>
              <a:rPr lang="ru-RU" sz="2400" b="1">
                <a:solidFill>
                  <a:srgbClr val="FFFFCC"/>
                </a:solidFill>
                <a:latin typeface="Arial" charset="0"/>
              </a:rPr>
              <a:t>Защитный щит отмечен и его передвижение невозможно.</a:t>
            </a:r>
            <a:r>
              <a:rPr lang="ru-RU" sz="2400" b="1">
                <a:solidFill>
                  <a:schemeClr val="tx1"/>
                </a:solidFill>
                <a:latin typeface="Arial" charset="0"/>
              </a:rPr>
              <a:t> </a:t>
            </a:r>
            <a:r>
              <a:rPr lang="ru-RU" sz="2400" b="1">
                <a:solidFill>
                  <a:srgbClr val="FFFF00"/>
                </a:solidFill>
                <a:latin typeface="Arial" charset="0"/>
              </a:rPr>
              <a:t>Отметка - правильно.</a:t>
            </a:r>
          </a:p>
        </p:txBody>
      </p:sp>
      <p:sp>
        <p:nvSpPr>
          <p:cNvPr id="232463" name="Text Box 15"/>
          <p:cNvSpPr txBox="1">
            <a:spLocks noChangeArrowheads="1"/>
          </p:cNvSpPr>
          <p:nvPr/>
        </p:nvSpPr>
        <p:spPr bwMode="auto">
          <a:xfrm>
            <a:off x="0" y="5516563"/>
            <a:ext cx="8732838" cy="822325"/>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Защита от падения 10:</a:t>
            </a:r>
          </a:p>
          <a:p>
            <a:r>
              <a:rPr lang="ru-RU" sz="2400" b="1">
                <a:solidFill>
                  <a:srgbClr val="FFFFCC"/>
                </a:solidFill>
                <a:latin typeface="Arial" charset="0"/>
              </a:rPr>
              <a:t>Защитный щит не отмечен. </a:t>
            </a:r>
            <a:r>
              <a:rPr lang="ru-RU" sz="2400" b="1">
                <a:solidFill>
                  <a:srgbClr val="FF0066"/>
                </a:solidFill>
                <a:latin typeface="Arial" charset="0"/>
              </a:rPr>
              <a:t>Отметка - неправильно.</a:t>
            </a:r>
          </a:p>
        </p:txBody>
      </p:sp>
      <p:sp>
        <p:nvSpPr>
          <p:cNvPr id="232464" name="Text Box 16"/>
          <p:cNvSpPr txBox="1">
            <a:spLocks noChangeArrowheads="1"/>
          </p:cNvSpPr>
          <p:nvPr/>
        </p:nvSpPr>
        <p:spPr bwMode="auto">
          <a:xfrm>
            <a:off x="179388" y="5229225"/>
            <a:ext cx="8732837" cy="1187450"/>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Защита от падения 11:</a:t>
            </a:r>
          </a:p>
          <a:p>
            <a:r>
              <a:rPr lang="ru-RU" sz="2400" b="1">
                <a:solidFill>
                  <a:srgbClr val="FFFFCC"/>
                </a:solidFill>
                <a:latin typeface="Arial" charset="0"/>
              </a:rPr>
              <a:t>Отверстие защищено с каждой стороны поручнями, согласно указаниям. </a:t>
            </a:r>
            <a:r>
              <a:rPr lang="ru-RU" sz="2400" b="1">
                <a:solidFill>
                  <a:srgbClr val="FFFF00"/>
                </a:solidFill>
                <a:latin typeface="Arial" charset="0"/>
              </a:rPr>
              <a:t>Отметка - правильно.</a:t>
            </a:r>
          </a:p>
        </p:txBody>
      </p:sp>
      <p:sp>
        <p:nvSpPr>
          <p:cNvPr id="232465" name="Text Box 17"/>
          <p:cNvSpPr txBox="1">
            <a:spLocks noChangeArrowheads="1"/>
          </p:cNvSpPr>
          <p:nvPr/>
        </p:nvSpPr>
        <p:spPr bwMode="auto">
          <a:xfrm>
            <a:off x="179388" y="5876925"/>
            <a:ext cx="8496300" cy="822325"/>
          </a:xfrm>
          <a:prstGeom prst="rect">
            <a:avLst/>
          </a:prstGeom>
          <a:solidFill>
            <a:srgbClr val="000080"/>
          </a:solidFill>
          <a:ln w="9525">
            <a:noFill/>
            <a:miter lim="800000"/>
            <a:headEnd/>
            <a:tailEnd/>
          </a:ln>
        </p:spPr>
        <p:txBody>
          <a:bodyPr>
            <a:spAutoFit/>
          </a:bodyPr>
          <a:lstStyle/>
          <a:p>
            <a:r>
              <a:rPr lang="ru-RU" sz="2400" b="1">
                <a:solidFill>
                  <a:srgbClr val="FFFF00"/>
                </a:solidFill>
                <a:latin typeface="Arial" charset="0"/>
              </a:rPr>
              <a:t>Защита от падения 12: </a:t>
            </a:r>
            <a:br>
              <a:rPr lang="ru-RU" sz="2400" b="1">
                <a:solidFill>
                  <a:srgbClr val="FFFF00"/>
                </a:solidFill>
                <a:latin typeface="Arial" charset="0"/>
              </a:rPr>
            </a:br>
            <a:r>
              <a:rPr lang="ru-RU" sz="2400" b="1">
                <a:solidFill>
                  <a:srgbClr val="FFFFCC"/>
                </a:solidFill>
                <a:latin typeface="Arial" charset="0"/>
              </a:rPr>
              <a:t>Защитный щит отсутствует</a:t>
            </a:r>
            <a:r>
              <a:rPr lang="ru-RU" sz="2400" b="1">
                <a:solidFill>
                  <a:srgbClr val="FFFF00"/>
                </a:solidFill>
                <a:latin typeface="Arial" charset="0"/>
              </a:rPr>
              <a:t>.</a:t>
            </a:r>
            <a:r>
              <a:rPr lang="ru-RU" sz="2400">
                <a:solidFill>
                  <a:srgbClr val="FFFF00"/>
                </a:solidFill>
                <a:latin typeface="Arial" charset="0"/>
              </a:rPr>
              <a:t> </a:t>
            </a:r>
            <a:r>
              <a:rPr lang="ru-RU" sz="2400" b="1">
                <a:solidFill>
                  <a:srgbClr val="FFFF00"/>
                </a:solidFill>
                <a:latin typeface="Arial" charset="0"/>
              </a:rPr>
              <a:t> Отметка - неправильно.</a:t>
            </a:r>
          </a:p>
        </p:txBody>
      </p:sp>
      <p:sp>
        <p:nvSpPr>
          <p:cNvPr id="232466" name="Oval 18"/>
          <p:cNvSpPr>
            <a:spLocks noChangeArrowheads="1"/>
          </p:cNvSpPr>
          <p:nvPr/>
        </p:nvSpPr>
        <p:spPr bwMode="auto">
          <a:xfrm>
            <a:off x="1403350" y="2852738"/>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67" name="Oval 19"/>
          <p:cNvSpPr>
            <a:spLocks noChangeArrowheads="1"/>
          </p:cNvSpPr>
          <p:nvPr/>
        </p:nvSpPr>
        <p:spPr bwMode="auto">
          <a:xfrm>
            <a:off x="2627313" y="2420938"/>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68" name="Oval 20"/>
          <p:cNvSpPr>
            <a:spLocks noChangeArrowheads="1"/>
          </p:cNvSpPr>
          <p:nvPr/>
        </p:nvSpPr>
        <p:spPr bwMode="auto">
          <a:xfrm>
            <a:off x="3708400" y="2060575"/>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69" name="Oval 21"/>
          <p:cNvSpPr>
            <a:spLocks noChangeArrowheads="1"/>
          </p:cNvSpPr>
          <p:nvPr/>
        </p:nvSpPr>
        <p:spPr bwMode="auto">
          <a:xfrm>
            <a:off x="4500563" y="1917700"/>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0" name="Oval 22"/>
          <p:cNvSpPr>
            <a:spLocks noChangeArrowheads="1"/>
          </p:cNvSpPr>
          <p:nvPr/>
        </p:nvSpPr>
        <p:spPr bwMode="auto">
          <a:xfrm>
            <a:off x="6156325" y="2133600"/>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1" name="Oval 23"/>
          <p:cNvSpPr>
            <a:spLocks noChangeArrowheads="1"/>
          </p:cNvSpPr>
          <p:nvPr/>
        </p:nvSpPr>
        <p:spPr bwMode="auto">
          <a:xfrm>
            <a:off x="5867400" y="3357563"/>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2" name="Oval 24"/>
          <p:cNvSpPr>
            <a:spLocks noChangeArrowheads="1"/>
          </p:cNvSpPr>
          <p:nvPr/>
        </p:nvSpPr>
        <p:spPr bwMode="auto">
          <a:xfrm>
            <a:off x="3419475" y="4797425"/>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3" name="Oval 25"/>
          <p:cNvSpPr>
            <a:spLocks noChangeArrowheads="1"/>
          </p:cNvSpPr>
          <p:nvPr/>
        </p:nvSpPr>
        <p:spPr bwMode="auto">
          <a:xfrm>
            <a:off x="2700338" y="4076700"/>
            <a:ext cx="431800" cy="431800"/>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4" name="Oval 26"/>
          <p:cNvSpPr>
            <a:spLocks noChangeArrowheads="1"/>
          </p:cNvSpPr>
          <p:nvPr/>
        </p:nvSpPr>
        <p:spPr bwMode="auto">
          <a:xfrm>
            <a:off x="2627313" y="3284538"/>
            <a:ext cx="504825" cy="504825"/>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5" name="Oval 27"/>
          <p:cNvSpPr>
            <a:spLocks noChangeArrowheads="1"/>
          </p:cNvSpPr>
          <p:nvPr/>
        </p:nvSpPr>
        <p:spPr bwMode="auto">
          <a:xfrm>
            <a:off x="4427538" y="3429000"/>
            <a:ext cx="504825" cy="504825"/>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
        <p:nvSpPr>
          <p:cNvPr id="232476" name="Oval 28"/>
          <p:cNvSpPr>
            <a:spLocks noChangeArrowheads="1"/>
          </p:cNvSpPr>
          <p:nvPr/>
        </p:nvSpPr>
        <p:spPr bwMode="auto">
          <a:xfrm>
            <a:off x="4572000" y="2636838"/>
            <a:ext cx="504825" cy="504825"/>
          </a:xfrm>
          <a:prstGeom prst="ellipse">
            <a:avLst/>
          </a:prstGeom>
          <a:noFill/>
          <a:ln w="38100">
            <a:solidFill>
              <a:srgbClr val="FF0000"/>
            </a:solidFill>
            <a:round/>
            <a:headEnd/>
            <a:tailEnd/>
          </a:ln>
        </p:spPr>
        <p:txBody>
          <a:bodyPr wrap="none" anchor="ctr"/>
          <a:lstStyle/>
          <a:p>
            <a:endParaRPr lang="ru-RU" sz="2400">
              <a:solidFill>
                <a:schemeClr val="tx1"/>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32459"/>
                                        </p:tgtEl>
                                        <p:attrNameLst>
                                          <p:attrName>style.visibility</p:attrName>
                                        </p:attrNameLst>
                                      </p:cBhvr>
                                      <p:to>
                                        <p:strVal val="visible"/>
                                      </p:to>
                                    </p:set>
                                    <p:anim calcmode="lin" valueType="num">
                                      <p:cBhvr>
                                        <p:cTn id="7" dur="500" fill="hold"/>
                                        <p:tgtEl>
                                          <p:spTgt spid="232459"/>
                                        </p:tgtEl>
                                        <p:attrNameLst>
                                          <p:attrName>ppt_w</p:attrName>
                                        </p:attrNameLst>
                                      </p:cBhvr>
                                      <p:tavLst>
                                        <p:tav tm="0">
                                          <p:val>
                                            <p:fltVal val="0"/>
                                          </p:val>
                                        </p:tav>
                                        <p:tav tm="100000">
                                          <p:val>
                                            <p:strVal val="#ppt_w"/>
                                          </p:val>
                                        </p:tav>
                                      </p:tavLst>
                                    </p:anim>
                                    <p:anim calcmode="lin" valueType="num">
                                      <p:cBhvr>
                                        <p:cTn id="8" dur="500" fill="hold"/>
                                        <p:tgtEl>
                                          <p:spTgt spid="232459"/>
                                        </p:tgtEl>
                                        <p:attrNameLst>
                                          <p:attrName>ppt_h</p:attrName>
                                        </p:attrNameLst>
                                      </p:cBhvr>
                                      <p:tavLst>
                                        <p:tav tm="0">
                                          <p:val>
                                            <p:fltVal val="0"/>
                                          </p:val>
                                        </p:tav>
                                        <p:tav tm="100000">
                                          <p:val>
                                            <p:strVal val="#ppt_h"/>
                                          </p:val>
                                        </p:tav>
                                      </p:tavLst>
                                    </p:anim>
                                    <p:animEffect transition="in" filter="fade">
                                      <p:cBhvr>
                                        <p:cTn id="9" dur="500"/>
                                        <p:tgtEl>
                                          <p:spTgt spid="232459"/>
                                        </p:tgtEl>
                                      </p:cBhvr>
                                    </p:animEffect>
                                  </p:childTnLst>
                                  <p:subTnLst>
                                    <p:set>
                                      <p:cBhvr override="childStyle">
                                        <p:cTn dur="1" fill="hold" display="0" masterRel="nextClick" afterEffect="1"/>
                                        <p:tgtEl>
                                          <p:spTgt spid="232459"/>
                                        </p:tgtEl>
                                        <p:attrNameLst>
                                          <p:attrName>style.visibility</p:attrName>
                                        </p:attrNameLst>
                                      </p:cBhvr>
                                      <p:to>
                                        <p:strVal val="hidden"/>
                                      </p:to>
                                    </p:set>
                                  </p:subTnLst>
                                </p:cTn>
                              </p:par>
                              <p:par>
                                <p:cTn id="10" presetID="53" presetClass="entr" presetSubtype="0" fill="hold" grpId="0" nodeType="withEffect">
                                  <p:stCondLst>
                                    <p:cond delay="0"/>
                                  </p:stCondLst>
                                  <p:childTnLst>
                                    <p:set>
                                      <p:cBhvr>
                                        <p:cTn id="11" dur="1" fill="hold">
                                          <p:stCondLst>
                                            <p:cond delay="0"/>
                                          </p:stCondLst>
                                        </p:cTn>
                                        <p:tgtEl>
                                          <p:spTgt spid="232466"/>
                                        </p:tgtEl>
                                        <p:attrNameLst>
                                          <p:attrName>style.visibility</p:attrName>
                                        </p:attrNameLst>
                                      </p:cBhvr>
                                      <p:to>
                                        <p:strVal val="visible"/>
                                      </p:to>
                                    </p:set>
                                    <p:anim calcmode="lin" valueType="num">
                                      <p:cBhvr>
                                        <p:cTn id="12" dur="500" fill="hold"/>
                                        <p:tgtEl>
                                          <p:spTgt spid="232466"/>
                                        </p:tgtEl>
                                        <p:attrNameLst>
                                          <p:attrName>ppt_w</p:attrName>
                                        </p:attrNameLst>
                                      </p:cBhvr>
                                      <p:tavLst>
                                        <p:tav tm="0">
                                          <p:val>
                                            <p:fltVal val="0"/>
                                          </p:val>
                                        </p:tav>
                                        <p:tav tm="100000">
                                          <p:val>
                                            <p:strVal val="#ppt_w"/>
                                          </p:val>
                                        </p:tav>
                                      </p:tavLst>
                                    </p:anim>
                                    <p:anim calcmode="lin" valueType="num">
                                      <p:cBhvr>
                                        <p:cTn id="13" dur="500" fill="hold"/>
                                        <p:tgtEl>
                                          <p:spTgt spid="232466"/>
                                        </p:tgtEl>
                                        <p:attrNameLst>
                                          <p:attrName>ppt_h</p:attrName>
                                        </p:attrNameLst>
                                      </p:cBhvr>
                                      <p:tavLst>
                                        <p:tav tm="0">
                                          <p:val>
                                            <p:fltVal val="0"/>
                                          </p:val>
                                        </p:tav>
                                        <p:tav tm="100000">
                                          <p:val>
                                            <p:strVal val="#ppt_h"/>
                                          </p:val>
                                        </p:tav>
                                      </p:tavLst>
                                    </p:anim>
                                    <p:animEffect transition="in" filter="fade">
                                      <p:cBhvr>
                                        <p:cTn id="14" dur="500"/>
                                        <p:tgtEl>
                                          <p:spTgt spid="232466"/>
                                        </p:tgtEl>
                                      </p:cBhvr>
                                    </p:animEffect>
                                  </p:childTnLst>
                                  <p:subTnLst>
                                    <p:set>
                                      <p:cBhvr override="childStyle">
                                        <p:cTn dur="1" fill="hold" display="0" masterRel="nextClick" afterEffect="1"/>
                                        <p:tgtEl>
                                          <p:spTgt spid="232466"/>
                                        </p:tgtEl>
                                        <p:attrNameLst>
                                          <p:attrName>style.visibility</p:attrName>
                                        </p:attrNameLst>
                                      </p:cBhvr>
                                      <p:to>
                                        <p:strVal val="hidden"/>
                                      </p:to>
                                    </p:set>
                                  </p:subTnLst>
                                </p:cTn>
                              </p:par>
                              <p:par>
                                <p:cTn id="15" presetID="53" presetClass="entr" presetSubtype="0" fill="hold" grpId="0" nodeType="withEffect">
                                  <p:stCondLst>
                                    <p:cond delay="0"/>
                                  </p:stCondLst>
                                  <p:childTnLst>
                                    <p:set>
                                      <p:cBhvr>
                                        <p:cTn id="16" dur="1" fill="hold">
                                          <p:stCondLst>
                                            <p:cond delay="0"/>
                                          </p:stCondLst>
                                        </p:cTn>
                                        <p:tgtEl>
                                          <p:spTgt spid="232467"/>
                                        </p:tgtEl>
                                        <p:attrNameLst>
                                          <p:attrName>style.visibility</p:attrName>
                                        </p:attrNameLst>
                                      </p:cBhvr>
                                      <p:to>
                                        <p:strVal val="visible"/>
                                      </p:to>
                                    </p:set>
                                    <p:anim calcmode="lin" valueType="num">
                                      <p:cBhvr>
                                        <p:cTn id="17" dur="500" fill="hold"/>
                                        <p:tgtEl>
                                          <p:spTgt spid="232467"/>
                                        </p:tgtEl>
                                        <p:attrNameLst>
                                          <p:attrName>ppt_w</p:attrName>
                                        </p:attrNameLst>
                                      </p:cBhvr>
                                      <p:tavLst>
                                        <p:tav tm="0">
                                          <p:val>
                                            <p:fltVal val="0"/>
                                          </p:val>
                                        </p:tav>
                                        <p:tav tm="100000">
                                          <p:val>
                                            <p:strVal val="#ppt_w"/>
                                          </p:val>
                                        </p:tav>
                                      </p:tavLst>
                                    </p:anim>
                                    <p:anim calcmode="lin" valueType="num">
                                      <p:cBhvr>
                                        <p:cTn id="18" dur="500" fill="hold"/>
                                        <p:tgtEl>
                                          <p:spTgt spid="232467"/>
                                        </p:tgtEl>
                                        <p:attrNameLst>
                                          <p:attrName>ppt_h</p:attrName>
                                        </p:attrNameLst>
                                      </p:cBhvr>
                                      <p:tavLst>
                                        <p:tav tm="0">
                                          <p:val>
                                            <p:fltVal val="0"/>
                                          </p:val>
                                        </p:tav>
                                        <p:tav tm="100000">
                                          <p:val>
                                            <p:strVal val="#ppt_h"/>
                                          </p:val>
                                        </p:tav>
                                      </p:tavLst>
                                    </p:anim>
                                    <p:animEffect transition="in" filter="fade">
                                      <p:cBhvr>
                                        <p:cTn id="19" dur="500"/>
                                        <p:tgtEl>
                                          <p:spTgt spid="232467"/>
                                        </p:tgtEl>
                                      </p:cBhvr>
                                    </p:animEffect>
                                  </p:childTnLst>
                                  <p:subTnLst>
                                    <p:set>
                                      <p:cBhvr override="childStyle">
                                        <p:cTn dur="1" fill="hold" display="0" masterRel="nextClick" afterEffect="1"/>
                                        <p:tgtEl>
                                          <p:spTgt spid="232467"/>
                                        </p:tgtEl>
                                        <p:attrNameLst>
                                          <p:attrName>style.visibility</p:attrName>
                                        </p:attrNameLst>
                                      </p:cBhvr>
                                      <p:to>
                                        <p:strVal val="hidden"/>
                                      </p:to>
                                    </p:set>
                                  </p:subTnLst>
                                </p:cTn>
                              </p:par>
                              <p:par>
                                <p:cTn id="20" presetID="53" presetClass="entr" presetSubtype="0" fill="hold" grpId="0" nodeType="withEffect">
                                  <p:stCondLst>
                                    <p:cond delay="0"/>
                                  </p:stCondLst>
                                  <p:childTnLst>
                                    <p:set>
                                      <p:cBhvr>
                                        <p:cTn id="21" dur="1" fill="hold">
                                          <p:stCondLst>
                                            <p:cond delay="0"/>
                                          </p:stCondLst>
                                        </p:cTn>
                                        <p:tgtEl>
                                          <p:spTgt spid="232468"/>
                                        </p:tgtEl>
                                        <p:attrNameLst>
                                          <p:attrName>style.visibility</p:attrName>
                                        </p:attrNameLst>
                                      </p:cBhvr>
                                      <p:to>
                                        <p:strVal val="visible"/>
                                      </p:to>
                                    </p:set>
                                    <p:anim calcmode="lin" valueType="num">
                                      <p:cBhvr>
                                        <p:cTn id="22" dur="500" fill="hold"/>
                                        <p:tgtEl>
                                          <p:spTgt spid="232468"/>
                                        </p:tgtEl>
                                        <p:attrNameLst>
                                          <p:attrName>ppt_w</p:attrName>
                                        </p:attrNameLst>
                                      </p:cBhvr>
                                      <p:tavLst>
                                        <p:tav tm="0">
                                          <p:val>
                                            <p:fltVal val="0"/>
                                          </p:val>
                                        </p:tav>
                                        <p:tav tm="100000">
                                          <p:val>
                                            <p:strVal val="#ppt_w"/>
                                          </p:val>
                                        </p:tav>
                                      </p:tavLst>
                                    </p:anim>
                                    <p:anim calcmode="lin" valueType="num">
                                      <p:cBhvr>
                                        <p:cTn id="23" dur="500" fill="hold"/>
                                        <p:tgtEl>
                                          <p:spTgt spid="232468"/>
                                        </p:tgtEl>
                                        <p:attrNameLst>
                                          <p:attrName>ppt_h</p:attrName>
                                        </p:attrNameLst>
                                      </p:cBhvr>
                                      <p:tavLst>
                                        <p:tav tm="0">
                                          <p:val>
                                            <p:fltVal val="0"/>
                                          </p:val>
                                        </p:tav>
                                        <p:tav tm="100000">
                                          <p:val>
                                            <p:strVal val="#ppt_h"/>
                                          </p:val>
                                        </p:tav>
                                      </p:tavLst>
                                    </p:anim>
                                    <p:animEffect transition="in" filter="fade">
                                      <p:cBhvr>
                                        <p:cTn id="24" dur="500"/>
                                        <p:tgtEl>
                                          <p:spTgt spid="232468"/>
                                        </p:tgtEl>
                                      </p:cBhvr>
                                    </p:animEffect>
                                  </p:childTnLst>
                                  <p:subTnLst>
                                    <p:set>
                                      <p:cBhvr override="childStyle">
                                        <p:cTn dur="1" fill="hold" display="0" masterRel="nextClick" afterEffect="1"/>
                                        <p:tgtEl>
                                          <p:spTgt spid="232468"/>
                                        </p:tgtEl>
                                        <p:attrNameLst>
                                          <p:attrName>style.visibility</p:attrName>
                                        </p:attrNameLst>
                                      </p:cBhvr>
                                      <p:to>
                                        <p:strVal val="hidden"/>
                                      </p:to>
                                    </p:set>
                                  </p:subTnLst>
                                </p:cTn>
                              </p:par>
                              <p:par>
                                <p:cTn id="25" presetID="53" presetClass="entr" presetSubtype="0" fill="hold" grpId="0" nodeType="withEffect">
                                  <p:stCondLst>
                                    <p:cond delay="0"/>
                                  </p:stCondLst>
                                  <p:childTnLst>
                                    <p:set>
                                      <p:cBhvr>
                                        <p:cTn id="26" dur="1" fill="hold">
                                          <p:stCondLst>
                                            <p:cond delay="0"/>
                                          </p:stCondLst>
                                        </p:cTn>
                                        <p:tgtEl>
                                          <p:spTgt spid="232469"/>
                                        </p:tgtEl>
                                        <p:attrNameLst>
                                          <p:attrName>style.visibility</p:attrName>
                                        </p:attrNameLst>
                                      </p:cBhvr>
                                      <p:to>
                                        <p:strVal val="visible"/>
                                      </p:to>
                                    </p:set>
                                    <p:anim calcmode="lin" valueType="num">
                                      <p:cBhvr>
                                        <p:cTn id="27" dur="500" fill="hold"/>
                                        <p:tgtEl>
                                          <p:spTgt spid="232469"/>
                                        </p:tgtEl>
                                        <p:attrNameLst>
                                          <p:attrName>ppt_w</p:attrName>
                                        </p:attrNameLst>
                                      </p:cBhvr>
                                      <p:tavLst>
                                        <p:tav tm="0">
                                          <p:val>
                                            <p:fltVal val="0"/>
                                          </p:val>
                                        </p:tav>
                                        <p:tav tm="100000">
                                          <p:val>
                                            <p:strVal val="#ppt_w"/>
                                          </p:val>
                                        </p:tav>
                                      </p:tavLst>
                                    </p:anim>
                                    <p:anim calcmode="lin" valueType="num">
                                      <p:cBhvr>
                                        <p:cTn id="28" dur="500" fill="hold"/>
                                        <p:tgtEl>
                                          <p:spTgt spid="232469"/>
                                        </p:tgtEl>
                                        <p:attrNameLst>
                                          <p:attrName>ppt_h</p:attrName>
                                        </p:attrNameLst>
                                      </p:cBhvr>
                                      <p:tavLst>
                                        <p:tav tm="0">
                                          <p:val>
                                            <p:fltVal val="0"/>
                                          </p:val>
                                        </p:tav>
                                        <p:tav tm="100000">
                                          <p:val>
                                            <p:strVal val="#ppt_h"/>
                                          </p:val>
                                        </p:tav>
                                      </p:tavLst>
                                    </p:anim>
                                    <p:animEffect transition="in" filter="fade">
                                      <p:cBhvr>
                                        <p:cTn id="29" dur="500"/>
                                        <p:tgtEl>
                                          <p:spTgt spid="232469"/>
                                        </p:tgtEl>
                                      </p:cBhvr>
                                    </p:animEffect>
                                  </p:childTnLst>
                                  <p:subTnLst>
                                    <p:set>
                                      <p:cBhvr override="childStyle">
                                        <p:cTn dur="1" fill="hold" display="0" masterRel="nextClick" afterEffect="1"/>
                                        <p:tgtEl>
                                          <p:spTgt spid="232469"/>
                                        </p:tgtEl>
                                        <p:attrNameLst>
                                          <p:attrName>style.visibility</p:attrName>
                                        </p:attrNameLst>
                                      </p:cBhvr>
                                      <p:to>
                                        <p:strVal val="hidden"/>
                                      </p:to>
                                    </p:set>
                                  </p:subTnLst>
                                </p:cTn>
                              </p:par>
                              <p:par>
                                <p:cTn id="30" presetID="53" presetClass="entr" presetSubtype="0" fill="hold" grpId="0" nodeType="withEffect">
                                  <p:stCondLst>
                                    <p:cond delay="0"/>
                                  </p:stCondLst>
                                  <p:childTnLst>
                                    <p:set>
                                      <p:cBhvr>
                                        <p:cTn id="31" dur="1" fill="hold">
                                          <p:stCondLst>
                                            <p:cond delay="0"/>
                                          </p:stCondLst>
                                        </p:cTn>
                                        <p:tgtEl>
                                          <p:spTgt spid="232470"/>
                                        </p:tgtEl>
                                        <p:attrNameLst>
                                          <p:attrName>style.visibility</p:attrName>
                                        </p:attrNameLst>
                                      </p:cBhvr>
                                      <p:to>
                                        <p:strVal val="visible"/>
                                      </p:to>
                                    </p:set>
                                    <p:anim calcmode="lin" valueType="num">
                                      <p:cBhvr>
                                        <p:cTn id="32" dur="500" fill="hold"/>
                                        <p:tgtEl>
                                          <p:spTgt spid="232470"/>
                                        </p:tgtEl>
                                        <p:attrNameLst>
                                          <p:attrName>ppt_w</p:attrName>
                                        </p:attrNameLst>
                                      </p:cBhvr>
                                      <p:tavLst>
                                        <p:tav tm="0">
                                          <p:val>
                                            <p:fltVal val="0"/>
                                          </p:val>
                                        </p:tav>
                                        <p:tav tm="100000">
                                          <p:val>
                                            <p:strVal val="#ppt_w"/>
                                          </p:val>
                                        </p:tav>
                                      </p:tavLst>
                                    </p:anim>
                                    <p:anim calcmode="lin" valueType="num">
                                      <p:cBhvr>
                                        <p:cTn id="33" dur="500" fill="hold"/>
                                        <p:tgtEl>
                                          <p:spTgt spid="232470"/>
                                        </p:tgtEl>
                                        <p:attrNameLst>
                                          <p:attrName>ppt_h</p:attrName>
                                        </p:attrNameLst>
                                      </p:cBhvr>
                                      <p:tavLst>
                                        <p:tav tm="0">
                                          <p:val>
                                            <p:fltVal val="0"/>
                                          </p:val>
                                        </p:tav>
                                        <p:tav tm="100000">
                                          <p:val>
                                            <p:strVal val="#ppt_h"/>
                                          </p:val>
                                        </p:tav>
                                      </p:tavLst>
                                    </p:anim>
                                    <p:animEffect transition="in" filter="fade">
                                      <p:cBhvr>
                                        <p:cTn id="34" dur="500"/>
                                        <p:tgtEl>
                                          <p:spTgt spid="232470"/>
                                        </p:tgtEl>
                                      </p:cBhvr>
                                    </p:animEffect>
                                  </p:childTnLst>
                                  <p:subTnLst>
                                    <p:set>
                                      <p:cBhvr override="childStyle">
                                        <p:cTn dur="1" fill="hold" display="0" masterRel="nextClick" afterEffect="1"/>
                                        <p:tgtEl>
                                          <p:spTgt spid="232470"/>
                                        </p:tgtEl>
                                        <p:attrNameLst>
                                          <p:attrName>style.visibility</p:attrName>
                                        </p:attrNameLst>
                                      </p:cBhvr>
                                      <p:to>
                                        <p:strVal val="hidden"/>
                                      </p:to>
                                    </p:set>
                                  </p:subTnLst>
                                </p:cTn>
                              </p:par>
                              <p:par>
                                <p:cTn id="35" presetID="53" presetClass="entr" presetSubtype="0" fill="hold" grpId="0" nodeType="withEffect">
                                  <p:stCondLst>
                                    <p:cond delay="0"/>
                                  </p:stCondLst>
                                  <p:childTnLst>
                                    <p:set>
                                      <p:cBhvr>
                                        <p:cTn id="36" dur="1" fill="hold">
                                          <p:stCondLst>
                                            <p:cond delay="0"/>
                                          </p:stCondLst>
                                        </p:cTn>
                                        <p:tgtEl>
                                          <p:spTgt spid="232471"/>
                                        </p:tgtEl>
                                        <p:attrNameLst>
                                          <p:attrName>style.visibility</p:attrName>
                                        </p:attrNameLst>
                                      </p:cBhvr>
                                      <p:to>
                                        <p:strVal val="visible"/>
                                      </p:to>
                                    </p:set>
                                    <p:anim calcmode="lin" valueType="num">
                                      <p:cBhvr>
                                        <p:cTn id="37" dur="500" fill="hold"/>
                                        <p:tgtEl>
                                          <p:spTgt spid="232471"/>
                                        </p:tgtEl>
                                        <p:attrNameLst>
                                          <p:attrName>ppt_w</p:attrName>
                                        </p:attrNameLst>
                                      </p:cBhvr>
                                      <p:tavLst>
                                        <p:tav tm="0">
                                          <p:val>
                                            <p:fltVal val="0"/>
                                          </p:val>
                                        </p:tav>
                                        <p:tav tm="100000">
                                          <p:val>
                                            <p:strVal val="#ppt_w"/>
                                          </p:val>
                                        </p:tav>
                                      </p:tavLst>
                                    </p:anim>
                                    <p:anim calcmode="lin" valueType="num">
                                      <p:cBhvr>
                                        <p:cTn id="38" dur="500" fill="hold"/>
                                        <p:tgtEl>
                                          <p:spTgt spid="232471"/>
                                        </p:tgtEl>
                                        <p:attrNameLst>
                                          <p:attrName>ppt_h</p:attrName>
                                        </p:attrNameLst>
                                      </p:cBhvr>
                                      <p:tavLst>
                                        <p:tav tm="0">
                                          <p:val>
                                            <p:fltVal val="0"/>
                                          </p:val>
                                        </p:tav>
                                        <p:tav tm="100000">
                                          <p:val>
                                            <p:strVal val="#ppt_h"/>
                                          </p:val>
                                        </p:tav>
                                      </p:tavLst>
                                    </p:anim>
                                    <p:animEffect transition="in" filter="fade">
                                      <p:cBhvr>
                                        <p:cTn id="39" dur="500"/>
                                        <p:tgtEl>
                                          <p:spTgt spid="232471"/>
                                        </p:tgtEl>
                                      </p:cBhvr>
                                    </p:animEffect>
                                  </p:childTnLst>
                                  <p:subTnLst>
                                    <p:set>
                                      <p:cBhvr override="childStyle">
                                        <p:cTn dur="1" fill="hold" display="0" masterRel="nextClick" afterEffect="1"/>
                                        <p:tgtEl>
                                          <p:spTgt spid="232471"/>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5" presetClass="entr" presetSubtype="0" fill="hold" grpId="0" nodeType="clickEffect">
                                  <p:stCondLst>
                                    <p:cond delay="0"/>
                                  </p:stCondLst>
                                  <p:childTnLst>
                                    <p:set>
                                      <p:cBhvr>
                                        <p:cTn id="43" dur="1" fill="hold">
                                          <p:stCondLst>
                                            <p:cond delay="0"/>
                                          </p:stCondLst>
                                        </p:cTn>
                                        <p:tgtEl>
                                          <p:spTgt spid="232461"/>
                                        </p:tgtEl>
                                        <p:attrNameLst>
                                          <p:attrName>style.visibility</p:attrName>
                                        </p:attrNameLst>
                                      </p:cBhvr>
                                      <p:to>
                                        <p:strVal val="visible"/>
                                      </p:to>
                                    </p:set>
                                    <p:anim calcmode="lin" valueType="num">
                                      <p:cBhvr>
                                        <p:cTn id="44" dur="500" decel="50000" fill="hold">
                                          <p:stCondLst>
                                            <p:cond delay="0"/>
                                          </p:stCondLst>
                                        </p:cTn>
                                        <p:tgtEl>
                                          <p:spTgt spid="232461"/>
                                        </p:tgtEl>
                                        <p:attrNameLst>
                                          <p:attrName>style.rotation</p:attrName>
                                        </p:attrNameLst>
                                      </p:cBhvr>
                                      <p:tavLst>
                                        <p:tav tm="0">
                                          <p:val>
                                            <p:fltVal val="-90"/>
                                          </p:val>
                                        </p:tav>
                                        <p:tav tm="100000">
                                          <p:val>
                                            <p:fltVal val="0"/>
                                          </p:val>
                                        </p:tav>
                                      </p:tavLst>
                                    </p:anim>
                                    <p:anim calcmode="lin" valueType="num">
                                      <p:cBhvr>
                                        <p:cTn id="45" dur="500" decel="50000" fill="hold">
                                          <p:stCondLst>
                                            <p:cond delay="0"/>
                                          </p:stCondLst>
                                        </p:cTn>
                                        <p:tgtEl>
                                          <p:spTgt spid="232461"/>
                                        </p:tgtEl>
                                        <p:attrNameLst>
                                          <p:attrName>ppt_w</p:attrName>
                                        </p:attrNameLst>
                                      </p:cBhvr>
                                      <p:tavLst>
                                        <p:tav tm="0">
                                          <p:val>
                                            <p:strVal val="#ppt_w"/>
                                          </p:val>
                                        </p:tav>
                                        <p:tav tm="100000">
                                          <p:val>
                                            <p:strVal val="#ppt_w*.05"/>
                                          </p:val>
                                        </p:tav>
                                      </p:tavLst>
                                    </p:anim>
                                    <p:anim calcmode="lin" valueType="num">
                                      <p:cBhvr>
                                        <p:cTn id="46" dur="500" accel="50000" fill="hold">
                                          <p:stCondLst>
                                            <p:cond delay="500"/>
                                          </p:stCondLst>
                                        </p:cTn>
                                        <p:tgtEl>
                                          <p:spTgt spid="232461"/>
                                        </p:tgtEl>
                                        <p:attrNameLst>
                                          <p:attrName>ppt_w</p:attrName>
                                        </p:attrNameLst>
                                      </p:cBhvr>
                                      <p:tavLst>
                                        <p:tav tm="0">
                                          <p:val>
                                            <p:strVal val="#ppt_w*.05"/>
                                          </p:val>
                                        </p:tav>
                                        <p:tav tm="100000">
                                          <p:val>
                                            <p:strVal val="#ppt_w"/>
                                          </p:val>
                                        </p:tav>
                                      </p:tavLst>
                                    </p:anim>
                                    <p:anim calcmode="lin" valueType="num">
                                      <p:cBhvr>
                                        <p:cTn id="47" dur="1000" fill="hold"/>
                                        <p:tgtEl>
                                          <p:spTgt spid="232461"/>
                                        </p:tgtEl>
                                        <p:attrNameLst>
                                          <p:attrName>ppt_h</p:attrName>
                                        </p:attrNameLst>
                                      </p:cBhvr>
                                      <p:tavLst>
                                        <p:tav tm="0">
                                          <p:val>
                                            <p:strVal val="#ppt_h"/>
                                          </p:val>
                                        </p:tav>
                                        <p:tav tm="100000">
                                          <p:val>
                                            <p:strVal val="#ppt_h"/>
                                          </p:val>
                                        </p:tav>
                                      </p:tavLst>
                                    </p:anim>
                                    <p:anim calcmode="lin" valueType="num">
                                      <p:cBhvr>
                                        <p:cTn id="48" dur="500" decel="50000" fill="hold">
                                          <p:stCondLst>
                                            <p:cond delay="0"/>
                                          </p:stCondLst>
                                        </p:cTn>
                                        <p:tgtEl>
                                          <p:spTgt spid="232461"/>
                                        </p:tgtEl>
                                        <p:attrNameLst>
                                          <p:attrName>ppt_x</p:attrName>
                                        </p:attrNameLst>
                                      </p:cBhvr>
                                      <p:tavLst>
                                        <p:tav tm="0">
                                          <p:val>
                                            <p:strVal val="#ppt_x+.4"/>
                                          </p:val>
                                        </p:tav>
                                        <p:tav tm="100000">
                                          <p:val>
                                            <p:strVal val="#ppt_x"/>
                                          </p:val>
                                        </p:tav>
                                      </p:tavLst>
                                    </p:anim>
                                    <p:anim calcmode="lin" valueType="num">
                                      <p:cBhvr>
                                        <p:cTn id="49" dur="500" decel="50000" fill="hold">
                                          <p:stCondLst>
                                            <p:cond delay="0"/>
                                          </p:stCondLst>
                                        </p:cTn>
                                        <p:tgtEl>
                                          <p:spTgt spid="232461"/>
                                        </p:tgtEl>
                                        <p:attrNameLst>
                                          <p:attrName>ppt_y</p:attrName>
                                        </p:attrNameLst>
                                      </p:cBhvr>
                                      <p:tavLst>
                                        <p:tav tm="0">
                                          <p:val>
                                            <p:strVal val="#ppt_y-.2"/>
                                          </p:val>
                                        </p:tav>
                                        <p:tav tm="100000">
                                          <p:val>
                                            <p:strVal val="#ppt_y+.1"/>
                                          </p:val>
                                        </p:tav>
                                      </p:tavLst>
                                    </p:anim>
                                    <p:anim calcmode="lin" valueType="num">
                                      <p:cBhvr>
                                        <p:cTn id="50" dur="500" accel="50000" fill="hold">
                                          <p:stCondLst>
                                            <p:cond delay="500"/>
                                          </p:stCondLst>
                                        </p:cTn>
                                        <p:tgtEl>
                                          <p:spTgt spid="232461"/>
                                        </p:tgtEl>
                                        <p:attrNameLst>
                                          <p:attrName>ppt_y</p:attrName>
                                        </p:attrNameLst>
                                      </p:cBhvr>
                                      <p:tavLst>
                                        <p:tav tm="0">
                                          <p:val>
                                            <p:strVal val="#ppt_y+.1"/>
                                          </p:val>
                                        </p:tav>
                                        <p:tav tm="100000">
                                          <p:val>
                                            <p:strVal val="#ppt_y"/>
                                          </p:val>
                                        </p:tav>
                                      </p:tavLst>
                                    </p:anim>
                                    <p:animEffect transition="in" filter="fade">
                                      <p:cBhvr>
                                        <p:cTn id="51" dur="1000" decel="50000">
                                          <p:stCondLst>
                                            <p:cond delay="0"/>
                                          </p:stCondLst>
                                        </p:cTn>
                                        <p:tgtEl>
                                          <p:spTgt spid="232461"/>
                                        </p:tgtEl>
                                      </p:cBhvr>
                                    </p:animEffect>
                                  </p:childTnLst>
                                  <p:subTnLst>
                                    <p:set>
                                      <p:cBhvr override="childStyle">
                                        <p:cTn dur="1" fill="hold" display="0" masterRel="nextClick" afterEffect="1"/>
                                        <p:tgtEl>
                                          <p:spTgt spid="232461"/>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232472"/>
                                        </p:tgtEl>
                                        <p:attrNameLst>
                                          <p:attrName>style.visibility</p:attrName>
                                        </p:attrNameLst>
                                      </p:cBhvr>
                                      <p:to>
                                        <p:strVal val="visible"/>
                                      </p:to>
                                    </p:set>
                                    <p:anim calcmode="lin" valueType="num">
                                      <p:cBhvr>
                                        <p:cTn id="56" dur="500" fill="hold"/>
                                        <p:tgtEl>
                                          <p:spTgt spid="232472"/>
                                        </p:tgtEl>
                                        <p:attrNameLst>
                                          <p:attrName>ppt_w</p:attrName>
                                        </p:attrNameLst>
                                      </p:cBhvr>
                                      <p:tavLst>
                                        <p:tav tm="0">
                                          <p:val>
                                            <p:fltVal val="0"/>
                                          </p:val>
                                        </p:tav>
                                        <p:tav tm="100000">
                                          <p:val>
                                            <p:strVal val="#ppt_w"/>
                                          </p:val>
                                        </p:tav>
                                      </p:tavLst>
                                    </p:anim>
                                    <p:anim calcmode="lin" valueType="num">
                                      <p:cBhvr>
                                        <p:cTn id="57" dur="500" fill="hold"/>
                                        <p:tgtEl>
                                          <p:spTgt spid="232472"/>
                                        </p:tgtEl>
                                        <p:attrNameLst>
                                          <p:attrName>ppt_h</p:attrName>
                                        </p:attrNameLst>
                                      </p:cBhvr>
                                      <p:tavLst>
                                        <p:tav tm="0">
                                          <p:val>
                                            <p:fltVal val="0"/>
                                          </p:val>
                                        </p:tav>
                                        <p:tav tm="100000">
                                          <p:val>
                                            <p:strVal val="#ppt_h"/>
                                          </p:val>
                                        </p:tav>
                                      </p:tavLst>
                                    </p:anim>
                                    <p:animEffect transition="in" filter="fade">
                                      <p:cBhvr>
                                        <p:cTn id="58" dur="500"/>
                                        <p:tgtEl>
                                          <p:spTgt spid="232472"/>
                                        </p:tgtEl>
                                      </p:cBhvr>
                                    </p:animEffect>
                                  </p:childTnLst>
                                  <p:subTnLst>
                                    <p:set>
                                      <p:cBhvr override="childStyle">
                                        <p:cTn dur="1" fill="hold" display="0" masterRel="nextClick" afterEffect="1"/>
                                        <p:tgtEl>
                                          <p:spTgt spid="232472"/>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232460"/>
                                        </p:tgtEl>
                                        <p:attrNameLst>
                                          <p:attrName>style.visibility</p:attrName>
                                        </p:attrNameLst>
                                      </p:cBhvr>
                                      <p:to>
                                        <p:strVal val="visible"/>
                                      </p:to>
                                    </p:set>
                                    <p:animEffect transition="in" filter="fade">
                                      <p:cBhvr>
                                        <p:cTn id="63" dur="1000"/>
                                        <p:tgtEl>
                                          <p:spTgt spid="232460"/>
                                        </p:tgtEl>
                                      </p:cBhvr>
                                    </p:animEffect>
                                    <p:anim calcmode="lin" valueType="num">
                                      <p:cBhvr>
                                        <p:cTn id="64" dur="1000" fill="hold"/>
                                        <p:tgtEl>
                                          <p:spTgt spid="232460"/>
                                        </p:tgtEl>
                                        <p:attrNameLst>
                                          <p:attrName>ppt_x</p:attrName>
                                        </p:attrNameLst>
                                      </p:cBhvr>
                                      <p:tavLst>
                                        <p:tav tm="0">
                                          <p:val>
                                            <p:strVal val="#ppt_x"/>
                                          </p:val>
                                        </p:tav>
                                        <p:tav tm="100000">
                                          <p:val>
                                            <p:strVal val="#ppt_x"/>
                                          </p:val>
                                        </p:tav>
                                      </p:tavLst>
                                    </p:anim>
                                    <p:anim calcmode="lin" valueType="num">
                                      <p:cBhvr>
                                        <p:cTn id="65" dur="900" decel="100000" fill="hold"/>
                                        <p:tgtEl>
                                          <p:spTgt spid="232460"/>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232460"/>
                                        </p:tgtEl>
                                        <p:attrNameLst>
                                          <p:attrName>ppt_y</p:attrName>
                                        </p:attrNameLst>
                                      </p:cBhvr>
                                      <p:tavLst>
                                        <p:tav tm="0">
                                          <p:val>
                                            <p:strVal val="#ppt_y-.03"/>
                                          </p:val>
                                        </p:tav>
                                        <p:tav tm="100000">
                                          <p:val>
                                            <p:strVal val="#ppt_y"/>
                                          </p:val>
                                        </p:tav>
                                      </p:tavLst>
                                    </p:anim>
                                  </p:childTnLst>
                                  <p:subTnLst>
                                    <p:set>
                                      <p:cBhvr override="childStyle">
                                        <p:cTn dur="1" fill="hold" display="0" masterRel="nextClick" afterEffect="1"/>
                                        <p:tgtEl>
                                          <p:spTgt spid="232460"/>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53" presetClass="entr" presetSubtype="0" fill="hold" grpId="0" nodeType="clickEffect">
                                  <p:stCondLst>
                                    <p:cond delay="0"/>
                                  </p:stCondLst>
                                  <p:childTnLst>
                                    <p:set>
                                      <p:cBhvr>
                                        <p:cTn id="70" dur="1" fill="hold">
                                          <p:stCondLst>
                                            <p:cond delay="0"/>
                                          </p:stCondLst>
                                        </p:cTn>
                                        <p:tgtEl>
                                          <p:spTgt spid="232473"/>
                                        </p:tgtEl>
                                        <p:attrNameLst>
                                          <p:attrName>style.visibility</p:attrName>
                                        </p:attrNameLst>
                                      </p:cBhvr>
                                      <p:to>
                                        <p:strVal val="visible"/>
                                      </p:to>
                                    </p:set>
                                    <p:anim calcmode="lin" valueType="num">
                                      <p:cBhvr>
                                        <p:cTn id="71" dur="500" fill="hold"/>
                                        <p:tgtEl>
                                          <p:spTgt spid="232473"/>
                                        </p:tgtEl>
                                        <p:attrNameLst>
                                          <p:attrName>ppt_w</p:attrName>
                                        </p:attrNameLst>
                                      </p:cBhvr>
                                      <p:tavLst>
                                        <p:tav tm="0">
                                          <p:val>
                                            <p:fltVal val="0"/>
                                          </p:val>
                                        </p:tav>
                                        <p:tav tm="100000">
                                          <p:val>
                                            <p:strVal val="#ppt_w"/>
                                          </p:val>
                                        </p:tav>
                                      </p:tavLst>
                                    </p:anim>
                                    <p:anim calcmode="lin" valueType="num">
                                      <p:cBhvr>
                                        <p:cTn id="72" dur="500" fill="hold"/>
                                        <p:tgtEl>
                                          <p:spTgt spid="232473"/>
                                        </p:tgtEl>
                                        <p:attrNameLst>
                                          <p:attrName>ppt_h</p:attrName>
                                        </p:attrNameLst>
                                      </p:cBhvr>
                                      <p:tavLst>
                                        <p:tav tm="0">
                                          <p:val>
                                            <p:fltVal val="0"/>
                                          </p:val>
                                        </p:tav>
                                        <p:tav tm="100000">
                                          <p:val>
                                            <p:strVal val="#ppt_h"/>
                                          </p:val>
                                        </p:tav>
                                      </p:tavLst>
                                    </p:anim>
                                    <p:animEffect transition="in" filter="fade">
                                      <p:cBhvr>
                                        <p:cTn id="73" dur="500"/>
                                        <p:tgtEl>
                                          <p:spTgt spid="232473"/>
                                        </p:tgtEl>
                                      </p:cBhvr>
                                    </p:animEffect>
                                  </p:childTnLst>
                                  <p:subTnLst>
                                    <p:set>
                                      <p:cBhvr override="childStyle">
                                        <p:cTn dur="1" fill="hold" display="0" masterRel="nextClick" afterEffect="1"/>
                                        <p:tgtEl>
                                          <p:spTgt spid="232473"/>
                                        </p:tgtEl>
                                        <p:attrNameLst>
                                          <p:attrName>style.visibility</p:attrName>
                                        </p:attrNameLst>
                                      </p:cBhvr>
                                      <p:to>
                                        <p:strVal val="hidden"/>
                                      </p:to>
                                    </p:set>
                                  </p:subTnLst>
                                </p:cTn>
                              </p:par>
                            </p:childTnLst>
                          </p:cTn>
                        </p:par>
                      </p:childTnLst>
                    </p:cTn>
                  </p:par>
                  <p:par>
                    <p:cTn id="74" fill="hold">
                      <p:stCondLst>
                        <p:cond delay="indefinite"/>
                      </p:stCondLst>
                      <p:childTnLst>
                        <p:par>
                          <p:cTn id="75" fill="hold">
                            <p:stCondLst>
                              <p:cond delay="0"/>
                            </p:stCondLst>
                            <p:childTnLst>
                              <p:par>
                                <p:cTn id="76" presetID="37" presetClass="entr" presetSubtype="0" fill="hold" grpId="0" nodeType="clickEffect">
                                  <p:stCondLst>
                                    <p:cond delay="0"/>
                                  </p:stCondLst>
                                  <p:childTnLst>
                                    <p:set>
                                      <p:cBhvr>
                                        <p:cTn id="77" dur="1" fill="hold">
                                          <p:stCondLst>
                                            <p:cond delay="0"/>
                                          </p:stCondLst>
                                        </p:cTn>
                                        <p:tgtEl>
                                          <p:spTgt spid="232462"/>
                                        </p:tgtEl>
                                        <p:attrNameLst>
                                          <p:attrName>style.visibility</p:attrName>
                                        </p:attrNameLst>
                                      </p:cBhvr>
                                      <p:to>
                                        <p:strVal val="visible"/>
                                      </p:to>
                                    </p:set>
                                    <p:animEffect transition="in" filter="fade">
                                      <p:cBhvr>
                                        <p:cTn id="78" dur="1000"/>
                                        <p:tgtEl>
                                          <p:spTgt spid="232462"/>
                                        </p:tgtEl>
                                      </p:cBhvr>
                                    </p:animEffect>
                                    <p:anim calcmode="lin" valueType="num">
                                      <p:cBhvr>
                                        <p:cTn id="79" dur="1000" fill="hold"/>
                                        <p:tgtEl>
                                          <p:spTgt spid="232462"/>
                                        </p:tgtEl>
                                        <p:attrNameLst>
                                          <p:attrName>ppt_x</p:attrName>
                                        </p:attrNameLst>
                                      </p:cBhvr>
                                      <p:tavLst>
                                        <p:tav tm="0">
                                          <p:val>
                                            <p:strVal val="#ppt_x"/>
                                          </p:val>
                                        </p:tav>
                                        <p:tav tm="100000">
                                          <p:val>
                                            <p:strVal val="#ppt_x"/>
                                          </p:val>
                                        </p:tav>
                                      </p:tavLst>
                                    </p:anim>
                                    <p:anim calcmode="lin" valueType="num">
                                      <p:cBhvr>
                                        <p:cTn id="80" dur="900" decel="100000" fill="hold"/>
                                        <p:tgtEl>
                                          <p:spTgt spid="232462"/>
                                        </p:tgtEl>
                                        <p:attrNameLst>
                                          <p:attrName>ppt_y</p:attrName>
                                        </p:attrNameLst>
                                      </p:cBhvr>
                                      <p:tavLst>
                                        <p:tav tm="0">
                                          <p:val>
                                            <p:strVal val="#ppt_y+1"/>
                                          </p:val>
                                        </p:tav>
                                        <p:tav tm="100000">
                                          <p:val>
                                            <p:strVal val="#ppt_y-.03"/>
                                          </p:val>
                                        </p:tav>
                                      </p:tavLst>
                                    </p:anim>
                                    <p:anim calcmode="lin" valueType="num">
                                      <p:cBhvr>
                                        <p:cTn id="81" dur="100" accel="100000" fill="hold">
                                          <p:stCondLst>
                                            <p:cond delay="900"/>
                                          </p:stCondLst>
                                        </p:cTn>
                                        <p:tgtEl>
                                          <p:spTgt spid="232462"/>
                                        </p:tgtEl>
                                        <p:attrNameLst>
                                          <p:attrName>ppt_y</p:attrName>
                                        </p:attrNameLst>
                                      </p:cBhvr>
                                      <p:tavLst>
                                        <p:tav tm="0">
                                          <p:val>
                                            <p:strVal val="#ppt_y-.03"/>
                                          </p:val>
                                        </p:tav>
                                        <p:tav tm="100000">
                                          <p:val>
                                            <p:strVal val="#ppt_y"/>
                                          </p:val>
                                        </p:tav>
                                      </p:tavLst>
                                    </p:anim>
                                  </p:childTnLst>
                                  <p:subTnLst>
                                    <p:set>
                                      <p:cBhvr override="childStyle">
                                        <p:cTn dur="1" fill="hold" display="0" masterRel="nextClick" afterEffect="1"/>
                                        <p:tgtEl>
                                          <p:spTgt spid="232462"/>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53" presetClass="entr" presetSubtype="0" fill="hold" grpId="0" nodeType="clickEffect">
                                  <p:stCondLst>
                                    <p:cond delay="0"/>
                                  </p:stCondLst>
                                  <p:childTnLst>
                                    <p:set>
                                      <p:cBhvr>
                                        <p:cTn id="85" dur="1" fill="hold">
                                          <p:stCondLst>
                                            <p:cond delay="0"/>
                                          </p:stCondLst>
                                        </p:cTn>
                                        <p:tgtEl>
                                          <p:spTgt spid="232474"/>
                                        </p:tgtEl>
                                        <p:attrNameLst>
                                          <p:attrName>style.visibility</p:attrName>
                                        </p:attrNameLst>
                                      </p:cBhvr>
                                      <p:to>
                                        <p:strVal val="visible"/>
                                      </p:to>
                                    </p:set>
                                    <p:anim calcmode="lin" valueType="num">
                                      <p:cBhvr>
                                        <p:cTn id="86" dur="500" fill="hold"/>
                                        <p:tgtEl>
                                          <p:spTgt spid="232474"/>
                                        </p:tgtEl>
                                        <p:attrNameLst>
                                          <p:attrName>ppt_w</p:attrName>
                                        </p:attrNameLst>
                                      </p:cBhvr>
                                      <p:tavLst>
                                        <p:tav tm="0">
                                          <p:val>
                                            <p:fltVal val="0"/>
                                          </p:val>
                                        </p:tav>
                                        <p:tav tm="100000">
                                          <p:val>
                                            <p:strVal val="#ppt_w"/>
                                          </p:val>
                                        </p:tav>
                                      </p:tavLst>
                                    </p:anim>
                                    <p:anim calcmode="lin" valueType="num">
                                      <p:cBhvr>
                                        <p:cTn id="87" dur="500" fill="hold"/>
                                        <p:tgtEl>
                                          <p:spTgt spid="232474"/>
                                        </p:tgtEl>
                                        <p:attrNameLst>
                                          <p:attrName>ppt_h</p:attrName>
                                        </p:attrNameLst>
                                      </p:cBhvr>
                                      <p:tavLst>
                                        <p:tav tm="0">
                                          <p:val>
                                            <p:fltVal val="0"/>
                                          </p:val>
                                        </p:tav>
                                        <p:tav tm="100000">
                                          <p:val>
                                            <p:strVal val="#ppt_h"/>
                                          </p:val>
                                        </p:tav>
                                      </p:tavLst>
                                    </p:anim>
                                    <p:animEffect transition="in" filter="fade">
                                      <p:cBhvr>
                                        <p:cTn id="88" dur="500"/>
                                        <p:tgtEl>
                                          <p:spTgt spid="232474"/>
                                        </p:tgtEl>
                                      </p:cBhvr>
                                    </p:animEffect>
                                  </p:childTnLst>
                                  <p:subTnLst>
                                    <p:set>
                                      <p:cBhvr override="childStyle">
                                        <p:cTn dur="1" fill="hold" display="0" masterRel="nextClick" afterEffect="1"/>
                                        <p:tgtEl>
                                          <p:spTgt spid="232474"/>
                                        </p:tgtEl>
                                        <p:attrNameLst>
                                          <p:attrName>style.visibility</p:attrName>
                                        </p:attrNameLst>
                                      </p:cBhvr>
                                      <p:to>
                                        <p:strVal val="hidden"/>
                                      </p:to>
                                    </p:set>
                                  </p:subTnLst>
                                </p:cTn>
                              </p:par>
                            </p:childTnLst>
                          </p:cTn>
                        </p:par>
                      </p:childTnLst>
                    </p:cTn>
                  </p:par>
                  <p:par>
                    <p:cTn id="89" fill="hold">
                      <p:stCondLst>
                        <p:cond delay="indefinite"/>
                      </p:stCondLst>
                      <p:childTnLst>
                        <p:par>
                          <p:cTn id="90" fill="hold">
                            <p:stCondLst>
                              <p:cond delay="0"/>
                            </p:stCondLst>
                            <p:childTnLst>
                              <p:par>
                                <p:cTn id="91" presetID="2" presetClass="entr" presetSubtype="1" fill="hold" grpId="0" nodeType="clickEffect">
                                  <p:stCondLst>
                                    <p:cond delay="0"/>
                                  </p:stCondLst>
                                  <p:childTnLst>
                                    <p:set>
                                      <p:cBhvr>
                                        <p:cTn id="92" dur="1" fill="hold">
                                          <p:stCondLst>
                                            <p:cond delay="0"/>
                                          </p:stCondLst>
                                        </p:cTn>
                                        <p:tgtEl>
                                          <p:spTgt spid="232463"/>
                                        </p:tgtEl>
                                        <p:attrNameLst>
                                          <p:attrName>style.visibility</p:attrName>
                                        </p:attrNameLst>
                                      </p:cBhvr>
                                      <p:to>
                                        <p:strVal val="visible"/>
                                      </p:to>
                                    </p:set>
                                    <p:anim calcmode="lin" valueType="num">
                                      <p:cBhvr additive="base">
                                        <p:cTn id="93" dur="500" fill="hold"/>
                                        <p:tgtEl>
                                          <p:spTgt spid="232463"/>
                                        </p:tgtEl>
                                        <p:attrNameLst>
                                          <p:attrName>ppt_x</p:attrName>
                                        </p:attrNameLst>
                                      </p:cBhvr>
                                      <p:tavLst>
                                        <p:tav tm="0">
                                          <p:val>
                                            <p:strVal val="#ppt_x"/>
                                          </p:val>
                                        </p:tav>
                                        <p:tav tm="100000">
                                          <p:val>
                                            <p:strVal val="#ppt_x"/>
                                          </p:val>
                                        </p:tav>
                                      </p:tavLst>
                                    </p:anim>
                                    <p:anim calcmode="lin" valueType="num">
                                      <p:cBhvr additive="base">
                                        <p:cTn id="94" dur="500" fill="hold"/>
                                        <p:tgtEl>
                                          <p:spTgt spid="232463"/>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232463"/>
                                        </p:tgtEl>
                                        <p:attrNameLst>
                                          <p:attrName>style.visibility</p:attrName>
                                        </p:attrNameLst>
                                      </p:cBhvr>
                                      <p:to>
                                        <p:strVal val="hidden"/>
                                      </p:to>
                                    </p:set>
                                  </p:subTnLst>
                                </p:cTn>
                              </p:par>
                            </p:childTnLst>
                          </p:cTn>
                        </p:par>
                      </p:childTnLst>
                    </p:cTn>
                  </p:par>
                  <p:par>
                    <p:cTn id="95" fill="hold">
                      <p:stCondLst>
                        <p:cond delay="indefinite"/>
                      </p:stCondLst>
                      <p:childTnLst>
                        <p:par>
                          <p:cTn id="96" fill="hold">
                            <p:stCondLst>
                              <p:cond delay="0"/>
                            </p:stCondLst>
                            <p:childTnLst>
                              <p:par>
                                <p:cTn id="97" presetID="53" presetClass="entr" presetSubtype="0" fill="hold" grpId="0" nodeType="clickEffect">
                                  <p:stCondLst>
                                    <p:cond delay="0"/>
                                  </p:stCondLst>
                                  <p:childTnLst>
                                    <p:set>
                                      <p:cBhvr>
                                        <p:cTn id="98" dur="1" fill="hold">
                                          <p:stCondLst>
                                            <p:cond delay="0"/>
                                          </p:stCondLst>
                                        </p:cTn>
                                        <p:tgtEl>
                                          <p:spTgt spid="232475"/>
                                        </p:tgtEl>
                                        <p:attrNameLst>
                                          <p:attrName>style.visibility</p:attrName>
                                        </p:attrNameLst>
                                      </p:cBhvr>
                                      <p:to>
                                        <p:strVal val="visible"/>
                                      </p:to>
                                    </p:set>
                                    <p:anim calcmode="lin" valueType="num">
                                      <p:cBhvr>
                                        <p:cTn id="99" dur="500" fill="hold"/>
                                        <p:tgtEl>
                                          <p:spTgt spid="232475"/>
                                        </p:tgtEl>
                                        <p:attrNameLst>
                                          <p:attrName>ppt_w</p:attrName>
                                        </p:attrNameLst>
                                      </p:cBhvr>
                                      <p:tavLst>
                                        <p:tav tm="0">
                                          <p:val>
                                            <p:fltVal val="0"/>
                                          </p:val>
                                        </p:tav>
                                        <p:tav tm="100000">
                                          <p:val>
                                            <p:strVal val="#ppt_w"/>
                                          </p:val>
                                        </p:tav>
                                      </p:tavLst>
                                    </p:anim>
                                    <p:anim calcmode="lin" valueType="num">
                                      <p:cBhvr>
                                        <p:cTn id="100" dur="500" fill="hold"/>
                                        <p:tgtEl>
                                          <p:spTgt spid="232475"/>
                                        </p:tgtEl>
                                        <p:attrNameLst>
                                          <p:attrName>ppt_h</p:attrName>
                                        </p:attrNameLst>
                                      </p:cBhvr>
                                      <p:tavLst>
                                        <p:tav tm="0">
                                          <p:val>
                                            <p:fltVal val="0"/>
                                          </p:val>
                                        </p:tav>
                                        <p:tav tm="100000">
                                          <p:val>
                                            <p:strVal val="#ppt_h"/>
                                          </p:val>
                                        </p:tav>
                                      </p:tavLst>
                                    </p:anim>
                                    <p:animEffect transition="in" filter="fade">
                                      <p:cBhvr>
                                        <p:cTn id="101" dur="500"/>
                                        <p:tgtEl>
                                          <p:spTgt spid="232475"/>
                                        </p:tgtEl>
                                      </p:cBhvr>
                                    </p:animEffect>
                                  </p:childTnLst>
                                  <p:subTnLst>
                                    <p:set>
                                      <p:cBhvr override="childStyle">
                                        <p:cTn dur="1" fill="hold" display="0" masterRel="nextClick" afterEffect="1"/>
                                        <p:tgtEl>
                                          <p:spTgt spid="232475"/>
                                        </p:tgtEl>
                                        <p:attrNameLst>
                                          <p:attrName>style.visibility</p:attrName>
                                        </p:attrNameLst>
                                      </p:cBhvr>
                                      <p:to>
                                        <p:strVal val="hidden"/>
                                      </p:to>
                                    </p:set>
                                  </p:subTnLst>
                                </p:cTn>
                              </p:par>
                            </p:childTnLst>
                          </p:cTn>
                        </p:par>
                      </p:childTnLst>
                    </p:cTn>
                  </p:par>
                  <p:par>
                    <p:cTn id="102" fill="hold">
                      <p:stCondLst>
                        <p:cond delay="indefinite"/>
                      </p:stCondLst>
                      <p:childTnLst>
                        <p:par>
                          <p:cTn id="103" fill="hold">
                            <p:stCondLst>
                              <p:cond delay="0"/>
                            </p:stCondLst>
                            <p:childTnLst>
                              <p:par>
                                <p:cTn id="104" presetID="2" presetClass="entr" presetSubtype="1" fill="hold" grpId="0" nodeType="clickEffect">
                                  <p:stCondLst>
                                    <p:cond delay="0"/>
                                  </p:stCondLst>
                                  <p:childTnLst>
                                    <p:set>
                                      <p:cBhvr>
                                        <p:cTn id="105" dur="1" fill="hold">
                                          <p:stCondLst>
                                            <p:cond delay="0"/>
                                          </p:stCondLst>
                                        </p:cTn>
                                        <p:tgtEl>
                                          <p:spTgt spid="232464"/>
                                        </p:tgtEl>
                                        <p:attrNameLst>
                                          <p:attrName>style.visibility</p:attrName>
                                        </p:attrNameLst>
                                      </p:cBhvr>
                                      <p:to>
                                        <p:strVal val="visible"/>
                                      </p:to>
                                    </p:set>
                                    <p:anim calcmode="lin" valueType="num">
                                      <p:cBhvr additive="base">
                                        <p:cTn id="106" dur="500" fill="hold"/>
                                        <p:tgtEl>
                                          <p:spTgt spid="232464"/>
                                        </p:tgtEl>
                                        <p:attrNameLst>
                                          <p:attrName>ppt_x</p:attrName>
                                        </p:attrNameLst>
                                      </p:cBhvr>
                                      <p:tavLst>
                                        <p:tav tm="0">
                                          <p:val>
                                            <p:strVal val="#ppt_x"/>
                                          </p:val>
                                        </p:tav>
                                        <p:tav tm="100000">
                                          <p:val>
                                            <p:strVal val="#ppt_x"/>
                                          </p:val>
                                        </p:tav>
                                      </p:tavLst>
                                    </p:anim>
                                    <p:anim calcmode="lin" valueType="num">
                                      <p:cBhvr additive="base">
                                        <p:cTn id="107" dur="500" fill="hold"/>
                                        <p:tgtEl>
                                          <p:spTgt spid="232464"/>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232464"/>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53" presetClass="entr" presetSubtype="0" fill="hold" grpId="0" nodeType="clickEffect">
                                  <p:stCondLst>
                                    <p:cond delay="0"/>
                                  </p:stCondLst>
                                  <p:childTnLst>
                                    <p:set>
                                      <p:cBhvr>
                                        <p:cTn id="111" dur="1" fill="hold">
                                          <p:stCondLst>
                                            <p:cond delay="0"/>
                                          </p:stCondLst>
                                        </p:cTn>
                                        <p:tgtEl>
                                          <p:spTgt spid="232476"/>
                                        </p:tgtEl>
                                        <p:attrNameLst>
                                          <p:attrName>style.visibility</p:attrName>
                                        </p:attrNameLst>
                                      </p:cBhvr>
                                      <p:to>
                                        <p:strVal val="visible"/>
                                      </p:to>
                                    </p:set>
                                    <p:anim calcmode="lin" valueType="num">
                                      <p:cBhvr>
                                        <p:cTn id="112" dur="500" fill="hold"/>
                                        <p:tgtEl>
                                          <p:spTgt spid="232476"/>
                                        </p:tgtEl>
                                        <p:attrNameLst>
                                          <p:attrName>ppt_w</p:attrName>
                                        </p:attrNameLst>
                                      </p:cBhvr>
                                      <p:tavLst>
                                        <p:tav tm="0">
                                          <p:val>
                                            <p:fltVal val="0"/>
                                          </p:val>
                                        </p:tav>
                                        <p:tav tm="100000">
                                          <p:val>
                                            <p:strVal val="#ppt_w"/>
                                          </p:val>
                                        </p:tav>
                                      </p:tavLst>
                                    </p:anim>
                                    <p:anim calcmode="lin" valueType="num">
                                      <p:cBhvr>
                                        <p:cTn id="113" dur="500" fill="hold"/>
                                        <p:tgtEl>
                                          <p:spTgt spid="232476"/>
                                        </p:tgtEl>
                                        <p:attrNameLst>
                                          <p:attrName>ppt_h</p:attrName>
                                        </p:attrNameLst>
                                      </p:cBhvr>
                                      <p:tavLst>
                                        <p:tav tm="0">
                                          <p:val>
                                            <p:fltVal val="0"/>
                                          </p:val>
                                        </p:tav>
                                        <p:tav tm="100000">
                                          <p:val>
                                            <p:strVal val="#ppt_h"/>
                                          </p:val>
                                        </p:tav>
                                      </p:tavLst>
                                    </p:anim>
                                    <p:animEffect transition="in" filter="fade">
                                      <p:cBhvr>
                                        <p:cTn id="114" dur="500"/>
                                        <p:tgtEl>
                                          <p:spTgt spid="232476"/>
                                        </p:tgtEl>
                                      </p:cBhvr>
                                    </p:animEffect>
                                  </p:childTnLst>
                                  <p:subTnLst>
                                    <p:set>
                                      <p:cBhvr override="childStyle">
                                        <p:cTn dur="1" fill="hold" display="0" masterRel="nextClick" afterEffect="1"/>
                                        <p:tgtEl>
                                          <p:spTgt spid="232476"/>
                                        </p:tgtEl>
                                        <p:attrNameLst>
                                          <p:attrName>style.visibility</p:attrName>
                                        </p:attrNameLst>
                                      </p:cBhvr>
                                      <p:to>
                                        <p:strVal val="hidden"/>
                                      </p:to>
                                    </p:set>
                                  </p:subTnLst>
                                </p:cTn>
                              </p:par>
                            </p:childTnLst>
                          </p:cTn>
                        </p:par>
                      </p:childTnLst>
                    </p:cTn>
                  </p:par>
                  <p:par>
                    <p:cTn id="115" fill="hold">
                      <p:stCondLst>
                        <p:cond delay="indefinite"/>
                      </p:stCondLst>
                      <p:childTnLst>
                        <p:par>
                          <p:cTn id="116" fill="hold">
                            <p:stCondLst>
                              <p:cond delay="0"/>
                            </p:stCondLst>
                            <p:childTnLst>
                              <p:par>
                                <p:cTn id="117" presetID="2" presetClass="entr" presetSubtype="1" fill="hold" grpId="0" nodeType="clickEffect">
                                  <p:stCondLst>
                                    <p:cond delay="0"/>
                                  </p:stCondLst>
                                  <p:childTnLst>
                                    <p:set>
                                      <p:cBhvr>
                                        <p:cTn id="118" dur="1" fill="hold">
                                          <p:stCondLst>
                                            <p:cond delay="0"/>
                                          </p:stCondLst>
                                        </p:cTn>
                                        <p:tgtEl>
                                          <p:spTgt spid="232465"/>
                                        </p:tgtEl>
                                        <p:attrNameLst>
                                          <p:attrName>style.visibility</p:attrName>
                                        </p:attrNameLst>
                                      </p:cBhvr>
                                      <p:to>
                                        <p:strVal val="visible"/>
                                      </p:to>
                                    </p:set>
                                    <p:anim calcmode="lin" valueType="num">
                                      <p:cBhvr additive="base">
                                        <p:cTn id="119" dur="500" fill="hold"/>
                                        <p:tgtEl>
                                          <p:spTgt spid="232465"/>
                                        </p:tgtEl>
                                        <p:attrNameLst>
                                          <p:attrName>ppt_x</p:attrName>
                                        </p:attrNameLst>
                                      </p:cBhvr>
                                      <p:tavLst>
                                        <p:tav tm="0">
                                          <p:val>
                                            <p:strVal val="#ppt_x"/>
                                          </p:val>
                                        </p:tav>
                                        <p:tav tm="100000">
                                          <p:val>
                                            <p:strVal val="#ppt_x"/>
                                          </p:val>
                                        </p:tav>
                                      </p:tavLst>
                                    </p:anim>
                                    <p:anim calcmode="lin" valueType="num">
                                      <p:cBhvr additive="base">
                                        <p:cTn id="120" dur="500" fill="hold"/>
                                        <p:tgtEl>
                                          <p:spTgt spid="232465"/>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23246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9" grpId="0" animBg="1"/>
      <p:bldP spid="232460" grpId="0" animBg="1"/>
      <p:bldP spid="232461" grpId="0" animBg="1"/>
      <p:bldP spid="232462" grpId="0" animBg="1"/>
      <p:bldP spid="232463" grpId="0" animBg="1"/>
      <p:bldP spid="232464" grpId="0" animBg="1"/>
      <p:bldP spid="232465" grpId="0" animBg="1"/>
      <p:bldP spid="232466" grpId="0" animBg="1"/>
      <p:bldP spid="232467" grpId="0" animBg="1"/>
      <p:bldP spid="232468" grpId="0" animBg="1"/>
      <p:bldP spid="232469" grpId="0" animBg="1"/>
      <p:bldP spid="232470" grpId="0" animBg="1"/>
      <p:bldP spid="232471" grpId="0" animBg="1"/>
      <p:bldP spid="232472" grpId="0" animBg="1"/>
      <p:bldP spid="232473" grpId="0" animBg="1"/>
      <p:bldP spid="232474" grpId="0" animBg="1"/>
      <p:bldP spid="232475" grpId="0" animBg="1"/>
      <p:bldP spid="232476"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53601" name="Рисунок 4" descr="2012"/>
          <p:cNvPicPr>
            <a:picLocks noChangeAspect="1" noChangeArrowheads="1"/>
          </p:cNvPicPr>
          <p:nvPr/>
        </p:nvPicPr>
        <p:blipFill>
          <a:blip r:embed="rId3"/>
          <a:srcRect/>
          <a:stretch>
            <a:fillRect/>
          </a:stretch>
        </p:blipFill>
        <p:spPr bwMode="auto">
          <a:xfrm>
            <a:off x="5003800" y="3429000"/>
            <a:ext cx="4140200" cy="3429000"/>
          </a:xfrm>
          <a:prstGeom prst="rect">
            <a:avLst/>
          </a:prstGeom>
          <a:noFill/>
          <a:ln w="9525">
            <a:noFill/>
            <a:miter lim="800000"/>
            <a:headEnd/>
            <a:tailEnd/>
          </a:ln>
        </p:spPr>
      </p:pic>
      <p:sp>
        <p:nvSpPr>
          <p:cNvPr id="7" name="Rectangle 4"/>
          <p:cNvSpPr>
            <a:spLocks noChangeArrowheads="1"/>
          </p:cNvSpPr>
          <p:nvPr/>
        </p:nvSpPr>
        <p:spPr bwMode="auto">
          <a:xfrm>
            <a:off x="395288" y="478302"/>
            <a:ext cx="6985000" cy="4781550"/>
          </a:xfrm>
          <a:prstGeom prst="rect">
            <a:avLst/>
          </a:prstGeom>
          <a:noFill/>
          <a:ln w="9525">
            <a:noFill/>
            <a:miter lim="800000"/>
            <a:headEnd/>
            <a:tailEnd/>
          </a:ln>
        </p:spPr>
        <p:txBody>
          <a:bodyPr/>
          <a:lstStyle/>
          <a:p>
            <a:pPr marL="342900" indent="-342900" algn="ctr">
              <a:lnSpc>
                <a:spcPct val="80000"/>
              </a:lnSpc>
              <a:spcBef>
                <a:spcPct val="20000"/>
              </a:spcBef>
              <a:buClr>
                <a:schemeClr val="hlink"/>
              </a:buClr>
              <a:buFontTx/>
              <a:buChar char="•"/>
              <a:defRPr/>
            </a:pPr>
            <a:endParaRPr lang="ru-RU" sz="1800" b="1" dirty="0">
              <a:latin typeface="Arial" pitchFamily="34" charset="0"/>
              <a:cs typeface="Arial" pitchFamily="34" charset="0"/>
            </a:endParaRPr>
          </a:p>
          <a:p>
            <a:pPr algn="ctr">
              <a:defRPr/>
            </a:pPr>
            <a:r>
              <a:rPr lang="ru-RU" sz="2400" b="1" dirty="0">
                <a:latin typeface="Arial" pitchFamily="34" charset="0"/>
                <a:cs typeface="Arial" pitchFamily="34" charset="0"/>
              </a:rPr>
              <a:t>Постановление Исполкома ФНПР от 26 сентября 2007 г. № 4-6 </a:t>
            </a:r>
          </a:p>
          <a:p>
            <a:pPr algn="ctr">
              <a:defRPr/>
            </a:pPr>
            <a:r>
              <a:rPr lang="ru-RU" sz="2400" b="1" dirty="0">
                <a:latin typeface="Arial" pitchFamily="34" charset="0"/>
                <a:cs typeface="Arial" pitchFamily="34" charset="0"/>
              </a:rPr>
              <a:t>«О Методических рекомендациях по организации наблюдения (контроля) за состоянием условий и охраны труда на рабочих местах уполномоченными (доверенными) лицами профессиональных союзов»</a:t>
            </a:r>
            <a:endParaRPr lang="ru-RU" sz="2400" b="1" dirty="0">
              <a:solidFill>
                <a:schemeClr val="tx1"/>
              </a:solidFill>
              <a:latin typeface="Arial" pitchFamily="34" charset="0"/>
              <a:cs typeface="Arial"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33"/>
          <p:cNvSpPr>
            <a:spLocks noChangeArrowheads="1"/>
          </p:cNvSpPr>
          <p:nvPr/>
        </p:nvSpPr>
        <p:spPr bwMode="auto">
          <a:xfrm>
            <a:off x="139700" y="3103563"/>
            <a:ext cx="5873750" cy="3230562"/>
          </a:xfrm>
          <a:prstGeom prst="rect">
            <a:avLst/>
          </a:prstGeom>
          <a:noFill/>
          <a:ln w="9525">
            <a:noFill/>
            <a:miter lim="800000"/>
            <a:headEnd/>
            <a:tailEnd/>
          </a:ln>
        </p:spPr>
        <p:txBody>
          <a:bodyPr anchor="ctr">
            <a:spAutoFit/>
          </a:bodyPr>
          <a:lstStyle/>
          <a:p>
            <a:pPr algn="ctr"/>
            <a:endParaRPr lang="ru-RU" sz="2400" b="1">
              <a:latin typeface="Arial" charset="0"/>
            </a:endParaRPr>
          </a:p>
          <a:p>
            <a:pPr algn="ctr"/>
            <a:r>
              <a:rPr lang="ru-RU" sz="2000">
                <a:latin typeface="Arial" charset="0"/>
              </a:rPr>
              <a:t>Подверженность от 0 = никогда до 10 = постоянная подверженность. </a:t>
            </a:r>
          </a:p>
          <a:p>
            <a:pPr algn="ctr"/>
            <a:r>
              <a:rPr lang="ru-RU" sz="2000">
                <a:latin typeface="Arial" charset="0"/>
              </a:rPr>
              <a:t>Вероятность от 0 = абсолютно невозможно до 10 = это случится. </a:t>
            </a:r>
          </a:p>
          <a:p>
            <a:pPr algn="ctr"/>
            <a:r>
              <a:rPr lang="ru-RU" sz="2000">
                <a:latin typeface="Arial" charset="0"/>
              </a:rPr>
              <a:t>Последствия от 1 = минимальные (повреждение) до 100 = катастрофа.</a:t>
            </a:r>
          </a:p>
          <a:p>
            <a:pPr algn="ctr"/>
            <a:r>
              <a:rPr lang="ru-RU" sz="2000">
                <a:latin typeface="Arial" charset="0"/>
              </a:rPr>
              <a:t>R = 0 – 20 небольшой риск, возможно приемлемый</a:t>
            </a:r>
          </a:p>
          <a:p>
            <a:pPr algn="ctr"/>
            <a:r>
              <a:rPr lang="ru-RU" sz="2000">
                <a:latin typeface="Arial" charset="0"/>
              </a:rPr>
              <a:t>R = &gt; 400 очень высокий риск, немедленное прекращение деятельности </a:t>
            </a:r>
          </a:p>
        </p:txBody>
      </p:sp>
      <p:sp>
        <p:nvSpPr>
          <p:cNvPr id="6" name="Rectangle 2"/>
          <p:cNvSpPr>
            <a:spLocks noChangeArrowheads="1"/>
          </p:cNvSpPr>
          <p:nvPr/>
        </p:nvSpPr>
        <p:spPr bwMode="auto">
          <a:xfrm>
            <a:off x="684213" y="193675"/>
            <a:ext cx="8135937" cy="619125"/>
          </a:xfrm>
          <a:prstGeom prst="rect">
            <a:avLst/>
          </a:prstGeom>
          <a:noFill/>
          <a:ln w="9525">
            <a:noFill/>
            <a:miter lim="800000"/>
            <a:headEnd/>
            <a:tailEnd/>
          </a:ln>
        </p:spPr>
        <p:txBody>
          <a:bodyPr lIns="0" rIns="0" bIns="0" anchor="b"/>
          <a:lstStyle/>
          <a:p>
            <a:pPr algn="ctr">
              <a:defRPr/>
            </a:pPr>
            <a:r>
              <a:rPr lang="ru-RU" sz="2800" b="1" dirty="0">
                <a:effectLst>
                  <a:outerShdw blurRad="38100" dist="38100" dir="2700000" algn="tl">
                    <a:srgbClr val="000000">
                      <a:alpha val="43137"/>
                    </a:srgbClr>
                  </a:outerShdw>
                </a:effectLst>
                <a:latin typeface="Arial" pitchFamily="34" charset="0"/>
                <a:cs typeface="Arial" pitchFamily="34" charset="0"/>
              </a:rPr>
              <a:t>Примеры статистической оценки риска</a:t>
            </a:r>
          </a:p>
        </p:txBody>
      </p:sp>
      <p:sp>
        <p:nvSpPr>
          <p:cNvPr id="8" name="Выноска со стрелкой вниз 7"/>
          <p:cNvSpPr/>
          <p:nvPr/>
        </p:nvSpPr>
        <p:spPr>
          <a:xfrm>
            <a:off x="1550988" y="1255713"/>
            <a:ext cx="4849812" cy="1431925"/>
          </a:xfrm>
          <a:prstGeom prst="downArrowCallou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3200" b="1" dirty="0">
                <a:solidFill>
                  <a:srgbClr val="002060"/>
                </a:solidFill>
              </a:rPr>
              <a:t>Метод </a:t>
            </a:r>
            <a:r>
              <a:rPr lang="ru-RU" sz="3200" b="1" dirty="0" err="1">
                <a:solidFill>
                  <a:srgbClr val="002060"/>
                </a:solidFill>
              </a:rPr>
              <a:t>Файн-Кинни</a:t>
            </a:r>
            <a:endParaRPr lang="ru-RU" sz="3200" b="1" dirty="0">
              <a:solidFill>
                <a:srgbClr val="002060"/>
              </a:solidFill>
            </a:endParaRPr>
          </a:p>
        </p:txBody>
      </p:sp>
      <p:pic>
        <p:nvPicPr>
          <p:cNvPr id="155652" name="Picture 4" descr="http://ganetsinai.com/wp-content/uploads/2013/09/1.jpg"/>
          <p:cNvPicPr>
            <a:picLocks noChangeAspect="1" noChangeArrowheads="1"/>
          </p:cNvPicPr>
          <p:nvPr/>
        </p:nvPicPr>
        <p:blipFill>
          <a:blip r:embed="rId3"/>
          <a:srcRect/>
          <a:stretch>
            <a:fillRect/>
          </a:stretch>
        </p:blipFill>
        <p:spPr bwMode="auto">
          <a:xfrm>
            <a:off x="5916613" y="4857750"/>
            <a:ext cx="3227387" cy="2000250"/>
          </a:xfrm>
          <a:prstGeom prst="rect">
            <a:avLst/>
          </a:prstGeom>
          <a:noFill/>
          <a:ln w="9525">
            <a:noFill/>
            <a:miter lim="800000"/>
            <a:headEnd/>
            <a:tailEnd/>
          </a:ln>
        </p:spPr>
      </p:pic>
      <p:sp>
        <p:nvSpPr>
          <p:cNvPr id="10" name="Прямоугольник 9"/>
          <p:cNvSpPr>
            <a:spLocks noChangeArrowheads="1"/>
          </p:cNvSpPr>
          <p:nvPr/>
        </p:nvSpPr>
        <p:spPr bwMode="auto">
          <a:xfrm>
            <a:off x="401638" y="2687638"/>
            <a:ext cx="8418512" cy="461962"/>
          </a:xfrm>
          <a:prstGeom prst="rect">
            <a:avLst/>
          </a:prstGeom>
          <a:noFill/>
          <a:ln w="9525">
            <a:noFill/>
            <a:miter lim="800000"/>
            <a:headEnd/>
            <a:tailEnd/>
          </a:ln>
        </p:spPr>
        <p:txBody>
          <a:bodyPr>
            <a:spAutoFit/>
          </a:bodyPr>
          <a:lstStyle/>
          <a:p>
            <a:pPr algn="ctr"/>
            <a:r>
              <a:rPr lang="ru-RU" sz="2400" b="1">
                <a:latin typeface="Arial" charset="0"/>
              </a:rPr>
              <a:t>R = Подверженность x Вероятность x Последствия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
                                            <p:bg/>
                                          </p:spTgt>
                                        </p:tgtEl>
                                        <p:attrNameLst>
                                          <p:attrName>style.visibility</p:attrName>
                                        </p:attrNameLst>
                                      </p:cBhvr>
                                      <p:to>
                                        <p:strVal val="visible"/>
                                      </p:to>
                                    </p:set>
                                    <p:anim calcmode="lin" valueType="num">
                                      <p:cBhvr additive="base">
                                        <p:cTn id="14" dur="500" fill="hold"/>
                                        <p:tgtEl>
                                          <p:spTgt spid="8">
                                            <p:bg/>
                                          </p:spTgt>
                                        </p:tgtEl>
                                        <p:attrNameLst>
                                          <p:attrName>ppt_x</p:attrName>
                                        </p:attrNameLst>
                                      </p:cBhvr>
                                      <p:tavLst>
                                        <p:tav tm="0">
                                          <p:val>
                                            <p:strVal val="#ppt_x"/>
                                          </p:val>
                                        </p:tav>
                                        <p:tav tm="100000">
                                          <p:val>
                                            <p:strVal val="#ppt_x"/>
                                          </p:val>
                                        </p:tav>
                                      </p:tavLst>
                                    </p:anim>
                                    <p:anim calcmode="lin" valueType="num">
                                      <p:cBhvr additive="base">
                                        <p:cTn id="15" dur="500" fill="hold"/>
                                        <p:tgtEl>
                                          <p:spTgt spid="8">
                                            <p:bg/>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 calcmode="lin" valueType="num">
                                      <p:cBhvr additive="base">
                                        <p:cTn id="20"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 calcmode="lin" valueType="num">
                                      <p:cBhvr additive="base">
                                        <p:cTn id="28"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 calcmode="lin" valueType="num">
                                      <p:cBhvr additive="base">
                                        <p:cTn id="34"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 calcmode="lin" valueType="num">
                                      <p:cBhvr additive="base">
                                        <p:cTn id="40"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anim calcmode="lin" valueType="num">
                                      <p:cBhvr additive="base">
                                        <p:cTn id="46"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5">
                                            <p:txEl>
                                              <p:pRg st="5" end="5"/>
                                            </p:txEl>
                                          </p:spTgt>
                                        </p:tgtEl>
                                        <p:attrNameLst>
                                          <p:attrName>style.visibility</p:attrName>
                                        </p:attrNameLst>
                                      </p:cBhvr>
                                      <p:to>
                                        <p:strVal val="visible"/>
                                      </p:to>
                                    </p:set>
                                    <p:anim calcmode="lin" valueType="num">
                                      <p:cBhvr additive="base">
                                        <p:cTn id="52"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8" grpId="0" build="p" animBg="1"/>
      <p:bldP spid="10"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 name="Group 4"/>
          <p:cNvGraphicFramePr>
            <a:graphicFrameLocks noGrp="1"/>
          </p:cNvGraphicFramePr>
          <p:nvPr>
            <p:ph sz="half" idx="4294967295"/>
          </p:nvPr>
        </p:nvGraphicFramePr>
        <p:xfrm>
          <a:off x="0" y="0"/>
          <a:ext cx="9144000" cy="6858717"/>
        </p:xfrm>
        <a:graphic>
          <a:graphicData uri="http://schemas.openxmlformats.org/drawingml/2006/table">
            <a:tbl>
              <a:tblPr/>
              <a:tblGrid>
                <a:gridCol w="868363">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869950">
                  <a:extLst>
                    <a:ext uri="{9D8B030D-6E8A-4147-A177-3AD203B41FA5}">
                      <a16:colId xmlns:a16="http://schemas.microsoft.com/office/drawing/2014/main" val="20002"/>
                    </a:ext>
                  </a:extLst>
                </a:gridCol>
                <a:gridCol w="2084387">
                  <a:extLst>
                    <a:ext uri="{9D8B030D-6E8A-4147-A177-3AD203B41FA5}">
                      <a16:colId xmlns:a16="http://schemas.microsoft.com/office/drawing/2014/main" val="20003"/>
                    </a:ext>
                  </a:extLst>
                </a:gridCol>
                <a:gridCol w="1217613">
                  <a:extLst>
                    <a:ext uri="{9D8B030D-6E8A-4147-A177-3AD203B41FA5}">
                      <a16:colId xmlns:a16="http://schemas.microsoft.com/office/drawing/2014/main" val="20004"/>
                    </a:ext>
                  </a:extLst>
                </a:gridCol>
                <a:gridCol w="1912937">
                  <a:extLst>
                    <a:ext uri="{9D8B030D-6E8A-4147-A177-3AD203B41FA5}">
                      <a16:colId xmlns:a16="http://schemas.microsoft.com/office/drawing/2014/main" val="20005"/>
                    </a:ext>
                  </a:extLst>
                </a:gridCol>
              </a:tblGrid>
              <a:tr h="804416">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000" b="1" i="0" u="none" strike="noStrike" cap="none" normalizeH="0" baseline="0" dirty="0">
                          <a:ln>
                            <a:noFill/>
                          </a:ln>
                          <a:solidFill>
                            <a:schemeClr val="tx1"/>
                          </a:solidFill>
                          <a:effectLst/>
                          <a:latin typeface="Times New Roman" pitchFamily="18" charset="0"/>
                          <a:cs typeface="Times New Roman" pitchFamily="18" charset="0"/>
                        </a:rPr>
                        <a:t>ТЯЖЕСТЬ</a:t>
                      </a:r>
                      <a:endParaRPr kumimoji="0" lang="ru-RU" sz="1000" b="0" i="0" u="none" strike="noStrike" cap="none" normalizeH="0" baseline="0" dirty="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000" b="1" i="0" u="none" strike="noStrike" cap="none" normalizeH="0" baseline="0" dirty="0">
                          <a:ln>
                            <a:noFill/>
                          </a:ln>
                          <a:solidFill>
                            <a:schemeClr val="tx1"/>
                          </a:solidFill>
                          <a:effectLst/>
                          <a:latin typeface="Times New Roman" pitchFamily="18" charset="0"/>
                          <a:cs typeface="Times New Roman" pitchFamily="18" charset="0"/>
                        </a:rPr>
                        <a:t>ВОЗДЕЙСТВИЕ ОПАСНОСТИ</a:t>
                      </a:r>
                      <a:endParaRPr kumimoji="0" lang="ru-RU" sz="1800" b="0" i="0" u="none" strike="noStrike" cap="none" normalizeH="0" baseline="0" dirty="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000" b="1" i="0" u="none" strike="noStrike" cap="none" normalizeH="0" baseline="0">
                          <a:ln>
                            <a:noFill/>
                          </a:ln>
                          <a:solidFill>
                            <a:schemeClr val="tx1"/>
                          </a:solidFill>
                          <a:effectLst/>
                          <a:latin typeface="Times New Roman" pitchFamily="18" charset="0"/>
                          <a:cs typeface="Times New Roman" pitchFamily="18" charset="0"/>
                        </a:rPr>
                        <a:t>ВЕРОЯТНОСТЬ</a:t>
                      </a:r>
                      <a:endParaRPr kumimoji="0" lang="ru-RU" sz="18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extLst>
                  <a:ext uri="{0D108BD9-81ED-4DB2-BD59-A6C34878D82A}">
                    <a16:rowId xmlns:a16="http://schemas.microsoft.com/office/drawing/2014/main" val="10000"/>
                  </a:ext>
                </a:extLst>
              </a:tr>
              <a:tr h="56578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000" b="1" i="0" u="none" strike="noStrike" cap="none" normalizeH="0" baseline="0">
                          <a:ln>
                            <a:noFill/>
                          </a:ln>
                          <a:solidFill>
                            <a:schemeClr val="tx1"/>
                          </a:solidFill>
                          <a:effectLst/>
                          <a:latin typeface="Times New Roman" pitchFamily="18" charset="0"/>
                          <a:cs typeface="Times New Roman" pitchFamily="18" charset="0"/>
                        </a:rPr>
                        <a:t>Баллы </a:t>
                      </a:r>
                      <a:endParaRPr kumimoji="0" lang="ru-RU" sz="10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Описание тяжести последствий</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Баллы </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Характер воздействия опасности                     </a:t>
                      </a:r>
                      <a:endParaRPr kumimoji="0" lang="ru-RU" sz="12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Баллы</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Прогноз вероятности несчастного случая</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29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Микротравма</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dirty="0">
                          <a:ln>
                            <a:noFill/>
                          </a:ln>
                          <a:solidFill>
                            <a:schemeClr val="tx1"/>
                          </a:solidFill>
                          <a:effectLst/>
                          <a:latin typeface="Times New Roman" pitchFamily="18" charset="0"/>
                          <a:cs typeface="Times New Roman" pitchFamily="18" charset="0"/>
                        </a:rPr>
                        <a:t>0</a:t>
                      </a:r>
                      <a:endParaRPr kumimoji="0" lang="ru-RU" sz="1200" b="0" i="0" u="none" strike="noStrike" cap="none" normalizeH="0" baseline="0" dirty="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Никогда </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0</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Абсолютно невозможно</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187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3</a:t>
                      </a:r>
                      <a:endParaRPr kumimoji="0" lang="ru-RU"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Несчастные случаи с легким исходом с оформлением листа временной нетрудоспособности</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В среднем – 1 раз в год</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0,2</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Почти невозможно</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7012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7</a:t>
                      </a:r>
                      <a:endParaRPr kumimoji="0" lang="ru-RU"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Несчастные случаи с тяжелым исходом с оформлением листа временной нетрудоспособности. Установление групп инвалидности.</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2</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В среднем – 1 раз в месяц</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Маловероятно</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9479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15</a:t>
                      </a:r>
                      <a:endParaRPr kumimoji="0" lang="ru-RU"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Групповые несчастные случаи с тяжелым исходом. Смертельные случаи</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3</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В среднем – 1 раз в неделю</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3</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Нехарактерно, но возможно</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0199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40</a:t>
                      </a:r>
                      <a:endParaRPr kumimoji="0" lang="ru-RU"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Гибель людей и материальных ценностей, разрушения оборудования зданий и сооружений</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6</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В среднем – 1 раз за рабочую смену </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6</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Очень возможно</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771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100</a:t>
                      </a:r>
                      <a:endParaRPr kumimoji="0" lang="ru-RU"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Чрезвычайная ситуация с большим числом жертв</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10</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chemeClr val="tx1"/>
                          </a:solidFill>
                          <a:effectLst/>
                          <a:latin typeface="Times New Roman" pitchFamily="18" charset="0"/>
                          <a:cs typeface="Times New Roman" pitchFamily="18" charset="0"/>
                        </a:rPr>
                        <a:t>Постоянно в течение рабочей смены</a:t>
                      </a:r>
                      <a:endParaRPr kumimoji="0" lang="ru-R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chemeClr val="tx1"/>
                          </a:solidFill>
                          <a:effectLst/>
                          <a:latin typeface="Times New Roman" pitchFamily="18" charset="0"/>
                          <a:cs typeface="Times New Roman" pitchFamily="18" charset="0"/>
                        </a:rPr>
                        <a:t>10</a:t>
                      </a:r>
                      <a:endParaRPr kumimoji="0" lang="ru-RU" sz="1200" b="0" i="0" u="none" strike="noStrike" cap="none" normalizeH="0" baseline="0">
                        <a:ln>
                          <a:noFill/>
                        </a:ln>
                        <a:solidFill>
                          <a:schemeClr val="tx1"/>
                        </a:solidFill>
                        <a:effectLst/>
                        <a:latin typeface="Arial"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chemeClr val="tx1"/>
                          </a:solidFill>
                          <a:effectLst/>
                          <a:latin typeface="Times New Roman" pitchFamily="18" charset="0"/>
                          <a:cs typeface="Times New Roman" pitchFamily="18" charset="0"/>
                        </a:rPr>
                        <a:t>Скорее всего произойдет</a:t>
                      </a:r>
                      <a:endParaRPr kumimoji="0" lang="ru-RU" sz="1200" b="0" i="0" u="none" strike="noStrike" cap="none" normalizeH="0" baseline="0" dirty="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 name="Group 426"/>
          <p:cNvGraphicFramePr>
            <a:graphicFrameLocks noGrp="1"/>
          </p:cNvGraphicFramePr>
          <p:nvPr>
            <p:ph sz="half" idx="4294967295"/>
          </p:nvPr>
        </p:nvGraphicFramePr>
        <p:xfrm>
          <a:off x="0" y="908050"/>
          <a:ext cx="8820149" cy="5949280"/>
        </p:xfrm>
        <a:graphic>
          <a:graphicData uri="http://schemas.openxmlformats.org/drawingml/2006/table">
            <a:tbl>
              <a:tblPr/>
              <a:tblGrid>
                <a:gridCol w="1758427">
                  <a:extLst>
                    <a:ext uri="{9D8B030D-6E8A-4147-A177-3AD203B41FA5}">
                      <a16:colId xmlns:a16="http://schemas.microsoft.com/office/drawing/2014/main" val="20000"/>
                    </a:ext>
                  </a:extLst>
                </a:gridCol>
                <a:gridCol w="2488495">
                  <a:extLst>
                    <a:ext uri="{9D8B030D-6E8A-4147-A177-3AD203B41FA5}">
                      <a16:colId xmlns:a16="http://schemas.microsoft.com/office/drawing/2014/main" val="20001"/>
                    </a:ext>
                  </a:extLst>
                </a:gridCol>
                <a:gridCol w="4573227">
                  <a:extLst>
                    <a:ext uri="{9D8B030D-6E8A-4147-A177-3AD203B41FA5}">
                      <a16:colId xmlns:a16="http://schemas.microsoft.com/office/drawing/2014/main" val="20002"/>
                    </a:ext>
                  </a:extLst>
                </a:gridCol>
              </a:tblGrid>
              <a:tr h="65403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Times New Roman" pitchFamily="18" charset="0"/>
                          <a:cs typeface="Times New Roman" pitchFamily="18" charset="0"/>
                        </a:rPr>
                        <a:t>Оценка риска </a:t>
                      </a:r>
                      <a:endParaRPr kumimoji="0" lang="ru-RU" sz="1600" b="0" i="0" u="none" strike="noStrike" cap="none" normalizeH="0" baseline="0" dirty="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Значимость риска</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Приоритет мероприятий по снижению риска</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597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0 - 20</a:t>
                      </a:r>
                      <a:endParaRPr kumimoji="0" lang="ru-RU" sz="16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rgbClr val="000000"/>
                          </a:solidFill>
                          <a:effectLst/>
                          <a:latin typeface="Times New Roman" pitchFamily="18" charset="0"/>
                          <a:cs typeface="Times New Roman" pitchFamily="18" charset="0"/>
                        </a:rPr>
                        <a:t>Малый риск</a:t>
                      </a:r>
                      <a:endParaRPr kumimoji="0" lang="ru-RU" sz="16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chemeClr val="tx1"/>
                          </a:solidFill>
                          <a:effectLst/>
                          <a:latin typeface="Times New Roman" pitchFamily="18" charset="0"/>
                          <a:cs typeface="Times New Roman" pitchFamily="18" charset="0"/>
                        </a:rPr>
                        <a:t>Специальных мер не требуется. Следует контролировать уровень опасности</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58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20 - 70</a:t>
                      </a:r>
                      <a:endParaRPr kumimoji="0" lang="ru-RU" sz="16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a:ln>
                            <a:noFill/>
                          </a:ln>
                          <a:solidFill>
                            <a:srgbClr val="000000"/>
                          </a:solidFill>
                          <a:effectLst/>
                          <a:latin typeface="Times New Roman" pitchFamily="18" charset="0"/>
                          <a:cs typeface="Times New Roman" pitchFamily="18" charset="0"/>
                        </a:rPr>
                        <a:t>Умеренный риск</a:t>
                      </a:r>
                      <a:endParaRPr kumimoji="0" lang="ru-RU" sz="1600" b="0" i="0" u="none" strike="noStrike" cap="none" normalizeH="0" baseline="0" dirty="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chemeClr val="tx1"/>
                          </a:solidFill>
                          <a:effectLst/>
                          <a:latin typeface="Times New Roman" pitchFamily="18" charset="0"/>
                          <a:cs typeface="Times New Roman" pitchFamily="18" charset="0"/>
                        </a:rPr>
                        <a:t>Следует спланировать и выполнить мероприятия по снижению риска</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597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70 - 200</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rgbClr val="000000"/>
                          </a:solidFill>
                          <a:effectLst/>
                          <a:latin typeface="Times New Roman" pitchFamily="18" charset="0"/>
                          <a:cs typeface="Times New Roman" pitchFamily="18" charset="0"/>
                        </a:rPr>
                        <a:t>Значительный риск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chemeClr val="tx1"/>
                          </a:solidFill>
                          <a:effectLst/>
                          <a:latin typeface="Times New Roman" pitchFamily="18" charset="0"/>
                          <a:cs typeface="Times New Roman" pitchFamily="18" charset="0"/>
                        </a:rPr>
                        <a:t>Необходимо запланировать и выполнить мероприятия по снижению риска в сжатые сроки</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58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200 - 400</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rgbClr val="000000"/>
                          </a:solidFill>
                          <a:effectLst/>
                          <a:latin typeface="Times New Roman" pitchFamily="18" charset="0"/>
                          <a:cs typeface="Times New Roman" pitchFamily="18" charset="0"/>
                        </a:rPr>
                        <a:t>Высокий риск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chemeClr val="tx1"/>
                          </a:solidFill>
                          <a:effectLst/>
                          <a:latin typeface="Times New Roman" pitchFamily="18" charset="0"/>
                          <a:cs typeface="Times New Roman" pitchFamily="18" charset="0"/>
                        </a:rPr>
                        <a:t>Необходимо принятие экстренных мер по снижению риска</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597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a:ln>
                            <a:noFill/>
                          </a:ln>
                          <a:solidFill>
                            <a:schemeClr val="tx1"/>
                          </a:solidFill>
                          <a:effectLst/>
                          <a:latin typeface="Times New Roman" pitchFamily="18" charset="0"/>
                          <a:cs typeface="Times New Roman" pitchFamily="18" charset="0"/>
                        </a:rPr>
                        <a:t>Свыше 400</a:t>
                      </a:r>
                      <a:endParaRPr kumimoji="0" lang="ru-RU"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a:ln>
                            <a:noFill/>
                          </a:ln>
                          <a:solidFill>
                            <a:srgbClr val="000000"/>
                          </a:solidFill>
                          <a:effectLst/>
                          <a:latin typeface="Times New Roman" pitchFamily="18" charset="0"/>
                          <a:cs typeface="Times New Roman" pitchFamily="18" charset="0"/>
                        </a:rPr>
                        <a:t>Сверхвысокий  риск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a:ln>
                            <a:noFill/>
                          </a:ln>
                          <a:solidFill>
                            <a:schemeClr val="tx1"/>
                          </a:solidFill>
                          <a:effectLst/>
                          <a:latin typeface="Times New Roman" pitchFamily="18" charset="0"/>
                          <a:cs typeface="Times New Roman" pitchFamily="18" charset="0"/>
                        </a:rPr>
                        <a:t>Необходимо прекратить деятельность до устранения опасности или снижения риска</a:t>
                      </a:r>
                      <a:endParaRPr kumimoji="0" lang="ru-RU" sz="1600" b="0" i="0" u="none" strike="noStrike" cap="none" normalizeH="0" baseline="0" dirty="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057" name="Object 9"/>
          <p:cNvGraphicFramePr>
            <a:graphicFrameLocks noGrp="1" noChangeAspect="1"/>
          </p:cNvGraphicFramePr>
          <p:nvPr>
            <p:ph/>
          </p:nvPr>
        </p:nvGraphicFramePr>
        <p:xfrm>
          <a:off x="0" y="1735138"/>
          <a:ext cx="9144000" cy="5122862"/>
        </p:xfrm>
        <a:graphic>
          <a:graphicData uri="http://schemas.openxmlformats.org/presentationml/2006/ole">
            <mc:AlternateContent xmlns:mc="http://schemas.openxmlformats.org/markup-compatibility/2006">
              <mc:Choice xmlns:v="urn:schemas-microsoft-com:vml" Requires="v">
                <p:oleObj spid="_x0000_s2058" name="Документ" r:id="rId3" imgW="7269583" imgH="4935359" progId="">
                  <p:embed/>
                </p:oleObj>
              </mc:Choice>
              <mc:Fallback>
                <p:oleObj name="Документ" r:id="rId3" imgW="7269583" imgH="4935359" progId="">
                  <p:embed/>
                  <p:pic>
                    <p:nvPicPr>
                      <p:cNvPr id="0" name="Picture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35138"/>
                        <a:ext cx="9144000" cy="5122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8114" name="Rectangle 2"/>
          <p:cNvSpPr>
            <a:spLocks noChangeArrowheads="1"/>
          </p:cNvSpPr>
          <p:nvPr/>
        </p:nvSpPr>
        <p:spPr bwMode="auto">
          <a:xfrm>
            <a:off x="681038" y="239713"/>
            <a:ext cx="8245475" cy="566737"/>
          </a:xfrm>
          <a:prstGeom prst="rect">
            <a:avLst/>
          </a:prstGeom>
          <a:noFill/>
          <a:ln w="9525">
            <a:noFill/>
            <a:miter lim="800000"/>
            <a:headEnd/>
            <a:tailEnd/>
          </a:ln>
        </p:spPr>
        <p:txBody>
          <a:bodyPr lIns="0" rIns="0" bIns="0" anchor="b"/>
          <a:lstStyle/>
          <a:p>
            <a:pPr algn="ctr">
              <a:defRPr/>
            </a:pPr>
            <a:r>
              <a:rPr lang="ru-RU" sz="3200" b="1" dirty="0">
                <a:effectLst>
                  <a:outerShdw blurRad="38100" dist="38100" dir="2700000" algn="tl">
                    <a:srgbClr val="000000">
                      <a:alpha val="43137"/>
                    </a:srgbClr>
                  </a:outerShdw>
                </a:effectLst>
                <a:latin typeface="Arial" pitchFamily="34" charset="0"/>
                <a:cs typeface="Arial" pitchFamily="34" charset="0"/>
              </a:rPr>
              <a:t>Пример прямого метода оценки риска</a:t>
            </a:r>
            <a:endParaRPr lang="ru-RU" sz="5000" dirty="0">
              <a:effectLst>
                <a:outerShdw blurRad="38100" dist="38100" dir="2700000" algn="tl">
                  <a:srgbClr val="000000">
                    <a:alpha val="43137"/>
                  </a:srgbClr>
                </a:outerShdw>
              </a:effectLst>
              <a:latin typeface="Arial" pitchFamily="34" charset="0"/>
              <a:cs typeface="Arial" pitchFamily="34" charset="0"/>
            </a:endParaRPr>
          </a:p>
        </p:txBody>
      </p:sp>
      <p:sp>
        <p:nvSpPr>
          <p:cNvPr id="4" name="Выноска со стрелкой вниз 3"/>
          <p:cNvSpPr/>
          <p:nvPr/>
        </p:nvSpPr>
        <p:spPr>
          <a:xfrm>
            <a:off x="1258888" y="981075"/>
            <a:ext cx="5902325" cy="1038225"/>
          </a:xfrm>
          <a:prstGeom prst="downArrowCallou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sz="2400" b="1" dirty="0">
                <a:solidFill>
                  <a:srgbClr val="002060"/>
                </a:solidFill>
              </a:rPr>
              <a:t>Матричный метод (МОТ)</a:t>
            </a:r>
            <a:endParaRPr lang="ru-RU" sz="2400" dirty="0">
              <a:solidFill>
                <a:srgbClr val="002060"/>
              </a:solidFill>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81" name="Object 9"/>
          <p:cNvGraphicFramePr>
            <a:graphicFrameLocks noGrp="1" noChangeAspect="1"/>
          </p:cNvGraphicFramePr>
          <p:nvPr>
            <p:ph/>
          </p:nvPr>
        </p:nvGraphicFramePr>
        <p:xfrm>
          <a:off x="395288" y="1052513"/>
          <a:ext cx="8748712" cy="5938837"/>
        </p:xfrm>
        <a:graphic>
          <a:graphicData uri="http://schemas.openxmlformats.org/presentationml/2006/ole">
            <mc:AlternateContent xmlns:mc="http://schemas.openxmlformats.org/markup-compatibility/2006">
              <mc:Choice xmlns:v="urn:schemas-microsoft-com:vml" Requires="v">
                <p:oleObj spid="_x0000_s3082" name="Документ" r:id="rId3" imgW="7269583" imgH="4935359" progId="">
                  <p:embed/>
                </p:oleObj>
              </mc:Choice>
              <mc:Fallback>
                <p:oleObj name="Документ" r:id="rId3" imgW="7269583" imgH="4935359" progId="">
                  <p:embed/>
                  <p:pic>
                    <p:nvPicPr>
                      <p:cNvPr id="0" name="Picture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052513"/>
                        <a:ext cx="8748712" cy="5938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8114" name="Rectangle 2"/>
          <p:cNvSpPr>
            <a:spLocks noChangeArrowheads="1"/>
          </p:cNvSpPr>
          <p:nvPr/>
        </p:nvSpPr>
        <p:spPr bwMode="auto">
          <a:xfrm>
            <a:off x="703263" y="269875"/>
            <a:ext cx="8245475" cy="566738"/>
          </a:xfrm>
          <a:prstGeom prst="rect">
            <a:avLst/>
          </a:prstGeom>
          <a:noFill/>
          <a:ln w="9525">
            <a:noFill/>
            <a:miter lim="800000"/>
            <a:headEnd/>
            <a:tailEnd/>
          </a:ln>
        </p:spPr>
        <p:txBody>
          <a:bodyPr lIns="0" rIns="0" bIns="0" anchor="b"/>
          <a:lstStyle/>
          <a:p>
            <a:pPr algn="ctr">
              <a:defRPr/>
            </a:pPr>
            <a:r>
              <a:rPr lang="ru-RU" sz="2800" b="1" dirty="0">
                <a:effectLst>
                  <a:outerShdw blurRad="38100" dist="38100" dir="2700000" algn="tl">
                    <a:srgbClr val="000000">
                      <a:alpha val="43137"/>
                    </a:srgbClr>
                  </a:outerShdw>
                </a:effectLst>
                <a:latin typeface="Arial" pitchFamily="34" charset="0"/>
                <a:cs typeface="Arial" pitchFamily="34" charset="0"/>
              </a:rPr>
              <a:t>Необходимость проведения мероприятий</a:t>
            </a:r>
            <a:endParaRPr lang="ru-RU" sz="2800" dirty="0">
              <a:effectLst>
                <a:outerShdw blurRad="38100" dist="38100" dir="2700000" algn="tl">
                  <a:srgbClr val="000000">
                    <a:alpha val="43137"/>
                  </a:srgbClr>
                </a:outerShdw>
              </a:effectLst>
              <a:latin typeface="Arial" pitchFamily="34" charset="0"/>
              <a:cs typeface="Arial" pitchFamily="34" charset="0"/>
            </a:endParaRPr>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89" name="Picture 2" descr="http://techcapfx.ru/wp-content/uploads/2016/04/%D0%B2%D1%8B%D0%B1%D0%BE%D1%80-%D1%84%D0%BE%D1%80%D0%B5%D0%BA%D1%81-%D0%B1%D1%80%D0%BE%D0%BA%D0%B5%D1%80%D0%B0-1.jpg"/>
          <p:cNvPicPr>
            <a:picLocks noChangeAspect="1" noChangeArrowheads="1"/>
          </p:cNvPicPr>
          <p:nvPr/>
        </p:nvPicPr>
        <p:blipFill>
          <a:blip r:embed="rId2"/>
          <a:srcRect/>
          <a:stretch>
            <a:fillRect/>
          </a:stretch>
        </p:blipFill>
        <p:spPr bwMode="auto">
          <a:xfrm>
            <a:off x="5435253" y="281353"/>
            <a:ext cx="3413325" cy="2560321"/>
          </a:xfrm>
          <a:prstGeom prst="rect">
            <a:avLst/>
          </a:prstGeom>
          <a:noFill/>
          <a:ln w="9525">
            <a:noFill/>
            <a:miter lim="800000"/>
            <a:headEnd/>
            <a:tailEnd/>
          </a:ln>
        </p:spPr>
      </p:pic>
      <p:sp>
        <p:nvSpPr>
          <p:cNvPr id="6" name="Прямоугольник 5"/>
          <p:cNvSpPr/>
          <p:nvPr/>
        </p:nvSpPr>
        <p:spPr>
          <a:xfrm>
            <a:off x="323850" y="1189039"/>
            <a:ext cx="5126038" cy="3819060"/>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3200" b="1" i="1" dirty="0">
              <a:solidFill>
                <a:srgbClr val="002060"/>
              </a:solidFill>
            </a:endParaRPr>
          </a:p>
          <a:p>
            <a:pPr marL="266700" indent="-266700" algn="ctr">
              <a:defRPr/>
            </a:pPr>
            <a:r>
              <a:rPr lang="ru-RU" sz="3200" b="1" dirty="0">
                <a:solidFill>
                  <a:srgbClr val="002060"/>
                </a:solidFill>
              </a:rPr>
              <a:t>Выбор методов оценки </a:t>
            </a:r>
            <a:r>
              <a:rPr lang="ru-RU" sz="3200" b="1" dirty="0" smtClean="0">
                <a:solidFill>
                  <a:srgbClr val="002060"/>
                </a:solidFill>
              </a:rPr>
              <a:t>рисков</a:t>
            </a:r>
            <a:endParaRPr lang="ru-RU" sz="3200" b="1" dirty="0">
              <a:solidFill>
                <a:srgbClr val="00206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Нижний колонтитул 2"/>
          <p:cNvSpPr>
            <a:spLocks noGrp="1"/>
          </p:cNvSpPr>
          <p:nvPr>
            <p:ph type="ftr" sz="quarter" idx="11"/>
          </p:nvPr>
        </p:nvSpPr>
        <p:spPr>
          <a:xfrm>
            <a:off x="220663" y="6356350"/>
            <a:ext cx="3086100" cy="365125"/>
          </a:xfrm>
        </p:spPr>
        <p:txBody>
          <a:bodyPr/>
          <a:lstStyle/>
          <a:p>
            <a:pPr>
              <a:defRPr/>
            </a:pPr>
            <a:r>
              <a:rPr lang="ru-RU" dirty="0"/>
              <a:t>НАЦОТ «Практика оценки риска на производстве» 2016</a:t>
            </a:r>
          </a:p>
        </p:txBody>
      </p:sp>
      <p:pic>
        <p:nvPicPr>
          <p:cNvPr id="166914" name="Picture 2"/>
          <p:cNvPicPr>
            <a:picLocks noChangeAspect="1" noChangeArrowheads="1"/>
          </p:cNvPicPr>
          <p:nvPr/>
        </p:nvPicPr>
        <p:blipFill>
          <a:blip r:embed="rId2"/>
          <a:srcRect/>
          <a:stretch>
            <a:fillRect/>
          </a:stretch>
        </p:blipFill>
        <p:spPr bwMode="auto">
          <a:xfrm>
            <a:off x="0" y="0"/>
            <a:ext cx="9144000" cy="6826250"/>
          </a:xfrm>
          <a:prstGeom prst="rect">
            <a:avLst/>
          </a:prstGeom>
          <a:noFill/>
          <a:ln w="9525">
            <a:noFill/>
            <a:miter lim="800000"/>
            <a:headEnd/>
            <a:tailEnd/>
          </a:ln>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2" name="Rectangle 8"/>
          <p:cNvSpPr>
            <a:spLocks noChangeArrowheads="1"/>
          </p:cNvSpPr>
          <p:nvPr/>
        </p:nvSpPr>
        <p:spPr bwMode="auto">
          <a:xfrm>
            <a:off x="250825" y="2425566"/>
            <a:ext cx="8555550" cy="1815882"/>
          </a:xfrm>
          <a:prstGeom prst="rect">
            <a:avLst/>
          </a:prstGeom>
          <a:noFill/>
          <a:ln w="9525" algn="ctr">
            <a:noFill/>
            <a:miter lim="800000"/>
            <a:headEnd/>
            <a:tailEnd/>
          </a:ln>
          <a:effectLst>
            <a:outerShdw dist="38100" algn="ctr" rotWithShape="0">
              <a:schemeClr val="tx1"/>
            </a:outerShdw>
          </a:effectLst>
        </p:spPr>
        <p:txBody>
          <a:bodyPr wrap="square" anchor="ctr">
            <a:spAutoFit/>
          </a:bodyPr>
          <a:lstStyle/>
          <a:p>
            <a:pPr algn="ctr">
              <a:lnSpc>
                <a:spcPct val="175000"/>
              </a:lnSpc>
              <a:defRPr/>
            </a:pPr>
            <a:r>
              <a:rPr lang="ru-RU" sz="3200" dirty="0">
                <a:latin typeface="Arial" pitchFamily="34" charset="0"/>
                <a:cs typeface="Arial" pitchFamily="34" charset="0"/>
              </a:rPr>
              <a:t>ГОСТ Р </a:t>
            </a:r>
            <a:r>
              <a:rPr lang="ru-RU" sz="3200" dirty="0" smtClean="0">
                <a:latin typeface="Arial" pitchFamily="34" charset="0"/>
                <a:cs typeface="Arial" pitchFamily="34" charset="0"/>
              </a:rPr>
              <a:t>ИСО / МЭК </a:t>
            </a:r>
            <a:r>
              <a:rPr lang="ru-RU" sz="3200" dirty="0">
                <a:latin typeface="Arial" pitchFamily="34" charset="0"/>
                <a:cs typeface="Arial" pitchFamily="34" charset="0"/>
              </a:rPr>
              <a:t>31010-2011 </a:t>
            </a:r>
          </a:p>
          <a:p>
            <a:pPr algn="ctr">
              <a:lnSpc>
                <a:spcPct val="175000"/>
              </a:lnSpc>
              <a:defRPr/>
            </a:pPr>
            <a:r>
              <a:rPr lang="ru-RU" sz="3200" dirty="0" smtClean="0">
                <a:latin typeface="Arial" pitchFamily="34" charset="0"/>
                <a:cs typeface="Arial" pitchFamily="34" charset="0"/>
              </a:rPr>
              <a:t>«Менеджмент </a:t>
            </a:r>
            <a:r>
              <a:rPr lang="ru-RU" sz="3200" dirty="0">
                <a:latin typeface="Arial" pitchFamily="34" charset="0"/>
                <a:cs typeface="Arial" pitchFamily="34" charset="0"/>
              </a:rPr>
              <a:t>риска. </a:t>
            </a:r>
            <a:r>
              <a:rPr lang="ru-RU" sz="3200" dirty="0" smtClean="0">
                <a:latin typeface="Arial" pitchFamily="34" charset="0"/>
                <a:cs typeface="Arial" pitchFamily="34" charset="0"/>
              </a:rPr>
              <a:t>Методы </a:t>
            </a:r>
            <a:r>
              <a:rPr lang="ru-RU" sz="3200" dirty="0">
                <a:latin typeface="Arial" pitchFamily="34" charset="0"/>
                <a:cs typeface="Arial" pitchFamily="34" charset="0"/>
              </a:rPr>
              <a:t>оценки </a:t>
            </a:r>
            <a:r>
              <a:rPr lang="ru-RU" sz="3200" dirty="0" smtClean="0">
                <a:latin typeface="Arial" pitchFamily="34" charset="0"/>
                <a:cs typeface="Arial" pitchFamily="34" charset="0"/>
              </a:rPr>
              <a:t>риска»</a:t>
            </a:r>
            <a:endParaRPr lang="ru-RU" sz="3200" dirty="0">
              <a:latin typeface="Arial" pitchFamily="34" charset="0"/>
              <a:cs typeface="Arial" pitchFamily="34" charset="0"/>
            </a:endParaRPr>
          </a:p>
        </p:txBody>
      </p:sp>
      <p:sp>
        <p:nvSpPr>
          <p:cNvPr id="167938"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pic>
        <p:nvPicPr>
          <p:cNvPr id="167939" name="Picture 2" descr="1346909781_www"/>
          <p:cNvPicPr>
            <a:picLocks noChangeAspect="1" noChangeArrowheads="1"/>
          </p:cNvPicPr>
          <p:nvPr/>
        </p:nvPicPr>
        <p:blipFill>
          <a:blip r:embed="rId2"/>
          <a:srcRect/>
          <a:stretch>
            <a:fillRect/>
          </a:stretch>
        </p:blipFill>
        <p:spPr bwMode="auto">
          <a:xfrm>
            <a:off x="5520250" y="4646613"/>
            <a:ext cx="3286125" cy="1844675"/>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1" name="Picture 3" descr="http://base.safework.ru/law?SetPict.gif&amp;nd=33307231&amp;nh=0&amp;pictid=010000001P00&amp;abs=&amp;crc="/>
          <p:cNvPicPr>
            <a:picLocks noChangeAspect="1" noChangeArrowheads="1"/>
          </p:cNvPicPr>
          <p:nvPr/>
        </p:nvPicPr>
        <p:blipFill>
          <a:blip r:embed="rId2"/>
          <a:srcRect/>
          <a:stretch>
            <a:fillRect/>
          </a:stretch>
        </p:blipFill>
        <p:spPr bwMode="auto">
          <a:xfrm>
            <a:off x="4486275" y="0"/>
            <a:ext cx="4657725" cy="6734175"/>
          </a:xfrm>
          <a:prstGeom prst="rect">
            <a:avLst/>
          </a:prstGeom>
          <a:noFill/>
          <a:ln w="9525">
            <a:noFill/>
            <a:miter lim="800000"/>
            <a:headEnd/>
            <a:tailEnd/>
          </a:ln>
        </p:spPr>
      </p:pic>
      <p:sp>
        <p:nvSpPr>
          <p:cNvPr id="168962" name="Rectangle 4"/>
          <p:cNvSpPr>
            <a:spLocks noChangeArrowheads="1"/>
          </p:cNvSpPr>
          <p:nvPr/>
        </p:nvSpPr>
        <p:spPr bwMode="auto">
          <a:xfrm>
            <a:off x="104775" y="30163"/>
            <a:ext cx="4179888" cy="1323975"/>
          </a:xfrm>
          <a:prstGeom prst="rect">
            <a:avLst/>
          </a:prstGeom>
          <a:noFill/>
          <a:ln w="9525">
            <a:noFill/>
            <a:miter lim="800000"/>
            <a:headEnd/>
            <a:tailEnd/>
          </a:ln>
        </p:spPr>
        <p:txBody>
          <a:bodyPr anchor="ctr">
            <a:spAutoFit/>
          </a:bodyPr>
          <a:lstStyle/>
          <a:p>
            <a:pPr indent="180975" algn="ctr"/>
            <a:r>
              <a:rPr lang="ru-RU" sz="1600" b="1">
                <a:latin typeface="Calibri" pitchFamily="34" charset="0"/>
                <a:cs typeface="Times New Roman" pitchFamily="18" charset="0"/>
              </a:rPr>
              <a:t>ГОСТ Р 51901.1-2002</a:t>
            </a:r>
            <a:endParaRPr lang="ru-RU" sz="1600">
              <a:latin typeface="Arial" charset="0"/>
            </a:endParaRPr>
          </a:p>
          <a:p>
            <a:pPr indent="180975" algn="ctr" eaLnBrk="0" hangingPunct="0"/>
            <a:r>
              <a:rPr lang="ru-RU" sz="1600" b="1">
                <a:latin typeface="Calibri" pitchFamily="34" charset="0"/>
                <a:cs typeface="Times New Roman" pitchFamily="18" charset="0"/>
              </a:rPr>
              <a:t>МЕНЕДЖМЕНТ РИСКА</a:t>
            </a:r>
            <a:endParaRPr lang="ru-RU" sz="1600">
              <a:latin typeface="Arial" charset="0"/>
            </a:endParaRPr>
          </a:p>
          <a:p>
            <a:pPr indent="180975" algn="ctr" eaLnBrk="0" hangingPunct="0"/>
            <a:r>
              <a:rPr lang="ru-RU" sz="1600" b="1">
                <a:latin typeface="Calibri" pitchFamily="34" charset="0"/>
                <a:cs typeface="Times New Roman" pitchFamily="18" charset="0"/>
              </a:rPr>
              <a:t>Анализ риска технологических систем</a:t>
            </a:r>
          </a:p>
          <a:p>
            <a:pPr indent="180975" algn="ctr" eaLnBrk="0" hangingPunct="0"/>
            <a:r>
              <a:rPr lang="ru-RU" sz="1600" b="1">
                <a:latin typeface="Calibri" pitchFamily="34" charset="0"/>
                <a:cs typeface="Times New Roman" pitchFamily="18" charset="0"/>
              </a:rPr>
              <a:t>(было в ГОСТ Р 51901-2002 </a:t>
            </a:r>
            <a:r>
              <a:rPr lang="ru-RU" sz="1600" b="1">
                <a:latin typeface="Arial" charset="0"/>
              </a:rPr>
              <a:t>УПРАВЛЕНИЕ НАДЕЖНОСТЬЮ)</a:t>
            </a:r>
            <a:endParaRPr lang="ru-RU" sz="1600">
              <a:latin typeface="Arial" charset="0"/>
            </a:endParaRPr>
          </a:p>
        </p:txBody>
      </p:sp>
      <p:sp>
        <p:nvSpPr>
          <p:cNvPr id="168963" name="Rectangle 5"/>
          <p:cNvSpPr>
            <a:spLocks noChangeArrowheads="1"/>
          </p:cNvSpPr>
          <p:nvPr/>
        </p:nvSpPr>
        <p:spPr bwMode="auto">
          <a:xfrm>
            <a:off x="104775" y="1662113"/>
            <a:ext cx="4381500" cy="2584450"/>
          </a:xfrm>
          <a:prstGeom prst="rect">
            <a:avLst/>
          </a:prstGeom>
          <a:noFill/>
          <a:ln w="9525">
            <a:noFill/>
            <a:miter lim="800000"/>
            <a:headEnd/>
            <a:tailEnd/>
          </a:ln>
        </p:spPr>
        <p:txBody>
          <a:bodyPr anchor="ctr">
            <a:spAutoFit/>
          </a:bodyPr>
          <a:lstStyle/>
          <a:p>
            <a:pPr indent="180975"/>
            <a:r>
              <a:rPr lang="ru-RU" sz="1800" b="1">
                <a:latin typeface="Calibri" pitchFamily="34" charset="0"/>
                <a:cs typeface="Times New Roman" pitchFamily="18" charset="0"/>
              </a:rPr>
              <a:t>6 Методы анализа риска</a:t>
            </a:r>
            <a:endParaRPr lang="ru-RU" sz="1800">
              <a:latin typeface="Arial" charset="0"/>
            </a:endParaRPr>
          </a:p>
          <a:p>
            <a:pPr indent="180975" eaLnBrk="0" hangingPunct="0"/>
            <a:r>
              <a:rPr lang="ru-RU" sz="1800" b="1">
                <a:latin typeface="Calibri" pitchFamily="34" charset="0"/>
                <a:cs typeface="Times New Roman" pitchFamily="18" charset="0"/>
              </a:rPr>
              <a:t>6.2 Выбор методов</a:t>
            </a:r>
            <a:endParaRPr lang="ru-RU" sz="1800">
              <a:latin typeface="Arial" charset="0"/>
            </a:endParaRPr>
          </a:p>
          <a:p>
            <a:pPr indent="180975" eaLnBrk="0" hangingPunct="0"/>
            <a:r>
              <a:rPr lang="ru-RU" sz="1800">
                <a:latin typeface="Arial" charset="0"/>
                <a:cs typeface="Times New Roman" pitchFamily="18" charset="0"/>
              </a:rPr>
              <a:t>Как только принято решение о проведении анализа риска, определены цели и область применения, должен быть выбран метод или методы анализа, исходя из приемлемости факторов, указанных на рисунке. </a:t>
            </a:r>
            <a:endParaRPr lang="ru-RU" sz="1800">
              <a:latin typeface="Arial" charset="0"/>
            </a:endParaRPr>
          </a:p>
        </p:txBody>
      </p:sp>
      <p:pic>
        <p:nvPicPr>
          <p:cNvPr id="168964" name="Picture 7" descr="http://risovach.ru/upload/2013/06/generator/ronda_21568635_orig_.jpeg"/>
          <p:cNvPicPr>
            <a:picLocks noChangeAspect="1" noChangeArrowheads="1"/>
          </p:cNvPicPr>
          <p:nvPr/>
        </p:nvPicPr>
        <p:blipFill>
          <a:blip r:embed="rId3"/>
          <a:srcRect/>
          <a:stretch>
            <a:fillRect/>
          </a:stretch>
        </p:blipFill>
        <p:spPr bwMode="auto">
          <a:xfrm>
            <a:off x="104775" y="3970338"/>
            <a:ext cx="2162175" cy="2720975"/>
          </a:xfrm>
          <a:prstGeom prst="rect">
            <a:avLst/>
          </a:prstGeom>
          <a:noFill/>
          <a:ln w="9525">
            <a:noFill/>
            <a:miter lim="800000"/>
            <a:headEnd/>
            <a:tailEnd/>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sp>
        <p:nvSpPr>
          <p:cNvPr id="169986" name="Rectangle 4"/>
          <p:cNvSpPr>
            <a:spLocks noChangeArrowheads="1"/>
          </p:cNvSpPr>
          <p:nvPr/>
        </p:nvSpPr>
        <p:spPr bwMode="auto">
          <a:xfrm>
            <a:off x="2051050" y="0"/>
            <a:ext cx="6624638" cy="830263"/>
          </a:xfrm>
          <a:prstGeom prst="rect">
            <a:avLst/>
          </a:prstGeom>
          <a:noFill/>
          <a:ln w="9525">
            <a:noFill/>
            <a:miter lim="800000"/>
            <a:headEnd/>
            <a:tailEnd/>
          </a:ln>
        </p:spPr>
        <p:txBody>
          <a:bodyPr anchor="ctr">
            <a:spAutoFit/>
          </a:bodyPr>
          <a:lstStyle/>
          <a:p>
            <a:pPr indent="180975" algn="ctr"/>
            <a:r>
              <a:rPr lang="ru-RU" sz="2400" b="1">
                <a:latin typeface="Calibri" pitchFamily="34" charset="0"/>
                <a:cs typeface="Times New Roman" pitchFamily="18" charset="0"/>
              </a:rPr>
              <a:t>ГОСТ Р 51901.1-2002 МЕНЕДЖМЕНТ РИСКА. </a:t>
            </a:r>
          </a:p>
          <a:p>
            <a:pPr indent="180975" algn="ctr"/>
            <a:r>
              <a:rPr lang="ru-RU" sz="2400" b="1">
                <a:latin typeface="Calibri" pitchFamily="34" charset="0"/>
                <a:cs typeface="Times New Roman" pitchFamily="18" charset="0"/>
              </a:rPr>
              <a:t>Анализ риска технологических систем</a:t>
            </a:r>
            <a:endParaRPr lang="ru-RU" sz="2400">
              <a:latin typeface="Arial" charset="0"/>
            </a:endParaRPr>
          </a:p>
        </p:txBody>
      </p:sp>
      <p:graphicFrame>
        <p:nvGraphicFramePr>
          <p:cNvPr id="6" name="Таблица 5"/>
          <p:cNvGraphicFramePr>
            <a:graphicFrameLocks noGrp="1"/>
          </p:cNvGraphicFramePr>
          <p:nvPr/>
        </p:nvGraphicFramePr>
        <p:xfrm>
          <a:off x="2051050" y="830263"/>
          <a:ext cx="6921500" cy="5919153"/>
        </p:xfrm>
        <a:graphic>
          <a:graphicData uri="http://schemas.openxmlformats.org/drawingml/2006/table">
            <a:tbl>
              <a:tblPr/>
              <a:tblGrid>
                <a:gridCol w="1560368">
                  <a:extLst>
                    <a:ext uri="{9D8B030D-6E8A-4147-A177-3AD203B41FA5}">
                      <a16:colId xmlns:a16="http://schemas.microsoft.com/office/drawing/2014/main" val="20000"/>
                    </a:ext>
                  </a:extLst>
                </a:gridCol>
                <a:gridCol w="4021973">
                  <a:extLst>
                    <a:ext uri="{9D8B030D-6E8A-4147-A177-3AD203B41FA5}">
                      <a16:colId xmlns:a16="http://schemas.microsoft.com/office/drawing/2014/main" val="20001"/>
                    </a:ext>
                  </a:extLst>
                </a:gridCol>
                <a:gridCol w="1339159">
                  <a:extLst>
                    <a:ext uri="{9D8B030D-6E8A-4147-A177-3AD203B41FA5}">
                      <a16:colId xmlns:a16="http://schemas.microsoft.com/office/drawing/2014/main" val="20002"/>
                    </a:ext>
                  </a:extLst>
                </a:gridCol>
              </a:tblGrid>
              <a:tr h="2000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dirty="0">
                          <a:ln>
                            <a:noFill/>
                          </a:ln>
                          <a:solidFill>
                            <a:srgbClr val="002060"/>
                          </a:solidFill>
                          <a:effectLst/>
                          <a:latin typeface="Arial" charset="0"/>
                          <a:cs typeface="Times New Roman" pitchFamily="18" charset="0"/>
                        </a:rPr>
                        <a:t>Метод</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rgbClr val="002060"/>
                          </a:solidFill>
                          <a:effectLst/>
                          <a:latin typeface="Arial" charset="0"/>
                          <a:cs typeface="Times New Roman" pitchFamily="18" charset="0"/>
                        </a:rPr>
                        <a:t>Описание и применение</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rgbClr val="002060"/>
                          </a:solidFill>
                          <a:effectLst/>
                          <a:latin typeface="Arial" charset="0"/>
                          <a:cs typeface="Times New Roman" pitchFamily="18" charset="0"/>
                        </a:rPr>
                        <a:t>Ссылка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rgbClr val="002060"/>
                          </a:solidFill>
                          <a:effectLst/>
                          <a:latin typeface="Arial" charset="0"/>
                          <a:cs typeface="Times New Roman" pitchFamily="18" charset="0"/>
                        </a:rPr>
                        <a:t>Анализ «дерева событий»</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идентификации опасности и анализа частот, в которых используется индуктивный подход с целью перевода различных инициирующих событий в возможные исходы</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sng" strike="noStrike" cap="none" normalizeH="0" baseline="0">
                          <a:ln>
                            <a:noFill/>
                          </a:ln>
                          <a:solidFill>
                            <a:srgbClr val="002060"/>
                          </a:solidFill>
                          <a:effectLst/>
                          <a:latin typeface="Arial" charset="0"/>
                          <a:cs typeface="Times New Roman" pitchFamily="18" charset="0"/>
                          <a:hlinkClick r:id="rId2" tooltip="А.4 приложения А"/>
                        </a:rPr>
                        <a:t>А.4 приложения 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6588">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rgbClr val="002060"/>
                          </a:solidFill>
                          <a:effectLst/>
                          <a:latin typeface="Arial" charset="0"/>
                          <a:cs typeface="Times New Roman" pitchFamily="18" charset="0"/>
                        </a:rPr>
                        <a:t>Анализ видов и последствий отказов, а также Анализ видов, последствий и критичности отказов</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идентификации главных источников опасности и анализа частот, с помощью которых анализируются все аварийные состояния данной единицы оборудования на предмет их влияния как на другие компоненты, так и на систему в целом</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sng" strike="noStrike" cap="none" normalizeH="0" baseline="0" dirty="0">
                          <a:ln>
                            <a:noFill/>
                          </a:ln>
                          <a:solidFill>
                            <a:srgbClr val="002060"/>
                          </a:solidFill>
                          <a:effectLst/>
                          <a:latin typeface="Arial" charset="0"/>
                          <a:cs typeface="Times New Roman" pitchFamily="18" charset="0"/>
                          <a:hlinkClick r:id="rId2" tooltip="А.2 приложения А"/>
                        </a:rPr>
                        <a:t>А.2 приложения А</a:t>
                      </a:r>
                      <a:r>
                        <a:rPr kumimoji="0" lang="ru-RU" sz="1200" b="0" i="0" u="none" strike="noStrike" cap="none" normalizeH="0" baseline="0" dirty="0">
                          <a:ln>
                            <a:noFill/>
                          </a:ln>
                          <a:solidFill>
                            <a:srgbClr val="002060"/>
                          </a:solidFill>
                          <a:effectLst/>
                          <a:latin typeface="Arial" charset="0"/>
                          <a:cs typeface="Times New Roman" pitchFamily="18" charset="0"/>
                        </a:rPr>
                        <a:t>; МЭК 60812 </a:t>
                      </a:r>
                      <a:r>
                        <a:rPr kumimoji="0" lang="ru-RU" sz="1200" b="0" i="0" u="sng" strike="noStrike" cap="none" normalizeH="0" baseline="0" dirty="0">
                          <a:ln>
                            <a:noFill/>
                          </a:ln>
                          <a:solidFill>
                            <a:srgbClr val="002060"/>
                          </a:solidFill>
                          <a:effectLst/>
                          <a:latin typeface="Arial" charset="0"/>
                          <a:cs typeface="Times New Roman" pitchFamily="18" charset="0"/>
                          <a:hlinkClick r:id="rId2" tooltip="[1]"/>
                        </a:rPr>
                        <a:t>[1]</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8">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Анализ «дерева неисправностей»</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идентификации опасности и анализа частот нежелательного события, с помощью которых определяются все пути его реализации. Используется графическое изображение</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sng" strike="noStrike" cap="none" normalizeH="0" baseline="0">
                          <a:ln>
                            <a:noFill/>
                          </a:ln>
                          <a:solidFill>
                            <a:srgbClr val="002060"/>
                          </a:solidFill>
                          <a:effectLst/>
                          <a:latin typeface="Arial" charset="0"/>
                          <a:cs typeface="Times New Roman" pitchFamily="18" charset="0"/>
                          <a:hlinkClick r:id="rId2" tooltip="А.3 приложения А"/>
                        </a:rPr>
                        <a:t>А.3 приложения А</a:t>
                      </a:r>
                      <a:r>
                        <a:rPr kumimoji="0" lang="ru-RU" sz="1200" b="0" i="0" u="none" strike="noStrike" cap="none" normalizeH="0" baseline="0">
                          <a:ln>
                            <a:noFill/>
                          </a:ln>
                          <a:solidFill>
                            <a:srgbClr val="002060"/>
                          </a:solidFill>
                          <a:effectLst/>
                          <a:latin typeface="Arial" charset="0"/>
                          <a:cs typeface="Times New Roman" pitchFamily="18" charset="0"/>
                        </a:rPr>
                        <a:t>; МЭК 61025 </a:t>
                      </a:r>
                      <a:r>
                        <a:rPr kumimoji="0" lang="ru-RU" sz="1200" b="0" i="0" u="sng" strike="noStrike" cap="none" normalizeH="0" baseline="0">
                          <a:ln>
                            <a:noFill/>
                          </a:ln>
                          <a:solidFill>
                            <a:srgbClr val="002060"/>
                          </a:solidFill>
                          <a:effectLst/>
                          <a:latin typeface="Arial" charset="0"/>
                          <a:cs typeface="Times New Roman" pitchFamily="18" charset="0"/>
                          <a:hlinkClick r:id="rId2" tooltip="[2]"/>
                        </a:rPr>
                        <a:t>[2]</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6588">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Исследование опасности и связанных с ней проблем</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идентификации фундаментальной опасности, при помощи которых оценивается каждая часть системы с целью обнаружения того, могут ли происходить отклонения от назначения конструкции и какие последствия это может повлечь</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sng" strike="noStrike" cap="none" normalizeH="0" baseline="0">
                          <a:ln>
                            <a:noFill/>
                          </a:ln>
                          <a:solidFill>
                            <a:srgbClr val="002060"/>
                          </a:solidFill>
                          <a:effectLst/>
                          <a:latin typeface="Arial" charset="0"/>
                          <a:cs typeface="Times New Roman" pitchFamily="18" charset="0"/>
                          <a:hlinkClick r:id="rId2" tooltip="А.1 приложения А"/>
                        </a:rPr>
                        <a:t>А.1 приложения 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8488">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Анализ влияния человеческого фактора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анализа частот в области воздействия людей на показатели работы системы, при помощи которых определяется влияние ошибок человека на надежность</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sng" strike="noStrike" cap="none" normalizeH="0" baseline="0">
                          <a:ln>
                            <a:noFill/>
                          </a:ln>
                          <a:solidFill>
                            <a:srgbClr val="002060"/>
                          </a:solidFill>
                          <a:effectLst/>
                          <a:latin typeface="Arial" charset="0"/>
                          <a:cs typeface="Times New Roman" pitchFamily="18" charset="0"/>
                          <a:hlinkClick r:id="rId2" tooltip="А.6 приложения А"/>
                        </a:rPr>
                        <a:t>А.6 приложения 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Предварительный анализ опасности</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идентификации опасности и анализа частот, используемых на ранней стадии проектирования с целью идентификации опасностей и оценки их критичности</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sng" strike="noStrike" cap="none" normalizeH="0" baseline="0">
                          <a:ln>
                            <a:noFill/>
                          </a:ln>
                          <a:solidFill>
                            <a:srgbClr val="002060"/>
                          </a:solidFill>
                          <a:effectLst/>
                          <a:latin typeface="Arial" charset="0"/>
                          <a:cs typeface="Times New Roman" pitchFamily="18" charset="0"/>
                          <a:hlinkClick r:id="rId2" tooltip="А.5 приложения А"/>
                        </a:rPr>
                        <a:t>А.5 приложения 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98488">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Структурная схема надежности</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9388"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анализа частот, на основе которых создается модель системы и ее резервов для оценки надежности системы</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rgbClr val="002060"/>
                          </a:solidFill>
                          <a:effectLst/>
                          <a:latin typeface="Arial" charset="0"/>
                          <a:cs typeface="Times New Roman" pitchFamily="18" charset="0"/>
                        </a:rPr>
                        <a:t>МЭК 61078 </a:t>
                      </a:r>
                      <a:r>
                        <a:rPr kumimoji="0" lang="ru-RU" sz="1200" b="0" i="0" u="sng" strike="noStrike" cap="none" normalizeH="0" baseline="0" dirty="0">
                          <a:ln>
                            <a:noFill/>
                          </a:ln>
                          <a:solidFill>
                            <a:srgbClr val="002060"/>
                          </a:solidFill>
                          <a:effectLst/>
                          <a:latin typeface="Arial" charset="0"/>
                          <a:cs typeface="Times New Roman" pitchFamily="18" charset="0"/>
                          <a:hlinkClick r:id="rId2" tooltip="[3]"/>
                        </a:rPr>
                        <a:t>[3]</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70025" name="Rectangle 1"/>
          <p:cNvSpPr>
            <a:spLocks noChangeArrowheads="1"/>
          </p:cNvSpPr>
          <p:nvPr/>
        </p:nvSpPr>
        <p:spPr bwMode="auto">
          <a:xfrm>
            <a:off x="128588" y="2444750"/>
            <a:ext cx="1922462" cy="2246313"/>
          </a:xfrm>
          <a:prstGeom prst="rect">
            <a:avLst/>
          </a:prstGeom>
          <a:noFill/>
          <a:ln w="9525">
            <a:noFill/>
            <a:miter lim="800000"/>
            <a:headEnd/>
            <a:tailEnd/>
          </a:ln>
        </p:spPr>
        <p:txBody>
          <a:bodyPr anchor="ctr">
            <a:spAutoFit/>
          </a:bodyPr>
          <a:lstStyle/>
          <a:p>
            <a:pPr indent="180975" algn="just"/>
            <a:r>
              <a:rPr lang="ru-RU" b="1">
                <a:latin typeface="Calibri" pitchFamily="34" charset="0"/>
                <a:cs typeface="Times New Roman" pitchFamily="18" charset="0"/>
              </a:rPr>
              <a:t>6.3.1 Идентификация опасности</a:t>
            </a:r>
          </a:p>
          <a:p>
            <a:pPr indent="180975" algn="just"/>
            <a:r>
              <a:rPr lang="ru-RU" b="1">
                <a:latin typeface="Arial" charset="0"/>
              </a:rPr>
              <a:t>Таблица 1</a:t>
            </a:r>
          </a:p>
          <a:p>
            <a:pPr indent="180975" algn="just"/>
            <a:r>
              <a:rPr lang="ru-RU" b="1">
                <a:latin typeface="Arial" charset="0"/>
              </a:rPr>
              <a:t>Перечень наиболее распространенных методов, используемых при анализе риска</a:t>
            </a:r>
            <a:endParaRPr lang="ru-RU">
              <a:latin typeface="Arial" charset="0"/>
            </a:endParaRPr>
          </a:p>
          <a:p>
            <a:pPr indent="180975" algn="just"/>
            <a:endParaRPr lang="ru-RU">
              <a:latin typeface="Arial" charset="0"/>
            </a:endParaRPr>
          </a:p>
        </p:txBody>
      </p:sp>
      <p:pic>
        <p:nvPicPr>
          <p:cNvPr id="170026" name="Picture 3" descr="http://utmagazine.ru/uploads/content/%D0%9F%D0%A4-2.png"/>
          <p:cNvPicPr>
            <a:picLocks noChangeAspect="1" noChangeArrowheads="1"/>
          </p:cNvPicPr>
          <p:nvPr/>
        </p:nvPicPr>
        <p:blipFill>
          <a:blip r:embed="rId3"/>
          <a:srcRect/>
          <a:stretch>
            <a:fillRect/>
          </a:stretch>
        </p:blipFill>
        <p:spPr bwMode="auto">
          <a:xfrm>
            <a:off x="128588" y="117475"/>
            <a:ext cx="2160587" cy="19939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ext Box 9"/>
          <p:cNvSpPr txBox="1">
            <a:spLocks noChangeArrowheads="1"/>
          </p:cNvSpPr>
          <p:nvPr/>
        </p:nvSpPr>
        <p:spPr bwMode="auto">
          <a:xfrm>
            <a:off x="7740650" y="6491288"/>
            <a:ext cx="184150" cy="366712"/>
          </a:xfrm>
          <a:prstGeom prst="rect">
            <a:avLst/>
          </a:prstGeom>
          <a:noFill/>
          <a:ln w="9525">
            <a:noFill/>
            <a:miter lim="800000"/>
            <a:headEnd/>
            <a:tailEnd/>
          </a:ln>
        </p:spPr>
        <p:txBody>
          <a:bodyPr wrap="none">
            <a:spAutoFit/>
          </a:bodyPr>
          <a:lstStyle/>
          <a:p>
            <a:endParaRPr lang="ru-RU" sz="1800">
              <a:solidFill>
                <a:schemeClr val="tx1"/>
              </a:solidFill>
              <a:latin typeface="Arial" charset="0"/>
            </a:endParaRPr>
          </a:p>
        </p:txBody>
      </p:sp>
      <p:pic>
        <p:nvPicPr>
          <p:cNvPr id="171010" name="Picture 2" descr="http://portal-wm.ru/_pu/2/61366702.jpg"/>
          <p:cNvPicPr>
            <a:picLocks noChangeAspect="1" noChangeArrowheads="1"/>
          </p:cNvPicPr>
          <p:nvPr/>
        </p:nvPicPr>
        <p:blipFill>
          <a:blip r:embed="rId2"/>
          <a:srcRect/>
          <a:stretch>
            <a:fillRect/>
          </a:stretch>
        </p:blipFill>
        <p:spPr bwMode="auto">
          <a:xfrm>
            <a:off x="0" y="5834063"/>
            <a:ext cx="1935163" cy="1023937"/>
          </a:xfrm>
          <a:prstGeom prst="rect">
            <a:avLst/>
          </a:prstGeom>
          <a:noFill/>
          <a:ln w="9525">
            <a:noFill/>
            <a:miter lim="800000"/>
            <a:headEnd/>
            <a:tailEnd/>
          </a:ln>
        </p:spPr>
      </p:pic>
      <p:sp>
        <p:nvSpPr>
          <p:cNvPr id="171011" name="Rectangle 4"/>
          <p:cNvSpPr>
            <a:spLocks noChangeArrowheads="1"/>
          </p:cNvSpPr>
          <p:nvPr/>
        </p:nvSpPr>
        <p:spPr bwMode="auto">
          <a:xfrm>
            <a:off x="0" y="123825"/>
            <a:ext cx="7302500" cy="584200"/>
          </a:xfrm>
          <a:prstGeom prst="rect">
            <a:avLst/>
          </a:prstGeom>
          <a:noFill/>
          <a:ln w="9525">
            <a:noFill/>
            <a:miter lim="800000"/>
            <a:headEnd/>
            <a:tailEnd/>
          </a:ln>
        </p:spPr>
        <p:txBody>
          <a:bodyPr anchor="ctr">
            <a:spAutoFit/>
          </a:bodyPr>
          <a:lstStyle/>
          <a:p>
            <a:pPr indent="180975" algn="ctr"/>
            <a:r>
              <a:rPr lang="ru-RU" sz="1600" b="1">
                <a:latin typeface="Calibri" pitchFamily="34" charset="0"/>
                <a:cs typeface="Times New Roman" pitchFamily="18" charset="0"/>
              </a:rPr>
              <a:t>ГОСТ Р 51901.1-2002 МЕНЕДЖМЕНТ РИСКА. </a:t>
            </a:r>
          </a:p>
          <a:p>
            <a:pPr indent="180975" algn="ctr"/>
            <a:r>
              <a:rPr lang="ru-RU" sz="1600" b="1">
                <a:latin typeface="Calibri" pitchFamily="34" charset="0"/>
                <a:cs typeface="Times New Roman" pitchFamily="18" charset="0"/>
              </a:rPr>
              <a:t>Анализ риска технологических систем</a:t>
            </a:r>
            <a:endParaRPr lang="ru-RU" sz="1600">
              <a:latin typeface="Arial" charset="0"/>
            </a:endParaRPr>
          </a:p>
        </p:txBody>
      </p:sp>
      <p:sp>
        <p:nvSpPr>
          <p:cNvPr id="171012" name="Rectangle 1"/>
          <p:cNvSpPr>
            <a:spLocks noChangeArrowheads="1"/>
          </p:cNvSpPr>
          <p:nvPr/>
        </p:nvSpPr>
        <p:spPr bwMode="auto">
          <a:xfrm>
            <a:off x="107950" y="1254125"/>
            <a:ext cx="1827213" cy="2030413"/>
          </a:xfrm>
          <a:prstGeom prst="rect">
            <a:avLst/>
          </a:prstGeom>
          <a:noFill/>
          <a:ln w="9525">
            <a:noFill/>
            <a:miter lim="800000"/>
            <a:headEnd/>
            <a:tailEnd/>
          </a:ln>
        </p:spPr>
        <p:txBody>
          <a:bodyPr anchor="ctr">
            <a:spAutoFit/>
          </a:bodyPr>
          <a:lstStyle/>
          <a:p>
            <a:pPr indent="180975" algn="just"/>
            <a:r>
              <a:rPr lang="ru-RU" b="1">
                <a:latin typeface="Calibri" pitchFamily="34" charset="0"/>
                <a:cs typeface="Times New Roman" pitchFamily="18" charset="0"/>
              </a:rPr>
              <a:t>6.3.1 Идентификация опасности</a:t>
            </a:r>
          </a:p>
          <a:p>
            <a:pPr indent="180975" algn="ctr"/>
            <a:r>
              <a:rPr lang="ru-RU" b="1">
                <a:latin typeface="Arial" charset="0"/>
              </a:rPr>
              <a:t>Таблица 2 Перечень дополнительных методов, используемых при анализе риска</a:t>
            </a:r>
            <a:endParaRPr lang="ru-RU">
              <a:latin typeface="Arial" charset="0"/>
            </a:endParaRPr>
          </a:p>
          <a:p>
            <a:pPr indent="180975" algn="just"/>
            <a:endParaRPr lang="ru-RU">
              <a:latin typeface="Arial" charset="0"/>
            </a:endParaRPr>
          </a:p>
        </p:txBody>
      </p:sp>
      <p:graphicFrame>
        <p:nvGraphicFramePr>
          <p:cNvPr id="8" name="Таблица 7"/>
          <p:cNvGraphicFramePr>
            <a:graphicFrameLocks noGrp="1"/>
          </p:cNvGraphicFramePr>
          <p:nvPr/>
        </p:nvGraphicFramePr>
        <p:xfrm>
          <a:off x="2195513" y="765175"/>
          <a:ext cx="6769100" cy="5486400"/>
        </p:xfrm>
        <a:graphic>
          <a:graphicData uri="http://schemas.openxmlformats.org/drawingml/2006/table">
            <a:tbl>
              <a:tblPr/>
              <a:tblGrid>
                <a:gridCol w="1574800">
                  <a:extLst>
                    <a:ext uri="{9D8B030D-6E8A-4147-A177-3AD203B41FA5}">
                      <a16:colId xmlns:a16="http://schemas.microsoft.com/office/drawing/2014/main" val="20000"/>
                    </a:ext>
                  </a:extLst>
                </a:gridCol>
                <a:gridCol w="51943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dirty="0">
                          <a:ln>
                            <a:noFill/>
                          </a:ln>
                          <a:solidFill>
                            <a:srgbClr val="002060"/>
                          </a:solidFill>
                          <a:effectLst/>
                          <a:latin typeface="Arial" charset="0"/>
                          <a:cs typeface="Times New Roman" pitchFamily="18" charset="0"/>
                        </a:rPr>
                        <a:t>Метод</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a:ln>
                            <a:noFill/>
                          </a:ln>
                          <a:solidFill>
                            <a:srgbClr val="002060"/>
                          </a:solidFill>
                          <a:effectLst/>
                          <a:latin typeface="Arial" charset="0"/>
                          <a:cs typeface="Times New Roman" pitchFamily="18" charset="0"/>
                        </a:rPr>
                        <a:t>Описание и применение</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rgbClr val="002060"/>
                          </a:solidFill>
                          <a:effectLst/>
                          <a:latin typeface="Arial" charset="0"/>
                          <a:cs typeface="Times New Roman" pitchFamily="18" charset="0"/>
                        </a:rPr>
                        <a:t>Классификация групп риска по категориям</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Классификация видов риска по категориям в порядке приоритетности групп риска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Ведомости проверок</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Составление перечней типовых опасных веществ и/или   источников потенциальных аварий, которые нуждаются в рассмотрении. С их помощью можно оценивать соответствие законам и стандартам</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Общий анализ отказов</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Метод, предназначенный для определения того, возможен ли случайный отказ (авария) ряда различных частей или компонентов в рамках системы, и оценки его вероятного суммарного эффекта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Модели описания последствий</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Оценка воздействия события на людей, имущество или окружающую среду. Используются как упрощенные аналитические подходы, так и сложные компьютерные модели</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Метод  Делфи</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Способ комбинирования экспертных оценок, которые могут обеспечить проведение анализа частоты, моделирования последствий и/или оценивания риска</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Индексы опасности</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rgbClr val="002060"/>
                          </a:solidFill>
                          <a:effectLst/>
                          <a:latin typeface="Arial" charset="0"/>
                          <a:cs typeface="Times New Roman" pitchFamily="18" charset="0"/>
                        </a:rPr>
                        <a:t>Совокупность приемов по идентификации/оценке опасности, которые могут быть использованы для ранжирования различных вариантов системы и определения менее опасных вариантов</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Метод Монте-Карло и другие методы моделирования</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анализа частоты, в которых используется модель системы для оценки вариаций в исходных условиях и допущениях</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Парные сопоставления</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Способ оценки и ранжирования совокупности рисков путем попарного сравнения</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Обзор данных по эксплуатации</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Совокупность приемов, которые могут быть использованы для выявления потенциально проблемных областей, а также для анализа частоты, основанного на данных об авариях, данных о надежности и прочее</a:t>
                      </a:r>
                      <a:endParaRPr kumimoji="0" lang="ru-RU" sz="1200" b="0" i="0" u="none" strike="noStrike" cap="none" normalizeH="0" baseline="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a:ln>
                            <a:noFill/>
                          </a:ln>
                          <a:solidFill>
                            <a:srgbClr val="002060"/>
                          </a:solidFill>
                          <a:effectLst/>
                          <a:latin typeface="Arial" charset="0"/>
                          <a:cs typeface="Times New Roman" pitchFamily="18" charset="0"/>
                        </a:rPr>
                        <a:t>Анализ скрытых процессов</a:t>
                      </a: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200" b="0" i="0" u="none" strike="noStrike" cap="none" normalizeH="0" baseline="0" dirty="0">
                          <a:ln>
                            <a:noFill/>
                          </a:ln>
                          <a:solidFill>
                            <a:srgbClr val="002060"/>
                          </a:solidFill>
                          <a:effectLst/>
                          <a:latin typeface="Arial" charset="0"/>
                          <a:cs typeface="Times New Roman" pitchFamily="18" charset="0"/>
                        </a:rPr>
                        <a:t>Метод выявления скрытых процессов и путей, которые могли бы привести к наступлению непредвиденных событий</a:t>
                      </a:r>
                      <a:endParaRPr kumimoji="0" lang="ru-RU" sz="1200" b="0" i="0" u="none" strike="noStrike" cap="none" normalizeH="0" baseline="0" dirty="0">
                        <a:ln>
                          <a:noFill/>
                        </a:ln>
                        <a:solidFill>
                          <a:srgbClr val="002060"/>
                        </a:solidFill>
                        <a:effectLst/>
                        <a:latin typeface="Arial" charset="0"/>
                        <a:ea typeface="Calibri" pitchFamily="34" charset="0"/>
                        <a:cs typeface="Times New Roman" pitchFamily="18" charset="0"/>
                      </a:endParaRPr>
                    </a:p>
                  </a:txBody>
                  <a:tcPr marL="51435" marR="5143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8"/>
          <p:cNvSpPr>
            <a:spLocks noChangeArrowheads="1"/>
          </p:cNvSpPr>
          <p:nvPr/>
        </p:nvSpPr>
        <p:spPr bwMode="auto">
          <a:xfrm>
            <a:off x="220663" y="290513"/>
            <a:ext cx="5173662" cy="1200150"/>
          </a:xfrm>
          <a:prstGeom prst="rect">
            <a:avLst/>
          </a:prstGeom>
          <a:noFill/>
          <a:ln w="9525">
            <a:noFill/>
            <a:miter lim="800000"/>
            <a:headEnd/>
            <a:tailEnd/>
          </a:ln>
        </p:spPr>
        <p:txBody>
          <a:bodyPr anchor="ctr">
            <a:spAutoFit/>
          </a:bodyPr>
          <a:lstStyle/>
          <a:p>
            <a:pPr indent="180975" algn="ctr"/>
            <a:r>
              <a:rPr lang="ru-RU" sz="2400" b="1" dirty="0">
                <a:solidFill>
                  <a:srgbClr val="000000"/>
                </a:solidFill>
                <a:latin typeface="Calibri" pitchFamily="34" charset="0"/>
                <a:cs typeface="Times New Roman" pitchFamily="18" charset="0"/>
              </a:rPr>
              <a:t>ГОСТ Р ИСО/МЭК 31010-2011 </a:t>
            </a:r>
          </a:p>
          <a:p>
            <a:pPr indent="180975" algn="ctr"/>
            <a:r>
              <a:rPr lang="ru-RU" sz="2400" b="1" dirty="0" smtClean="0">
                <a:solidFill>
                  <a:srgbClr val="000000"/>
                </a:solidFill>
                <a:latin typeface="Calibri" pitchFamily="34" charset="0"/>
                <a:cs typeface="Times New Roman" pitchFamily="18" charset="0"/>
              </a:rPr>
              <a:t>«Менеджмент </a:t>
            </a:r>
            <a:r>
              <a:rPr lang="ru-RU" sz="2400" b="1" dirty="0">
                <a:solidFill>
                  <a:srgbClr val="000000"/>
                </a:solidFill>
                <a:latin typeface="Calibri" pitchFamily="34" charset="0"/>
                <a:cs typeface="Times New Roman" pitchFamily="18" charset="0"/>
              </a:rPr>
              <a:t>риска. Методы оценки </a:t>
            </a:r>
            <a:r>
              <a:rPr lang="ru-RU" sz="2400" b="1" dirty="0" smtClean="0">
                <a:solidFill>
                  <a:srgbClr val="000000"/>
                </a:solidFill>
                <a:latin typeface="Calibri" pitchFamily="34" charset="0"/>
                <a:cs typeface="Times New Roman" pitchFamily="18" charset="0"/>
              </a:rPr>
              <a:t>риска»</a:t>
            </a:r>
            <a:endParaRPr lang="ru-RU" sz="2400" b="1" dirty="0">
              <a:solidFill>
                <a:srgbClr val="000000"/>
              </a:solidFill>
              <a:latin typeface="Calibri" pitchFamily="34" charset="0"/>
              <a:cs typeface="Times New Roman" pitchFamily="18" charset="0"/>
            </a:endParaRPr>
          </a:p>
        </p:txBody>
      </p:sp>
      <p:pic>
        <p:nvPicPr>
          <p:cNvPr id="172034" name="Picture 4" descr="http://games4business.ru/wp-content/uploads/%D0%BE%D1%86%D0%B5%D0%BD%D0%BA%D0%B05.jpg"/>
          <p:cNvPicPr>
            <a:picLocks noChangeAspect="1" noChangeArrowheads="1"/>
          </p:cNvPicPr>
          <p:nvPr/>
        </p:nvPicPr>
        <p:blipFill>
          <a:blip r:embed="rId2"/>
          <a:srcRect/>
          <a:stretch>
            <a:fillRect/>
          </a:stretch>
        </p:blipFill>
        <p:spPr bwMode="auto">
          <a:xfrm>
            <a:off x="3525838" y="3311525"/>
            <a:ext cx="2698750" cy="2335213"/>
          </a:xfrm>
          <a:prstGeom prst="rect">
            <a:avLst/>
          </a:prstGeom>
          <a:noFill/>
          <a:ln w="9525">
            <a:noFill/>
            <a:miter lim="800000"/>
            <a:headEnd/>
            <a:tailEnd/>
          </a:ln>
        </p:spPr>
      </p:pic>
      <p:pic>
        <p:nvPicPr>
          <p:cNvPr id="172035" name="Picture 6" descr="http://kodkrovi.ru/wp-content/uploads/2015/08/trombocitov_v_analize_krovi_2-e1440861724508.jpg"/>
          <p:cNvPicPr>
            <a:picLocks noChangeAspect="1" noChangeArrowheads="1"/>
          </p:cNvPicPr>
          <p:nvPr/>
        </p:nvPicPr>
        <p:blipFill>
          <a:blip r:embed="rId3"/>
          <a:srcRect/>
          <a:stretch>
            <a:fillRect/>
          </a:stretch>
        </p:blipFill>
        <p:spPr bwMode="auto">
          <a:xfrm>
            <a:off x="220663" y="1697038"/>
            <a:ext cx="2841625" cy="2159000"/>
          </a:xfrm>
          <a:prstGeom prst="rect">
            <a:avLst/>
          </a:prstGeom>
          <a:noFill/>
          <a:ln w="9525">
            <a:noFill/>
            <a:miter lim="800000"/>
            <a:headEnd/>
            <a:tailEnd/>
          </a:ln>
        </p:spPr>
      </p:pic>
      <p:pic>
        <p:nvPicPr>
          <p:cNvPr id="172036" name="Picture 8" descr="http://new.vivatec.ru/upload/medialibrary/cd6/podderzhka-spetsialista.jpg"/>
          <p:cNvPicPr>
            <a:picLocks noChangeAspect="1" noChangeArrowheads="1"/>
          </p:cNvPicPr>
          <p:nvPr/>
        </p:nvPicPr>
        <p:blipFill>
          <a:blip r:embed="rId4"/>
          <a:srcRect/>
          <a:stretch>
            <a:fillRect/>
          </a:stretch>
        </p:blipFill>
        <p:spPr bwMode="auto">
          <a:xfrm>
            <a:off x="6937375" y="3856038"/>
            <a:ext cx="2052638" cy="2674937"/>
          </a:xfrm>
          <a:prstGeom prst="rect">
            <a:avLst/>
          </a:prstGeom>
          <a:noFill/>
          <a:ln w="9525">
            <a:noFill/>
            <a:miter lim="800000"/>
            <a:headEnd/>
            <a:tailEnd/>
          </a:ln>
        </p:spPr>
      </p:pic>
      <p:pic>
        <p:nvPicPr>
          <p:cNvPr id="172037" name="Picture 10" descr="http://celdi.ru/wp-content/uploads/2014/05/analizy-na-gormony-shhitovidnoj-zhelezy.jpg"/>
          <p:cNvPicPr>
            <a:picLocks noChangeAspect="1" noChangeArrowheads="1"/>
          </p:cNvPicPr>
          <p:nvPr/>
        </p:nvPicPr>
        <p:blipFill>
          <a:blip r:embed="rId5"/>
          <a:srcRect/>
          <a:stretch>
            <a:fillRect/>
          </a:stretch>
        </p:blipFill>
        <p:spPr bwMode="auto">
          <a:xfrm>
            <a:off x="5984875" y="304800"/>
            <a:ext cx="2693988" cy="2395538"/>
          </a:xfrm>
          <a:prstGeom prst="rect">
            <a:avLst/>
          </a:prstGeom>
          <a:noFill/>
          <a:ln w="9525">
            <a:noFill/>
            <a:miter lim="800000"/>
            <a:headEnd/>
            <a:tailEnd/>
          </a:ln>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7" name="Picture 2" descr="http://sundukof.ru/stock/img/zarabotki-v-internete-bannernaya-reklama-57052-small.jpg"/>
          <p:cNvPicPr>
            <a:picLocks noChangeAspect="1" noChangeArrowheads="1"/>
          </p:cNvPicPr>
          <p:nvPr/>
        </p:nvPicPr>
        <p:blipFill>
          <a:blip r:embed="rId2"/>
          <a:srcRect/>
          <a:stretch>
            <a:fillRect/>
          </a:stretch>
        </p:blipFill>
        <p:spPr bwMode="auto">
          <a:xfrm>
            <a:off x="0" y="0"/>
            <a:ext cx="1403350" cy="1379538"/>
          </a:xfrm>
          <a:prstGeom prst="rect">
            <a:avLst/>
          </a:prstGeom>
          <a:noFill/>
          <a:ln w="9525">
            <a:noFill/>
            <a:miter lim="800000"/>
            <a:headEnd/>
            <a:tailEnd/>
          </a:ln>
        </p:spPr>
      </p:pic>
      <p:sp>
        <p:nvSpPr>
          <p:cNvPr id="10" name="Нижний колонтитул 2"/>
          <p:cNvSpPr>
            <a:spLocks noGrp="1"/>
          </p:cNvSpPr>
          <p:nvPr>
            <p:ph type="ftr" sz="quarter" idx="11"/>
          </p:nvPr>
        </p:nvSpPr>
        <p:spPr>
          <a:xfrm>
            <a:off x="3048000" y="6356350"/>
            <a:ext cx="3086100" cy="365125"/>
          </a:xfrm>
        </p:spPr>
        <p:txBody>
          <a:bodyPr/>
          <a:lstStyle/>
          <a:p>
            <a:pPr>
              <a:defRPr/>
            </a:pPr>
            <a:r>
              <a:rPr lang="ru-RU" dirty="0"/>
              <a:t>НАЦОТ «Практика оценки риска на производстве» 2016</a:t>
            </a:r>
          </a:p>
        </p:txBody>
      </p:sp>
      <p:graphicFrame>
        <p:nvGraphicFramePr>
          <p:cNvPr id="6" name="Таблица 5"/>
          <p:cNvGraphicFramePr>
            <a:graphicFrameLocks noGrp="1"/>
          </p:cNvGraphicFramePr>
          <p:nvPr/>
        </p:nvGraphicFramePr>
        <p:xfrm>
          <a:off x="179388" y="1341438"/>
          <a:ext cx="8784976" cy="5588985"/>
        </p:xfrm>
        <a:graphic>
          <a:graphicData uri="http://schemas.openxmlformats.org/drawingml/2006/table">
            <a:tbl>
              <a:tblPr/>
              <a:tblGrid>
                <a:gridCol w="1928135">
                  <a:extLst>
                    <a:ext uri="{9D8B030D-6E8A-4147-A177-3AD203B41FA5}">
                      <a16:colId xmlns:a16="http://schemas.microsoft.com/office/drawing/2014/main" val="20000"/>
                    </a:ext>
                  </a:extLst>
                </a:gridCol>
                <a:gridCol w="1281142">
                  <a:extLst>
                    <a:ext uri="{9D8B030D-6E8A-4147-A177-3AD203B41FA5}">
                      <a16:colId xmlns:a16="http://schemas.microsoft.com/office/drawing/2014/main" val="20001"/>
                    </a:ext>
                  </a:extLst>
                </a:gridCol>
                <a:gridCol w="1098122">
                  <a:extLst>
                    <a:ext uri="{9D8B030D-6E8A-4147-A177-3AD203B41FA5}">
                      <a16:colId xmlns:a16="http://schemas.microsoft.com/office/drawing/2014/main" val="20002"/>
                    </a:ext>
                  </a:extLst>
                </a:gridCol>
                <a:gridCol w="1098122">
                  <a:extLst>
                    <a:ext uri="{9D8B030D-6E8A-4147-A177-3AD203B41FA5}">
                      <a16:colId xmlns:a16="http://schemas.microsoft.com/office/drawing/2014/main" val="20003"/>
                    </a:ext>
                  </a:extLst>
                </a:gridCol>
                <a:gridCol w="1145411">
                  <a:extLst>
                    <a:ext uri="{9D8B030D-6E8A-4147-A177-3AD203B41FA5}">
                      <a16:colId xmlns:a16="http://schemas.microsoft.com/office/drawing/2014/main" val="20004"/>
                    </a:ext>
                  </a:extLst>
                </a:gridCol>
                <a:gridCol w="1078797">
                  <a:extLst>
                    <a:ext uri="{9D8B030D-6E8A-4147-A177-3AD203B41FA5}">
                      <a16:colId xmlns:a16="http://schemas.microsoft.com/office/drawing/2014/main" val="20005"/>
                    </a:ext>
                  </a:extLst>
                </a:gridCol>
                <a:gridCol w="1155247">
                  <a:extLst>
                    <a:ext uri="{9D8B030D-6E8A-4147-A177-3AD203B41FA5}">
                      <a16:colId xmlns:a16="http://schemas.microsoft.com/office/drawing/2014/main" val="20006"/>
                    </a:ext>
                  </a:extLst>
                </a:gridCol>
              </a:tblGrid>
              <a:tr h="332835">
                <a:tc rowSpan="3">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FFFFFF"/>
                          </a:solidFill>
                          <a:effectLst/>
                          <a:latin typeface="+mn-lt"/>
                        </a:rPr>
                        <a:t>Наименование метода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6">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FFFFFF"/>
                          </a:solidFill>
                          <a:effectLst/>
                          <a:latin typeface="+mn-lt"/>
                        </a:rPr>
                        <a:t>Процесс оценки риска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482539">
                <a:tc vMerge="1">
                  <a:txBody>
                    <a:bodyPr/>
                    <a:lstStyle/>
                    <a:p>
                      <a:endParaRPr lang="ru-RU"/>
                    </a:p>
                  </a:txBody>
                  <a:tcPr/>
                </a:tc>
                <a:tc rowSpan="2">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Идентификация риска</a:t>
                      </a:r>
                    </a:p>
                  </a:txBody>
                  <a:tcPr marL="68580" marR="6858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gridSpan="3">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Анализ риска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hMerge="1">
                  <a:txBody>
                    <a:bodyPr/>
                    <a:lstStyle/>
                    <a:p>
                      <a:endParaRPr lang="ru-RU"/>
                    </a:p>
                  </a:txBody>
                  <a:tcPr/>
                </a:tc>
                <a:tc hMerge="1">
                  <a:txBody>
                    <a:bodyPr/>
                    <a:lstStyle/>
                    <a:p>
                      <a:endParaRPr lang="ru-RU"/>
                    </a:p>
                  </a:txBody>
                  <a:tcPr/>
                </a:tc>
                <a:tc rowSpan="2">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Сравни</a:t>
                      </a:r>
                      <a:endParaRPr kumimoji="0" lang="en-US" sz="1500" b="0" i="0" u="none" strike="noStrike" cap="none" normalizeH="0" baseline="0">
                        <a:ln>
                          <a:noFill/>
                        </a:ln>
                        <a:solidFill>
                          <a:srgbClr val="006E6B"/>
                        </a:solidFill>
                        <a:effectLst/>
                        <a:latin typeface="+mn-lt"/>
                      </a:endParaRPr>
                    </a:p>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тельная оценка риска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rowSpan="2">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Номер приложения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extLst>
                  <a:ext uri="{0D108BD9-81ED-4DB2-BD59-A6C34878D82A}">
                    <a16:rowId xmlns:a16="http://schemas.microsoft.com/office/drawing/2014/main" val="10001"/>
                  </a:ext>
                </a:extLst>
              </a:tr>
              <a:tr h="1187787">
                <a:tc vMerge="1">
                  <a:txBody>
                    <a:bodyPr/>
                    <a:lstStyle/>
                    <a:p>
                      <a:endParaRPr lang="ru-RU"/>
                    </a:p>
                  </a:txBody>
                  <a:tcPr/>
                </a:tc>
                <a:tc vMerge="1">
                  <a:txBody>
                    <a:bodyPr/>
                    <a:lstStyle/>
                    <a:p>
                      <a:endParaRPr lang="ru-RU"/>
                    </a:p>
                  </a:txBody>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Последствия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Вероятность</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Уровень риска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10002"/>
                  </a:ext>
                </a:extLst>
              </a:tr>
              <a:tr h="474291">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Мозговой штурм</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NA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dirty="0">
                          <a:ln>
                            <a:noFill/>
                          </a:ln>
                          <a:solidFill>
                            <a:srgbClr val="006E6B"/>
                          </a:solidFill>
                          <a:effectLst/>
                          <a:latin typeface="+mn-lt"/>
                        </a:rPr>
                        <a:t>NA</a:t>
                      </a:r>
                      <a:endParaRPr kumimoji="0" lang="ru-RU" sz="1500" b="0" i="0" u="none" strike="noStrike" cap="none" normalizeH="0" baseline="0" dirty="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NA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NA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B01</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extLst>
                  <a:ext uri="{0D108BD9-81ED-4DB2-BD59-A6C34878D82A}">
                    <a16:rowId xmlns:a16="http://schemas.microsoft.com/office/drawing/2014/main" val="10003"/>
                  </a:ext>
                </a:extLst>
              </a:tr>
              <a:tr h="1046054">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Анализ опасностей и критических контрольных точек (НАССР)</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dirty="0">
                          <a:ln>
                            <a:noFill/>
                          </a:ln>
                          <a:solidFill>
                            <a:srgbClr val="006E6B"/>
                          </a:solidFill>
                          <a:effectLst/>
                          <a:latin typeface="+mn-lt"/>
                        </a:rPr>
                        <a:t>SA</a:t>
                      </a:r>
                      <a:endParaRPr kumimoji="0" lang="ru-RU" sz="1500" b="0" i="0" u="none" strike="noStrike" cap="none" normalizeH="0" baseline="0" dirty="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NA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dirty="0">
                          <a:ln>
                            <a:noFill/>
                          </a:ln>
                          <a:solidFill>
                            <a:srgbClr val="006E6B"/>
                          </a:solidFill>
                          <a:effectLst/>
                          <a:latin typeface="+mn-lt"/>
                        </a:rPr>
                        <a:t>NA</a:t>
                      </a:r>
                      <a:endParaRPr kumimoji="0" lang="ru-RU" sz="1500" b="0" i="0" u="none" strike="noStrike" cap="none" normalizeH="0" baseline="0" dirty="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NA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B07</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extLst>
                  <a:ext uri="{0D108BD9-81ED-4DB2-BD59-A6C34878D82A}">
                    <a16:rowId xmlns:a16="http://schemas.microsoft.com/office/drawing/2014/main" val="10004"/>
                  </a:ext>
                </a:extLst>
              </a:tr>
              <a:tr h="1046054">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Структурный анализ сценариев методом «Что, если?» </a:t>
                      </a:r>
                      <a:r>
                        <a:rPr kumimoji="0" lang="en-US" sz="1500" b="0" i="0" u="none" strike="noStrike" cap="none" normalizeH="0" baseline="0">
                          <a:ln>
                            <a:noFill/>
                          </a:ln>
                          <a:solidFill>
                            <a:srgbClr val="006E6B"/>
                          </a:solidFill>
                          <a:effectLst/>
                          <a:latin typeface="+mn-lt"/>
                        </a:rPr>
                        <a:t>(SWIFT)</a:t>
                      </a:r>
                      <a:r>
                        <a:rPr kumimoji="0" lang="ru-RU" sz="1500" b="0" i="0" u="none" strike="noStrike" cap="none" normalizeH="0" baseline="0">
                          <a:ln>
                            <a:noFill/>
                          </a:ln>
                          <a:solidFill>
                            <a:srgbClr val="006E6B"/>
                          </a:solidFill>
                          <a:effectLst/>
                          <a:latin typeface="+mn-lt"/>
                        </a:rPr>
                        <a:t> </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B09</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extLst>
                  <a:ext uri="{0D108BD9-81ED-4DB2-BD59-A6C34878D82A}">
                    <a16:rowId xmlns:a16="http://schemas.microsoft.com/office/drawing/2014/main" val="10005"/>
                  </a:ext>
                </a:extLst>
              </a:tr>
              <a:tr h="831039">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Анализ дерева решений</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dirty="0">
                          <a:ln>
                            <a:noFill/>
                          </a:ln>
                          <a:solidFill>
                            <a:srgbClr val="006E6B"/>
                          </a:solidFill>
                          <a:effectLst/>
                          <a:latin typeface="+mn-lt"/>
                        </a:rPr>
                        <a:t>NA</a:t>
                      </a:r>
                      <a:endParaRPr kumimoji="0" lang="ru-RU" sz="1500" b="0" i="0" u="none" strike="noStrike" cap="none" normalizeH="0" baseline="0" dirty="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SA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a:ln>
                            <a:noFill/>
                          </a:ln>
                          <a:solidFill>
                            <a:srgbClr val="006E6B"/>
                          </a:solidFill>
                          <a:effectLst/>
                          <a:latin typeface="+mn-lt"/>
                        </a:rPr>
                        <a:t>A</a:t>
                      </a: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a:txBody>
                    <a:bodyPr/>
                    <a:lstStyle/>
                    <a:p>
                      <a:pPr marL="0" marR="0" lvl="0" indent="0" algn="l"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en-US" sz="1500" b="0" i="0" u="none" strike="noStrike" cap="none" normalizeH="0" baseline="0" dirty="0">
                          <a:ln>
                            <a:noFill/>
                          </a:ln>
                          <a:solidFill>
                            <a:srgbClr val="006E6B"/>
                          </a:solidFill>
                          <a:effectLst/>
                          <a:latin typeface="+mn-lt"/>
                        </a:rPr>
                        <a:t>B19</a:t>
                      </a:r>
                      <a:endParaRPr kumimoji="0" lang="ru-RU" sz="1500" b="0" i="0" u="none" strike="noStrike" cap="none" normalizeH="0" baseline="0" dirty="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extLst>
                  <a:ext uri="{0D108BD9-81ED-4DB2-BD59-A6C34878D82A}">
                    <a16:rowId xmlns:a16="http://schemas.microsoft.com/office/drawing/2014/main" val="10006"/>
                  </a:ext>
                </a:extLst>
              </a:tr>
            </a:tbl>
          </a:graphicData>
        </a:graphic>
      </p:graphicFrame>
      <p:sp>
        <p:nvSpPr>
          <p:cNvPr id="173116" name="Прямоугольник 6"/>
          <p:cNvSpPr>
            <a:spLocks noChangeArrowheads="1"/>
          </p:cNvSpPr>
          <p:nvPr/>
        </p:nvSpPr>
        <p:spPr bwMode="auto">
          <a:xfrm>
            <a:off x="2066925" y="188913"/>
            <a:ext cx="7077075" cy="954087"/>
          </a:xfrm>
          <a:prstGeom prst="rect">
            <a:avLst/>
          </a:prstGeom>
          <a:noFill/>
          <a:ln w="9525">
            <a:noFill/>
            <a:miter lim="800000"/>
            <a:headEnd/>
            <a:tailEnd/>
          </a:ln>
        </p:spPr>
        <p:txBody>
          <a:bodyPr>
            <a:spAutoFit/>
          </a:bodyPr>
          <a:lstStyle/>
          <a:p>
            <a:pPr algn="ctr"/>
            <a:r>
              <a:rPr lang="ru-RU" sz="2800" b="1">
                <a:solidFill>
                  <a:schemeClr val="tx1"/>
                </a:solidFill>
                <a:latin typeface="Arial" charset="0"/>
              </a:rPr>
              <a:t>Характеристика применимости методов оценки риска</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1" name="Picture 4" descr="http://chakra.do.am/_fr/4/s3866996.jpg"/>
          <p:cNvPicPr>
            <a:picLocks noChangeAspect="1" noChangeArrowheads="1"/>
          </p:cNvPicPr>
          <p:nvPr/>
        </p:nvPicPr>
        <p:blipFill>
          <a:blip r:embed="rId2"/>
          <a:srcRect/>
          <a:stretch>
            <a:fillRect/>
          </a:stretch>
        </p:blipFill>
        <p:spPr bwMode="auto">
          <a:xfrm>
            <a:off x="7235825" y="0"/>
            <a:ext cx="1908175" cy="1806575"/>
          </a:xfrm>
          <a:prstGeom prst="rect">
            <a:avLst/>
          </a:prstGeom>
          <a:noFill/>
          <a:ln w="9525">
            <a:noFill/>
            <a:miter lim="800000"/>
            <a:headEnd/>
            <a:tailEnd/>
          </a:ln>
        </p:spPr>
      </p:pic>
      <p:sp>
        <p:nvSpPr>
          <p:cNvPr id="10" name="Нижний колонтитул 2"/>
          <p:cNvSpPr>
            <a:spLocks noGrp="1"/>
          </p:cNvSpPr>
          <p:nvPr>
            <p:ph type="ftr" sz="quarter" idx="11"/>
          </p:nvPr>
        </p:nvSpPr>
        <p:spPr>
          <a:xfrm>
            <a:off x="220663" y="6356350"/>
            <a:ext cx="3086100" cy="365125"/>
          </a:xfrm>
        </p:spPr>
        <p:txBody>
          <a:bodyPr/>
          <a:lstStyle/>
          <a:p>
            <a:pPr>
              <a:defRPr/>
            </a:pPr>
            <a:r>
              <a:rPr lang="ru-RU" dirty="0"/>
              <a:t>НАЦОТ «Практика оценки риска на производстве» 2016</a:t>
            </a:r>
          </a:p>
        </p:txBody>
      </p:sp>
      <p:graphicFrame>
        <p:nvGraphicFramePr>
          <p:cNvPr id="6" name="Таблица 5"/>
          <p:cNvGraphicFramePr>
            <a:graphicFrameLocks noGrp="1"/>
          </p:cNvGraphicFramePr>
          <p:nvPr/>
        </p:nvGraphicFramePr>
        <p:xfrm>
          <a:off x="107950" y="1557338"/>
          <a:ext cx="8509170" cy="5379282"/>
        </p:xfrm>
        <a:graphic>
          <a:graphicData uri="http://schemas.openxmlformats.org/drawingml/2006/table">
            <a:tbl>
              <a:tblPr/>
              <a:tblGrid>
                <a:gridCol w="1203140">
                  <a:extLst>
                    <a:ext uri="{9D8B030D-6E8A-4147-A177-3AD203B41FA5}">
                      <a16:colId xmlns:a16="http://schemas.microsoft.com/office/drawing/2014/main" val="20000"/>
                    </a:ext>
                  </a:extLst>
                </a:gridCol>
                <a:gridCol w="2842202">
                  <a:extLst>
                    <a:ext uri="{9D8B030D-6E8A-4147-A177-3AD203B41FA5}">
                      <a16:colId xmlns:a16="http://schemas.microsoft.com/office/drawing/2014/main" val="20001"/>
                    </a:ext>
                  </a:extLst>
                </a:gridCol>
                <a:gridCol w="1072365">
                  <a:extLst>
                    <a:ext uri="{9D8B030D-6E8A-4147-A177-3AD203B41FA5}">
                      <a16:colId xmlns:a16="http://schemas.microsoft.com/office/drawing/2014/main" val="20002"/>
                    </a:ext>
                  </a:extLst>
                </a:gridCol>
                <a:gridCol w="1067936">
                  <a:extLst>
                    <a:ext uri="{9D8B030D-6E8A-4147-A177-3AD203B41FA5}">
                      <a16:colId xmlns:a16="http://schemas.microsoft.com/office/drawing/2014/main" val="20003"/>
                    </a:ext>
                  </a:extLst>
                </a:gridCol>
                <a:gridCol w="902600">
                  <a:extLst>
                    <a:ext uri="{9D8B030D-6E8A-4147-A177-3AD203B41FA5}">
                      <a16:colId xmlns:a16="http://schemas.microsoft.com/office/drawing/2014/main" val="20004"/>
                    </a:ext>
                  </a:extLst>
                </a:gridCol>
                <a:gridCol w="1420927">
                  <a:extLst>
                    <a:ext uri="{9D8B030D-6E8A-4147-A177-3AD203B41FA5}">
                      <a16:colId xmlns:a16="http://schemas.microsoft.com/office/drawing/2014/main" val="20005"/>
                    </a:ext>
                  </a:extLst>
                </a:gridCol>
              </a:tblGrid>
              <a:tr h="195620">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FFFFFF"/>
                          </a:solidFill>
                          <a:effectLst/>
                          <a:latin typeface="+mn-lt"/>
                        </a:rPr>
                        <a:t>Наименование метода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rowSpan="2">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FFFFFF"/>
                          </a:solidFill>
                          <a:effectLst/>
                          <a:latin typeface="+mn-lt"/>
                        </a:rPr>
                        <a:t>Описание</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3">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FFFFFF"/>
                          </a:solidFill>
                          <a:effectLst/>
                          <a:latin typeface="+mn-lt"/>
                        </a:rPr>
                        <a:t>Значимость воздействующих факторов</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ru-RU"/>
                    </a:p>
                  </a:txBody>
                  <a:tcPr/>
                </a:tc>
                <a:tc hMerge="1">
                  <a:txBody>
                    <a:bodyPr/>
                    <a:lstStyle/>
                    <a:p>
                      <a:endParaRPr lang="ru-RU"/>
                    </a:p>
                  </a:txBody>
                  <a:tcPr/>
                </a:tc>
                <a:tc rowSpan="2">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FFFFFF"/>
                          </a:solidFill>
                          <a:effectLst/>
                          <a:latin typeface="+mn-lt"/>
                        </a:rPr>
                        <a:t>Возможность получения количественных выходных данных</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76077">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endParaRPr kumimoji="0" lang="ru-RU" sz="1500" b="0" i="0" u="none" strike="noStrike" cap="none" normalizeH="0" baseline="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vMerge="1">
                  <a:txBody>
                    <a:bodyPr/>
                    <a:lstStyle/>
                    <a:p>
                      <a:endParaRPr lang="ru-RU"/>
                    </a:p>
                  </a:txBody>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Ресурсы и возможности</a:t>
                      </a:r>
                    </a:p>
                  </a:txBody>
                  <a:tcPr marL="68580" marR="6858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err="1">
                          <a:ln>
                            <a:noFill/>
                          </a:ln>
                          <a:solidFill>
                            <a:srgbClr val="006E6B"/>
                          </a:solidFill>
                          <a:effectLst/>
                          <a:latin typeface="+mn-lt"/>
                        </a:rPr>
                        <a:t>Неопределен</a:t>
                      </a:r>
                      <a:r>
                        <a:rPr kumimoji="0" lang="ru-RU" sz="1500" b="0" i="0" u="none" strike="noStrike" cap="none" normalizeH="0" baseline="0" dirty="0">
                          <a:ln>
                            <a:noFill/>
                          </a:ln>
                          <a:solidFill>
                            <a:srgbClr val="006E6B"/>
                          </a:solidFill>
                          <a:effectLst/>
                          <a:latin typeface="+mn-lt"/>
                        </a:rPr>
                        <a:t>-</a:t>
                      </a:r>
                    </a:p>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err="1">
                          <a:ln>
                            <a:noFill/>
                          </a:ln>
                          <a:solidFill>
                            <a:srgbClr val="006E6B"/>
                          </a:solidFill>
                          <a:effectLst/>
                          <a:latin typeface="+mn-lt"/>
                        </a:rPr>
                        <a:t>ность</a:t>
                      </a:r>
                      <a:endParaRPr kumimoji="0" lang="ru-RU" sz="1500" b="0" i="0" u="none" strike="noStrike" cap="none" normalizeH="0" baseline="0" dirty="0">
                        <a:ln>
                          <a:noFill/>
                        </a:ln>
                        <a:solidFill>
                          <a:srgbClr val="006E6B"/>
                        </a:solidFill>
                        <a:effectLst/>
                        <a:latin typeface="+mn-lt"/>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Сложность</a:t>
                      </a:r>
                    </a:p>
                  </a:txBody>
                  <a:tcPr marL="68580" marR="6858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vMerge="1">
                  <a:txBody>
                    <a:bodyPr/>
                    <a:lstStyle/>
                    <a:p>
                      <a:endParaRPr lang="ru-RU"/>
                    </a:p>
                  </a:txBody>
                  <a:tcPr/>
                </a:tc>
                <a:extLst>
                  <a:ext uri="{0D108BD9-81ED-4DB2-BD59-A6C34878D82A}">
                    <a16:rowId xmlns:a16="http://schemas.microsoft.com/office/drawing/2014/main" val="10001"/>
                  </a:ext>
                </a:extLst>
              </a:tr>
              <a:tr h="335061">
                <a:tc gridSpan="6">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006E6B"/>
                          </a:solidFill>
                          <a:effectLst/>
                          <a:latin typeface="+mn-lt"/>
                        </a:rPr>
                        <a:t>Методы наблюдения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2"/>
                  </a:ext>
                </a:extLst>
              </a:tr>
              <a:tr h="741715">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Контрольные листы</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Простая форма идентификации риска. … Пользователи используют ранее разработанные перечни.</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Низкие</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Низкая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Низкая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Нет </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extLst>
                  <a:ext uri="{0D108BD9-81ED-4DB2-BD59-A6C34878D82A}">
                    <a16:rowId xmlns:a16="http://schemas.microsoft.com/office/drawing/2014/main" val="10003"/>
                  </a:ext>
                </a:extLst>
              </a:tr>
              <a:tr h="335061">
                <a:tc gridSpan="6">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1" i="0" u="none" strike="noStrike" cap="none" normalizeH="0" baseline="0" dirty="0">
                          <a:ln>
                            <a:noFill/>
                          </a:ln>
                          <a:solidFill>
                            <a:srgbClr val="006E6B"/>
                          </a:solidFill>
                          <a:effectLst/>
                          <a:latin typeface="+mn-lt"/>
                        </a:rPr>
                        <a:t>Вспомогательный методы</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6"/>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4"/>
                  </a:ext>
                </a:extLst>
              </a:tr>
              <a:tr h="1401814">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a:ln>
                            <a:noFill/>
                          </a:ln>
                          <a:solidFill>
                            <a:srgbClr val="006E6B"/>
                          </a:solidFill>
                          <a:effectLst/>
                          <a:latin typeface="+mn-lt"/>
                        </a:rPr>
                        <a:t>Структурный анализ сценариев методом «Что, если?» </a:t>
                      </a:r>
                      <a:r>
                        <a:rPr kumimoji="0" lang="en-US" sz="1500" b="0" i="0" u="none" strike="noStrike" cap="none" normalizeH="0" baseline="0">
                          <a:ln>
                            <a:noFill/>
                          </a:ln>
                          <a:solidFill>
                            <a:srgbClr val="006E6B"/>
                          </a:solidFill>
                          <a:effectLst/>
                          <a:latin typeface="+mn-lt"/>
                        </a:rPr>
                        <a:t>(SWIFT)</a:t>
                      </a:r>
                      <a:r>
                        <a:rPr kumimoji="0" lang="ru-RU" sz="1500" b="0" i="0" u="none" strike="noStrike" cap="none" normalizeH="0" baseline="0">
                          <a:ln>
                            <a:noFill/>
                          </a:ln>
                          <a:solidFill>
                            <a:srgbClr val="006E6B"/>
                          </a:solidFill>
                          <a:effectLst/>
                          <a:latin typeface="+mn-lt"/>
                        </a:rPr>
                        <a:t> </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Система, помогающая группе специалистов идентифицировать риск. Применяют обычно вместе с методами анализа и оценки риска</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Средние</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Средняя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Любая</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tc>
                  <a:txBody>
                    <a:bodyPr/>
                    <a:lstStyle/>
                    <a:p>
                      <a:pPr marL="0" marR="0" lvl="0" indent="0" algn="ctr" defTabSz="914400" rtl="0" eaLnBrk="1" fontAlgn="base" latinLnBrk="0" hangingPunct="1">
                        <a:lnSpc>
                          <a:spcPct val="100000"/>
                        </a:lnSpc>
                        <a:spcBef>
                          <a:spcPct val="0"/>
                        </a:spcBef>
                        <a:spcAft>
                          <a:spcPct val="0"/>
                        </a:spcAft>
                        <a:buClrTx/>
                        <a:buSzPct val="95000"/>
                        <a:buFont typeface="Wingdings 2" pitchFamily="18" charset="2"/>
                        <a:buNone/>
                        <a:tabLst/>
                      </a:pPr>
                      <a:r>
                        <a:rPr kumimoji="0" lang="ru-RU" sz="1500" b="0" i="0" u="none" strike="noStrike" cap="none" normalizeH="0" baseline="0" dirty="0">
                          <a:ln>
                            <a:noFill/>
                          </a:ln>
                          <a:solidFill>
                            <a:srgbClr val="006E6B"/>
                          </a:solidFill>
                          <a:effectLst/>
                          <a:latin typeface="+mn-lt"/>
                        </a:rPr>
                        <a:t>Нет </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CEC"/>
                    </a:solidFill>
                  </a:tcPr>
                </a:tc>
                <a:extLst>
                  <a:ext uri="{0D108BD9-81ED-4DB2-BD59-A6C34878D82A}">
                    <a16:rowId xmlns:a16="http://schemas.microsoft.com/office/drawing/2014/main" val="10005"/>
                  </a:ext>
                </a:extLst>
              </a:tr>
            </a:tbl>
          </a:graphicData>
        </a:graphic>
      </p:graphicFrame>
      <p:sp>
        <p:nvSpPr>
          <p:cNvPr id="174137" name="Rectangle 8"/>
          <p:cNvSpPr>
            <a:spLocks noChangeArrowheads="1"/>
          </p:cNvSpPr>
          <p:nvPr/>
        </p:nvSpPr>
        <p:spPr bwMode="auto">
          <a:xfrm>
            <a:off x="1403350" y="115888"/>
            <a:ext cx="5761038" cy="954087"/>
          </a:xfrm>
          <a:prstGeom prst="rect">
            <a:avLst/>
          </a:prstGeom>
          <a:noFill/>
          <a:ln w="9525">
            <a:noFill/>
            <a:miter lim="800000"/>
            <a:headEnd/>
            <a:tailEnd/>
          </a:ln>
        </p:spPr>
        <p:txBody>
          <a:bodyPr>
            <a:spAutoFit/>
          </a:bodyPr>
          <a:lstStyle/>
          <a:p>
            <a:pPr algn="ctr"/>
            <a:r>
              <a:rPr lang="ru-RU" sz="2800" b="1">
                <a:solidFill>
                  <a:schemeClr val="tx1"/>
                </a:solidFill>
                <a:latin typeface="Arial" charset="0"/>
              </a:rPr>
              <a:t>Факторы, влияющие на выбор методов оценки риска</a:t>
            </a:r>
          </a:p>
        </p:txBody>
      </p:sp>
      <p:pic>
        <p:nvPicPr>
          <p:cNvPr id="174138" name="Picture 2" descr="http://samorazvitie2.ru/wp-content/uploads/2015/04/sdelajte-svoj-vybor-na-zhiznennom-puti.png"/>
          <p:cNvPicPr>
            <a:picLocks noChangeAspect="1" noChangeArrowheads="1"/>
          </p:cNvPicPr>
          <p:nvPr/>
        </p:nvPicPr>
        <p:blipFill>
          <a:blip r:embed="rId3"/>
          <a:srcRect/>
          <a:stretch>
            <a:fillRect/>
          </a:stretch>
        </p:blipFill>
        <p:spPr bwMode="auto">
          <a:xfrm>
            <a:off x="0" y="0"/>
            <a:ext cx="1287463" cy="1557338"/>
          </a:xfrm>
          <a:prstGeom prst="rect">
            <a:avLst/>
          </a:prstGeom>
          <a:noFill/>
          <a:ln w="9525">
            <a:noFill/>
            <a:miter lim="800000"/>
            <a:headEnd/>
            <a:tailEnd/>
          </a:ln>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5" name="Picture 4" descr="http://www.iaim.ru/wp-content/uploads/2014/04/neudacha.jpg"/>
          <p:cNvPicPr>
            <a:picLocks noChangeAspect="1" noChangeArrowheads="1"/>
          </p:cNvPicPr>
          <p:nvPr/>
        </p:nvPicPr>
        <p:blipFill>
          <a:blip r:embed="rId2"/>
          <a:srcRect/>
          <a:stretch>
            <a:fillRect/>
          </a:stretch>
        </p:blipFill>
        <p:spPr bwMode="auto">
          <a:xfrm>
            <a:off x="4527550" y="4000500"/>
            <a:ext cx="4616450" cy="2613025"/>
          </a:xfrm>
          <a:prstGeom prst="rect">
            <a:avLst/>
          </a:prstGeom>
          <a:noFill/>
          <a:ln w="9525">
            <a:noFill/>
            <a:miter lim="800000"/>
            <a:headEnd/>
            <a:tailEnd/>
          </a:ln>
        </p:spPr>
      </p:pic>
      <p:sp>
        <p:nvSpPr>
          <p:cNvPr id="6" name="Прямоугольник 5"/>
          <p:cNvSpPr/>
          <p:nvPr/>
        </p:nvSpPr>
        <p:spPr>
          <a:xfrm>
            <a:off x="323850" y="1189039"/>
            <a:ext cx="5126038" cy="3917534"/>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3200" b="1" i="1" dirty="0">
              <a:solidFill>
                <a:srgbClr val="002060"/>
              </a:solidFill>
            </a:endParaRPr>
          </a:p>
          <a:p>
            <a:pPr marL="266700" indent="-266700" algn="ctr">
              <a:defRPr/>
            </a:pPr>
            <a:r>
              <a:rPr lang="ru-RU" sz="3200" b="1" dirty="0">
                <a:solidFill>
                  <a:srgbClr val="002060"/>
                </a:solidFill>
              </a:rPr>
              <a:t>Управление рисками и снижение уровня </a:t>
            </a:r>
            <a:r>
              <a:rPr lang="ru-RU" sz="3200" b="1" dirty="0" smtClean="0">
                <a:solidFill>
                  <a:srgbClr val="002060"/>
                </a:solidFill>
              </a:rPr>
              <a:t>риска</a:t>
            </a:r>
            <a:endParaRPr lang="ru-RU" sz="3200" b="1" dirty="0">
              <a:solidFill>
                <a:srgbClr val="002060"/>
              </a:solidFill>
            </a:endParaRPr>
          </a:p>
          <a:p>
            <a:pPr>
              <a:defRPr/>
            </a:pPr>
            <a:endParaRPr lang="ru-RU" sz="3200" b="1" dirty="0">
              <a:solidFill>
                <a:srgbClr val="002060"/>
              </a:solidFill>
              <a:latin typeface="Garamond" pitchFamily="18" charset="0"/>
              <a:cs typeface="Arial" pitchFamily="34" charset="0"/>
            </a:endParaRPr>
          </a:p>
          <a:p>
            <a:pPr marL="285750" indent="-285750">
              <a:buFontTx/>
              <a:buChar char="-"/>
              <a:defRPr/>
            </a:pPr>
            <a:endParaRPr lang="ru-RU" sz="3200" b="1" i="1" dirty="0">
              <a:solidFill>
                <a:srgbClr val="002060"/>
              </a:solidFill>
            </a:endParaRPr>
          </a:p>
        </p:txBody>
      </p:sp>
      <p:pic>
        <p:nvPicPr>
          <p:cNvPr id="175107" name="Picture 2" descr="https://ahmedalsamahy.files.wordpress.com/2012/04/risk_control_800_clr.png"/>
          <p:cNvPicPr>
            <a:picLocks noChangeAspect="1" noChangeArrowheads="1"/>
          </p:cNvPicPr>
          <p:nvPr/>
        </p:nvPicPr>
        <p:blipFill>
          <a:blip r:embed="rId3"/>
          <a:srcRect/>
          <a:stretch>
            <a:fillRect/>
          </a:stretch>
        </p:blipFill>
        <p:spPr bwMode="auto">
          <a:xfrm>
            <a:off x="4775200" y="0"/>
            <a:ext cx="4368800" cy="2457450"/>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Заголовок 1"/>
          <p:cNvSpPr txBox="1">
            <a:spLocks/>
          </p:cNvSpPr>
          <p:nvPr/>
        </p:nvSpPr>
        <p:spPr>
          <a:xfrm>
            <a:off x="250825" y="981075"/>
            <a:ext cx="8642350" cy="442913"/>
          </a:xfrm>
          <a:prstGeom prst="rect">
            <a:avLst/>
          </a:prstGeom>
        </p:spPr>
        <p:txBody>
          <a:bodyPr lIns="0" tIns="0" rIns="0" bIns="0" anchor="b">
            <a:spAutoFit/>
          </a:bodyPr>
          <a:lstStyle/>
          <a:p>
            <a:pPr algn="ctr">
              <a:lnSpc>
                <a:spcPct val="80000"/>
              </a:lnSpc>
              <a:defRPr/>
            </a:pPr>
            <a:r>
              <a:rPr lang="ru-RU" sz="3600" b="1" dirty="0">
                <a:effectLst>
                  <a:outerShdw blurRad="38100" dist="38100" dir="2700000" algn="tl">
                    <a:srgbClr val="000000">
                      <a:alpha val="43137"/>
                    </a:srgbClr>
                  </a:outerShdw>
                </a:effectLst>
                <a:latin typeface="Arial" pitchFamily="34" charset="0"/>
                <a:cs typeface="Arial" pitchFamily="34" charset="0"/>
              </a:rPr>
              <a:t>Терминология</a:t>
            </a:r>
          </a:p>
        </p:txBody>
      </p:sp>
      <p:sp>
        <p:nvSpPr>
          <p:cNvPr id="7" name="Скругленный прямоугольник 6"/>
          <p:cNvSpPr/>
          <p:nvPr/>
        </p:nvSpPr>
        <p:spPr>
          <a:xfrm>
            <a:off x="827088" y="1987550"/>
            <a:ext cx="7813675" cy="812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ru-RU" altLang="ja-JP" sz="2400" b="1">
                <a:solidFill>
                  <a:srgbClr val="002060"/>
                </a:solidFill>
                <a:latin typeface="Garamond" pitchFamily="18" charset="0"/>
                <a:cs typeface="Arial" pitchFamily="34" charset="0"/>
              </a:rPr>
              <a:t> </a:t>
            </a:r>
            <a:r>
              <a:rPr lang="ru-RU" altLang="ja-JP" sz="2400" b="1">
                <a:solidFill>
                  <a:srgbClr val="002060"/>
                </a:solidFill>
                <a:cs typeface="Arial" pitchFamily="34" charset="0"/>
              </a:rPr>
              <a:t>Трудовой кодекс Российской Федерации</a:t>
            </a:r>
            <a:endParaRPr lang="ru-RU" altLang="ja-JP" sz="2400" b="1">
              <a:solidFill>
                <a:srgbClr val="002060"/>
              </a:solidFill>
              <a:latin typeface="Garamond" pitchFamily="18" charset="0"/>
              <a:cs typeface="Arial" pitchFamily="34" charset="0"/>
            </a:endParaRPr>
          </a:p>
        </p:txBody>
      </p:sp>
      <p:sp>
        <p:nvSpPr>
          <p:cNvPr id="2" name="Скругленный прямоугольник 6"/>
          <p:cNvSpPr/>
          <p:nvPr/>
        </p:nvSpPr>
        <p:spPr>
          <a:xfrm>
            <a:off x="974725" y="3140075"/>
            <a:ext cx="7813675" cy="250507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ru-RU" altLang="ja-JP" sz="1800" b="1" dirty="0">
                <a:solidFill>
                  <a:srgbClr val="002060"/>
                </a:solidFill>
                <a:cs typeface="Arial" pitchFamily="34" charset="0"/>
              </a:rPr>
              <a:t>Статья 209</a:t>
            </a:r>
          </a:p>
          <a:p>
            <a:pPr>
              <a:defRPr/>
            </a:pPr>
            <a:r>
              <a:rPr lang="ru-RU" altLang="ja-JP" sz="1800" b="1" dirty="0" smtClean="0">
                <a:solidFill>
                  <a:srgbClr val="FF0000"/>
                </a:solidFill>
                <a:cs typeface="Arial" pitchFamily="34" charset="0"/>
              </a:rPr>
              <a:t>Управление </a:t>
            </a:r>
            <a:r>
              <a:rPr lang="ru-RU" altLang="ja-JP" sz="1800" b="1" dirty="0">
                <a:solidFill>
                  <a:srgbClr val="FF0000"/>
                </a:solidFill>
                <a:cs typeface="Arial" pitchFamily="34" charset="0"/>
              </a:rPr>
              <a:t>профессиональными рисками</a:t>
            </a:r>
            <a:r>
              <a:rPr lang="ru-RU" altLang="ja-JP" sz="1800" dirty="0">
                <a:solidFill>
                  <a:srgbClr val="FF0000"/>
                </a:solidFill>
                <a:cs typeface="Arial" pitchFamily="34" charset="0"/>
              </a:rPr>
              <a:t> </a:t>
            </a:r>
            <a:r>
              <a:rPr lang="ru-RU" altLang="ja-JP" sz="1800" dirty="0">
                <a:solidFill>
                  <a:srgbClr val="002060"/>
                </a:solidFill>
                <a:cs typeface="Arial" pitchFamily="34" charset="0"/>
              </a:rPr>
              <a:t>– комплекс взаимосвязанных мероприятий, являющихся элементами системы управления охраной труда и включающих в себя меры по </a:t>
            </a:r>
            <a:r>
              <a:rPr lang="ru-RU" altLang="ja-JP" sz="1800" u="sng" dirty="0">
                <a:solidFill>
                  <a:srgbClr val="002060"/>
                </a:solidFill>
                <a:cs typeface="Arial" pitchFamily="34" charset="0"/>
              </a:rPr>
              <a:t>выявлению, оценке и снижению уровней</a:t>
            </a:r>
            <a:r>
              <a:rPr lang="ru-RU" altLang="ja-JP" sz="1800" dirty="0">
                <a:solidFill>
                  <a:srgbClr val="002060"/>
                </a:solidFill>
                <a:cs typeface="Arial" pitchFamily="34" charset="0"/>
              </a:rPr>
              <a:t> профессиональных рисков</a:t>
            </a:r>
            <a:endParaRPr lang="ru-RU" altLang="ja-JP" sz="2400" dirty="0">
              <a:solidFill>
                <a:srgbClr val="002060"/>
              </a:solidFill>
              <a:latin typeface="Garamond" pitchFamily="18" charset="0"/>
              <a:cs typeface="Arial" pitchFamily="34" charset="0"/>
            </a:endParaRPr>
          </a:p>
        </p:txBody>
      </p:sp>
      <p:pic>
        <p:nvPicPr>
          <p:cNvPr id="176132" name="Picture 10" descr="80663970"/>
          <p:cNvPicPr>
            <a:picLocks noChangeAspect="1" noChangeArrowheads="1"/>
          </p:cNvPicPr>
          <p:nvPr/>
        </p:nvPicPr>
        <p:blipFill>
          <a:blip r:embed="rId2"/>
          <a:srcRect/>
          <a:stretch>
            <a:fillRect/>
          </a:stretch>
        </p:blipFill>
        <p:spPr bwMode="auto">
          <a:xfrm>
            <a:off x="0" y="0"/>
            <a:ext cx="2555875" cy="181927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TextBox 5"/>
          <p:cNvSpPr txBox="1">
            <a:spLocks noChangeArrowheads="1"/>
          </p:cNvSpPr>
          <p:nvPr/>
        </p:nvSpPr>
        <p:spPr bwMode="auto">
          <a:xfrm>
            <a:off x="250825" y="1052513"/>
            <a:ext cx="8424863" cy="3830637"/>
          </a:xfrm>
          <a:prstGeom prst="rect">
            <a:avLst/>
          </a:prstGeom>
          <a:noFill/>
          <a:ln w="9525">
            <a:noFill/>
            <a:miter lim="800000"/>
            <a:headEnd/>
            <a:tailEnd/>
          </a:ln>
        </p:spPr>
        <p:txBody>
          <a:bodyPr>
            <a:spAutoFit/>
          </a:bodyPr>
          <a:lstStyle/>
          <a:p>
            <a:r>
              <a:rPr lang="ru-RU" sz="1500" dirty="0">
                <a:latin typeface="Arial" charset="0"/>
              </a:rPr>
              <a:t>33. С целью организации процедуры управления профессиональными рисками работодатель исходя из специфики своей деятельности устанавливает (определяет) </a:t>
            </a:r>
            <a:r>
              <a:rPr lang="ru-RU" sz="1500" u="sng" dirty="0">
                <a:latin typeface="Arial" charset="0"/>
              </a:rPr>
              <a:t>порядок реализации следующих мероприятий </a:t>
            </a:r>
            <a:r>
              <a:rPr lang="ru-RU" sz="1500" dirty="0">
                <a:latin typeface="Arial" charset="0"/>
              </a:rPr>
              <a:t>по управлению профессиональными рисками:</a:t>
            </a:r>
          </a:p>
          <a:p>
            <a:r>
              <a:rPr lang="ru-RU" sz="1500" dirty="0">
                <a:latin typeface="Arial" charset="0"/>
              </a:rPr>
              <a:t>а) выявление опасностей;</a:t>
            </a:r>
          </a:p>
          <a:p>
            <a:r>
              <a:rPr lang="ru-RU" sz="1500" dirty="0">
                <a:latin typeface="Arial" charset="0"/>
              </a:rPr>
              <a:t>б) оценка уровней профессиональных рисков;</a:t>
            </a:r>
          </a:p>
          <a:p>
            <a:r>
              <a:rPr lang="ru-RU" sz="1500" dirty="0">
                <a:latin typeface="Arial" charset="0"/>
              </a:rPr>
              <a:t>в) снижение уровней профессиональных рисков. </a:t>
            </a:r>
          </a:p>
          <a:p>
            <a:endParaRPr lang="ru-RU" sz="1500" dirty="0">
              <a:latin typeface="Arial" charset="0"/>
            </a:endParaRPr>
          </a:p>
          <a:p>
            <a:r>
              <a:rPr lang="ru-RU" sz="1500" dirty="0">
                <a:latin typeface="Arial" charset="0"/>
              </a:rPr>
              <a:t>34. </a:t>
            </a:r>
            <a:r>
              <a:rPr lang="ru-RU" sz="1500" u="sng" dirty="0">
                <a:latin typeface="Arial" charset="0"/>
              </a:rPr>
              <a:t>Идентификация опасностей</a:t>
            </a:r>
            <a:r>
              <a:rPr lang="ru-RU" sz="1500" dirty="0">
                <a:latin typeface="Arial" charset="0"/>
              </a:rPr>
              <a:t>, представляющих угрозу жизни и здоровью работников, и </a:t>
            </a:r>
            <a:r>
              <a:rPr lang="ru-RU" sz="1500" u="sng" dirty="0">
                <a:latin typeface="Arial" charset="0"/>
              </a:rPr>
              <a:t>составление их перечня </a:t>
            </a:r>
            <a:r>
              <a:rPr lang="ru-RU" sz="1500" dirty="0">
                <a:latin typeface="Arial" charset="0"/>
              </a:rPr>
              <a:t>осуществляются работодателем с привлечением службы (специалиста) охраны труда, комитета (комиссии) по охране труда, работников или уполномоченных ими представительных органов.</a:t>
            </a:r>
          </a:p>
          <a:p>
            <a:endParaRPr lang="ru-RU" sz="1500" dirty="0">
              <a:latin typeface="Arial" charset="0"/>
            </a:endParaRPr>
          </a:p>
          <a:p>
            <a:r>
              <a:rPr lang="ru-RU" sz="1600" dirty="0">
                <a:latin typeface="Arial" charset="0"/>
              </a:rPr>
              <a:t>35. </a:t>
            </a:r>
            <a:r>
              <a:rPr lang="ru-RU" sz="1600" u="sng" dirty="0">
                <a:latin typeface="Arial" charset="0"/>
              </a:rPr>
              <a:t>В качестве опасностей</a:t>
            </a:r>
            <a:r>
              <a:rPr lang="ru-RU" sz="1600" dirty="0">
                <a:latin typeface="Arial" charset="0"/>
              </a:rPr>
              <a:t>, представляющих угрозу жизни и здоровью работников, работодатель исходя из специфики своей деятельности </a:t>
            </a:r>
            <a:r>
              <a:rPr lang="ru-RU" sz="1600" u="sng" dirty="0">
                <a:latin typeface="Arial" charset="0"/>
              </a:rPr>
              <a:t>вправе рассматривать любые </a:t>
            </a:r>
            <a:r>
              <a:rPr lang="ru-RU" sz="1600" dirty="0">
                <a:latin typeface="Arial" charset="0"/>
              </a:rPr>
              <a:t>из следующих:</a:t>
            </a:r>
            <a:endParaRPr lang="ru-RU" sz="1500" dirty="0">
              <a:latin typeface="Arial" charset="0"/>
            </a:endParaRPr>
          </a:p>
        </p:txBody>
      </p:sp>
      <p:sp>
        <p:nvSpPr>
          <p:cNvPr id="6" name="Rectangle 2"/>
          <p:cNvSpPr txBox="1">
            <a:spLocks noChangeArrowheads="1"/>
          </p:cNvSpPr>
          <p:nvPr/>
        </p:nvSpPr>
        <p:spPr>
          <a:xfrm>
            <a:off x="250825" y="500123"/>
            <a:ext cx="8643793" cy="415636"/>
          </a:xfrm>
          <a:prstGeom prst="rect">
            <a:avLst/>
          </a:prstGeom>
        </p:spPr>
        <p:txBody>
          <a:bodyPr anchor="b">
            <a:scene3d>
              <a:camera prst="orthographicFront"/>
              <a:lightRig rig="soft" dir="t"/>
            </a:scene3d>
            <a:sp3d prstMaterial="softEdge">
              <a:bevelT w="25400" h="25400"/>
            </a:sp3d>
          </a:bodyPr>
          <a:lstStyle/>
          <a:p>
            <a:pPr algn="ctr">
              <a:defRPr/>
            </a:pPr>
            <a:r>
              <a:rPr lang="ru-RU" sz="2000" b="1" dirty="0">
                <a:latin typeface="Arial" pitchFamily="34" charset="0"/>
                <a:cs typeface="Arial" pitchFamily="34" charset="0"/>
              </a:rPr>
              <a:t>Процедура управления профессиональными рисками</a:t>
            </a:r>
          </a:p>
        </p:txBody>
      </p:sp>
      <p:sp>
        <p:nvSpPr>
          <p:cNvPr id="7" name="Rectangle 2"/>
          <p:cNvSpPr txBox="1">
            <a:spLocks noChangeArrowheads="1"/>
          </p:cNvSpPr>
          <p:nvPr/>
        </p:nvSpPr>
        <p:spPr>
          <a:xfrm>
            <a:off x="1403648" y="101386"/>
            <a:ext cx="6408712" cy="606555"/>
          </a:xfrm>
          <a:prstGeom prst="rect">
            <a:avLst/>
          </a:prstGeom>
        </p:spPr>
        <p:txBody>
          <a:bodyPr anchor="b">
            <a:scene3d>
              <a:camera prst="orthographicFront"/>
              <a:lightRig rig="soft" dir="t"/>
            </a:scene3d>
            <a:sp3d prstMaterial="softEdge">
              <a:bevelT w="25400" h="25400"/>
            </a:sp3d>
          </a:bodyPr>
          <a:lstStyle/>
          <a:p>
            <a:pPr algn="ctr" fontAlgn="auto">
              <a:spcAft>
                <a:spcPts val="0"/>
              </a:spcAft>
              <a:defRPr/>
            </a:pPr>
            <a:r>
              <a:rPr lang="ru-RU" sz="3200" b="1" dirty="0">
                <a:effectLst>
                  <a:outerShdw blurRad="38100" dist="38100" dir="2700000" algn="tl">
                    <a:srgbClr val="000000">
                      <a:alpha val="43137"/>
                    </a:srgbClr>
                  </a:outerShdw>
                </a:effectLst>
                <a:latin typeface="+mj-lt"/>
                <a:ea typeface="+mj-ea"/>
                <a:cs typeface="+mj-cs"/>
              </a:rPr>
              <a:t>Типовое положение о СУОТ</a:t>
            </a:r>
          </a:p>
        </p:txBody>
      </p:sp>
      <p:pic>
        <p:nvPicPr>
          <p:cNvPr id="177156" name="Picture 2" descr="http://www.dpol4.ru/img/picture/Nov/20/42f843e8618888ec8ef1146c9d7b2d33/3.jpg"/>
          <p:cNvPicPr>
            <a:picLocks noChangeAspect="1" noChangeArrowheads="1"/>
          </p:cNvPicPr>
          <p:nvPr/>
        </p:nvPicPr>
        <p:blipFill>
          <a:blip r:embed="rId2"/>
          <a:srcRect/>
          <a:stretch>
            <a:fillRect/>
          </a:stretch>
        </p:blipFill>
        <p:spPr bwMode="auto">
          <a:xfrm>
            <a:off x="5634038" y="4883150"/>
            <a:ext cx="3509962" cy="1974850"/>
          </a:xfrm>
          <a:prstGeom prst="rect">
            <a:avLst/>
          </a:prstGeom>
          <a:noFill/>
          <a:ln w="9525">
            <a:noFill/>
            <a:miter lim="800000"/>
            <a:headEnd/>
            <a:tailEnd/>
          </a:ln>
        </p:spPr>
      </p:pic>
    </p:spTree>
  </p:cSld>
  <p:clrMapOvr>
    <a:masterClrMapping/>
  </p:clrMapOvr>
  <p:transition>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extBox 5"/>
          <p:cNvSpPr txBox="1">
            <a:spLocks noChangeArrowheads="1"/>
          </p:cNvSpPr>
          <p:nvPr/>
        </p:nvSpPr>
        <p:spPr bwMode="auto">
          <a:xfrm>
            <a:off x="250825" y="1293812"/>
            <a:ext cx="8424863" cy="2723823"/>
          </a:xfrm>
          <a:prstGeom prst="rect">
            <a:avLst/>
          </a:prstGeom>
          <a:noFill/>
          <a:ln w="9525">
            <a:noFill/>
            <a:miter lim="800000"/>
            <a:headEnd/>
            <a:tailEnd/>
          </a:ln>
        </p:spPr>
        <p:txBody>
          <a:bodyPr wrap="square">
            <a:spAutoFit/>
          </a:bodyPr>
          <a:lstStyle/>
          <a:p>
            <a:r>
              <a:rPr lang="ru-RU" sz="1600" dirty="0">
                <a:latin typeface="Arial" charset="0"/>
              </a:rPr>
              <a:t>36. При рассмотрении перечисленных в пункте 35 настоящего Типового положения опасностей работодателем </a:t>
            </a:r>
            <a:r>
              <a:rPr lang="ru-RU" sz="1600" u="sng" dirty="0">
                <a:latin typeface="Arial" charset="0"/>
              </a:rPr>
              <a:t>устанавливается порядок </a:t>
            </a:r>
            <a:r>
              <a:rPr lang="ru-RU" sz="1600" dirty="0">
                <a:latin typeface="Arial" charset="0"/>
              </a:rPr>
              <a:t>проведения </a:t>
            </a:r>
            <a:r>
              <a:rPr lang="ru-RU" sz="1600" u="sng" dirty="0">
                <a:latin typeface="Arial" charset="0"/>
              </a:rPr>
              <a:t>анализа, оценки и упорядочивания всех выявленных опасностей</a:t>
            </a:r>
            <a:r>
              <a:rPr lang="ru-RU" sz="1600" dirty="0">
                <a:latin typeface="Arial" charset="0"/>
              </a:rPr>
              <a:t> исходя из </a:t>
            </a:r>
            <a:r>
              <a:rPr lang="ru-RU" sz="1600" u="sng" dirty="0">
                <a:latin typeface="Arial" charset="0"/>
              </a:rPr>
              <a:t>приоритета</a:t>
            </a:r>
            <a:r>
              <a:rPr lang="ru-RU" sz="1600" dirty="0">
                <a:latin typeface="Arial" charset="0"/>
              </a:rPr>
              <a:t> необходимости </a:t>
            </a:r>
            <a:r>
              <a:rPr lang="ru-RU" sz="1600" u="sng" dirty="0">
                <a:latin typeface="Arial" charset="0"/>
              </a:rPr>
              <a:t>исключения или снижения </a:t>
            </a:r>
            <a:r>
              <a:rPr lang="ru-RU" sz="1600" dirty="0">
                <a:latin typeface="Arial" charset="0"/>
              </a:rPr>
              <a:t>уровня создаваемого ими профессионального риска и с учетом </a:t>
            </a:r>
            <a:r>
              <a:rPr lang="ru-RU" sz="1600" u="sng" dirty="0">
                <a:latin typeface="Arial" charset="0"/>
              </a:rPr>
              <a:t>не только штатных условий </a:t>
            </a:r>
            <a:r>
              <a:rPr lang="ru-RU" sz="1600" dirty="0">
                <a:latin typeface="Arial" charset="0"/>
              </a:rPr>
              <a:t>своей деятельности, но и случаев </a:t>
            </a:r>
            <a:r>
              <a:rPr lang="ru-RU" sz="1600" u="sng" dirty="0">
                <a:latin typeface="Arial" charset="0"/>
              </a:rPr>
              <a:t>отклонений в работе</a:t>
            </a:r>
            <a:r>
              <a:rPr lang="ru-RU" sz="1600" dirty="0">
                <a:latin typeface="Arial" charset="0"/>
              </a:rPr>
              <a:t>, в том числе связанных с возможными авариями.</a:t>
            </a:r>
          </a:p>
          <a:p>
            <a:endParaRPr lang="ru-RU" sz="1500" dirty="0">
              <a:latin typeface="Arial" charset="0"/>
            </a:endParaRPr>
          </a:p>
          <a:p>
            <a:r>
              <a:rPr lang="ru-RU" sz="1500" dirty="0">
                <a:latin typeface="Arial" charset="0"/>
              </a:rPr>
              <a:t>37. </a:t>
            </a:r>
            <a:r>
              <a:rPr lang="ru-RU" sz="1500" u="sng" dirty="0">
                <a:latin typeface="Arial" charset="0"/>
              </a:rPr>
              <a:t>Методы оценки </a:t>
            </a:r>
            <a:r>
              <a:rPr lang="ru-RU" sz="1500" dirty="0">
                <a:latin typeface="Arial" charset="0"/>
              </a:rPr>
              <a:t>уровня профессиональных рисков </a:t>
            </a:r>
            <a:r>
              <a:rPr lang="ru-RU" sz="1500" u="sng" dirty="0">
                <a:latin typeface="Arial" charset="0"/>
              </a:rPr>
              <a:t>определяются работодателем</a:t>
            </a:r>
            <a:r>
              <a:rPr lang="ru-RU" sz="1500" dirty="0">
                <a:latin typeface="Arial" charset="0"/>
              </a:rPr>
              <a:t> с учетом характера своей деятельности и сложности выполняемых операций. </a:t>
            </a:r>
          </a:p>
          <a:p>
            <a:r>
              <a:rPr lang="ru-RU" sz="1500" u="sng" dirty="0">
                <a:latin typeface="Arial" charset="0"/>
              </a:rPr>
              <a:t>Допускается использование разных методов </a:t>
            </a:r>
            <a:r>
              <a:rPr lang="ru-RU" sz="1500" dirty="0">
                <a:latin typeface="Arial" charset="0"/>
              </a:rPr>
              <a:t>оценки уровня профессиональных </a:t>
            </a:r>
            <a:r>
              <a:rPr lang="ru-RU" sz="1500" u="sng" dirty="0">
                <a:latin typeface="Arial" charset="0"/>
              </a:rPr>
              <a:t>рисков для разных процессов </a:t>
            </a:r>
            <a:r>
              <a:rPr lang="ru-RU" sz="1500" dirty="0">
                <a:latin typeface="Arial" charset="0"/>
              </a:rPr>
              <a:t>и операций. </a:t>
            </a:r>
          </a:p>
        </p:txBody>
      </p:sp>
      <p:sp>
        <p:nvSpPr>
          <p:cNvPr id="6" name="Rectangle 2"/>
          <p:cNvSpPr txBox="1">
            <a:spLocks noChangeArrowheads="1"/>
          </p:cNvSpPr>
          <p:nvPr/>
        </p:nvSpPr>
        <p:spPr>
          <a:xfrm>
            <a:off x="250825" y="500123"/>
            <a:ext cx="8643793" cy="415636"/>
          </a:xfrm>
          <a:prstGeom prst="rect">
            <a:avLst/>
          </a:prstGeom>
        </p:spPr>
        <p:txBody>
          <a:bodyPr anchor="b">
            <a:scene3d>
              <a:camera prst="orthographicFront"/>
              <a:lightRig rig="soft" dir="t"/>
            </a:scene3d>
            <a:sp3d prstMaterial="softEdge">
              <a:bevelT w="25400" h="25400"/>
            </a:sp3d>
          </a:bodyPr>
          <a:lstStyle/>
          <a:p>
            <a:pPr algn="ctr">
              <a:defRPr/>
            </a:pPr>
            <a:r>
              <a:rPr lang="ru-RU" sz="2000" b="1" dirty="0">
                <a:latin typeface="Arial" pitchFamily="34" charset="0"/>
                <a:cs typeface="Arial" pitchFamily="34" charset="0"/>
              </a:rPr>
              <a:t>Процедура управления профессиональными рисками</a:t>
            </a:r>
          </a:p>
        </p:txBody>
      </p:sp>
      <p:sp>
        <p:nvSpPr>
          <p:cNvPr id="7" name="Rectangle 2"/>
          <p:cNvSpPr txBox="1">
            <a:spLocks noChangeArrowheads="1"/>
          </p:cNvSpPr>
          <p:nvPr/>
        </p:nvSpPr>
        <p:spPr>
          <a:xfrm>
            <a:off x="1403648" y="101386"/>
            <a:ext cx="6408712" cy="606555"/>
          </a:xfrm>
          <a:prstGeom prst="rect">
            <a:avLst/>
          </a:prstGeom>
        </p:spPr>
        <p:txBody>
          <a:bodyPr anchor="b">
            <a:scene3d>
              <a:camera prst="orthographicFront"/>
              <a:lightRig rig="soft" dir="t"/>
            </a:scene3d>
            <a:sp3d prstMaterial="softEdge">
              <a:bevelT w="25400" h="25400"/>
            </a:sp3d>
          </a:bodyPr>
          <a:lstStyle/>
          <a:p>
            <a:pPr algn="ctr" fontAlgn="auto">
              <a:spcAft>
                <a:spcPts val="0"/>
              </a:spcAft>
              <a:defRPr/>
            </a:pPr>
            <a:r>
              <a:rPr lang="ru-RU" sz="3200" b="1" dirty="0">
                <a:effectLst>
                  <a:outerShdw blurRad="38100" dist="38100" dir="2700000" algn="tl">
                    <a:srgbClr val="000000">
                      <a:alpha val="43137"/>
                    </a:srgbClr>
                  </a:outerShdw>
                </a:effectLst>
                <a:latin typeface="+mj-lt"/>
                <a:ea typeface="+mj-ea"/>
                <a:cs typeface="+mj-cs"/>
              </a:rPr>
              <a:t>Типовое положение о СУОТ</a:t>
            </a:r>
          </a:p>
        </p:txBody>
      </p:sp>
      <p:pic>
        <p:nvPicPr>
          <p:cNvPr id="178180" name="Picture 4" descr="http://www.uib.no/sites/w3.uib.no/files/w2/he/health_hazards_colourbox2602603.jpg"/>
          <p:cNvPicPr>
            <a:picLocks noChangeAspect="1" noChangeArrowheads="1"/>
          </p:cNvPicPr>
          <p:nvPr/>
        </p:nvPicPr>
        <p:blipFill>
          <a:blip r:embed="rId2"/>
          <a:srcRect/>
          <a:stretch>
            <a:fillRect/>
          </a:stretch>
        </p:blipFill>
        <p:spPr bwMode="auto">
          <a:xfrm>
            <a:off x="6303963" y="4017963"/>
            <a:ext cx="2840037" cy="2840037"/>
          </a:xfrm>
          <a:prstGeom prst="rect">
            <a:avLst/>
          </a:prstGeom>
          <a:noFill/>
          <a:ln w="9525">
            <a:noFill/>
            <a:miter lim="800000"/>
            <a:headEnd/>
            <a:tailEnd/>
          </a:ln>
        </p:spPr>
      </p:pic>
    </p:spTree>
  </p:cSld>
  <p:clrMapOvr>
    <a:masterClrMapping/>
  </p:clrMapOvr>
  <p:transition>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TextBox 5"/>
          <p:cNvSpPr txBox="1">
            <a:spLocks noChangeArrowheads="1"/>
          </p:cNvSpPr>
          <p:nvPr/>
        </p:nvSpPr>
        <p:spPr bwMode="auto">
          <a:xfrm>
            <a:off x="250825" y="1491175"/>
            <a:ext cx="8424863" cy="3539430"/>
          </a:xfrm>
          <a:prstGeom prst="rect">
            <a:avLst/>
          </a:prstGeom>
          <a:noFill/>
          <a:ln w="9525">
            <a:noFill/>
            <a:miter lim="800000"/>
            <a:headEnd/>
            <a:tailEnd/>
          </a:ln>
        </p:spPr>
        <p:txBody>
          <a:bodyPr wrap="square">
            <a:spAutoFit/>
          </a:bodyPr>
          <a:lstStyle/>
          <a:p>
            <a:endParaRPr lang="ru-RU" sz="1600" dirty="0">
              <a:latin typeface="Arial" charset="0"/>
            </a:endParaRPr>
          </a:p>
          <a:p>
            <a:r>
              <a:rPr lang="ru-RU" sz="1600" dirty="0">
                <a:latin typeface="Arial" charset="0"/>
              </a:rPr>
              <a:t>38. При описании процедуры управления профессиональными рисками работодателем учитывается следующее:</a:t>
            </a:r>
          </a:p>
          <a:p>
            <a:r>
              <a:rPr lang="ru-RU" sz="1600" dirty="0">
                <a:latin typeface="Arial" charset="0"/>
              </a:rPr>
              <a:t>а) управление профессиональными рисками осуществляется </a:t>
            </a:r>
            <a:r>
              <a:rPr lang="ru-RU" sz="1600" u="sng" dirty="0">
                <a:latin typeface="Arial" charset="0"/>
              </a:rPr>
              <a:t>с учетом текущей, прошлой и будущей деятельности</a:t>
            </a:r>
            <a:r>
              <a:rPr lang="ru-RU" sz="1600" dirty="0">
                <a:latin typeface="Arial" charset="0"/>
              </a:rPr>
              <a:t> работодателя;</a:t>
            </a:r>
          </a:p>
          <a:p>
            <a:r>
              <a:rPr lang="ru-RU" sz="1600" dirty="0">
                <a:latin typeface="Arial" charset="0"/>
              </a:rPr>
              <a:t>б) </a:t>
            </a:r>
            <a:r>
              <a:rPr lang="ru-RU" sz="1600" u="sng" dirty="0">
                <a:latin typeface="Arial" charset="0"/>
              </a:rPr>
              <a:t>тяжесть возможного ущерба </a:t>
            </a:r>
            <a:r>
              <a:rPr lang="ru-RU" sz="1600" dirty="0">
                <a:latin typeface="Arial" charset="0"/>
              </a:rPr>
              <a:t>растет пропорционально увеличению числа людей, подвергающихся опасности;</a:t>
            </a:r>
          </a:p>
          <a:p>
            <a:r>
              <a:rPr lang="ru-RU" sz="1600" dirty="0">
                <a:latin typeface="Arial" charset="0"/>
              </a:rPr>
              <a:t>в</a:t>
            </a:r>
            <a:r>
              <a:rPr lang="ru-RU" sz="1600" u="sng" dirty="0">
                <a:latin typeface="Arial" charset="0"/>
              </a:rPr>
              <a:t>) все оцененные профессиональные риски подлежат управлению</a:t>
            </a:r>
            <a:r>
              <a:rPr lang="ru-RU" sz="1600" dirty="0">
                <a:latin typeface="Arial" charset="0"/>
              </a:rPr>
              <a:t>;</a:t>
            </a:r>
          </a:p>
          <a:p>
            <a:r>
              <a:rPr lang="ru-RU" sz="1600" dirty="0">
                <a:latin typeface="Arial" charset="0"/>
              </a:rPr>
              <a:t>г) </a:t>
            </a:r>
            <a:r>
              <a:rPr lang="ru-RU" sz="1600" u="sng" dirty="0">
                <a:latin typeface="Arial" charset="0"/>
              </a:rPr>
              <a:t>процедуры выявления опасностей и оценки уровня профессиональных рисков </a:t>
            </a:r>
            <a:r>
              <a:rPr lang="ru-RU" sz="1600" dirty="0">
                <a:latin typeface="Arial" charset="0"/>
              </a:rPr>
              <a:t>должны постоянно </a:t>
            </a:r>
            <a:r>
              <a:rPr lang="ru-RU" sz="1600" u="sng" dirty="0">
                <a:latin typeface="Arial" charset="0"/>
              </a:rPr>
              <a:t>совершенствоваться</a:t>
            </a:r>
            <a:r>
              <a:rPr lang="ru-RU" sz="1600" dirty="0">
                <a:latin typeface="Arial" charset="0"/>
              </a:rPr>
              <a:t> и поддерживаться в рабочем состоянии с целью обеспечения эффективной реализации мер по их снижению;</a:t>
            </a:r>
          </a:p>
          <a:p>
            <a:r>
              <a:rPr lang="ru-RU" sz="1600" dirty="0" err="1">
                <a:latin typeface="Arial" charset="0"/>
              </a:rPr>
              <a:t>д</a:t>
            </a:r>
            <a:r>
              <a:rPr lang="ru-RU" sz="1600" dirty="0">
                <a:latin typeface="Arial" charset="0"/>
              </a:rPr>
              <a:t>) </a:t>
            </a:r>
            <a:r>
              <a:rPr lang="ru-RU" sz="1600" u="sng" dirty="0">
                <a:latin typeface="Arial" charset="0"/>
              </a:rPr>
              <a:t>эффективность разработанных мер </a:t>
            </a:r>
            <a:r>
              <a:rPr lang="ru-RU" sz="1600" dirty="0">
                <a:latin typeface="Arial" charset="0"/>
              </a:rPr>
              <a:t>по управлению профессиональными рисками должна постоянно </a:t>
            </a:r>
            <a:r>
              <a:rPr lang="ru-RU" sz="1600" u="sng" dirty="0">
                <a:latin typeface="Arial" charset="0"/>
              </a:rPr>
              <a:t>оцениваться</a:t>
            </a:r>
            <a:r>
              <a:rPr lang="ru-RU" sz="1600" dirty="0">
                <a:latin typeface="Arial" charset="0"/>
              </a:rPr>
              <a:t>.</a:t>
            </a:r>
          </a:p>
          <a:p>
            <a:endParaRPr lang="ru-RU" sz="1600" dirty="0">
              <a:latin typeface="Arial" charset="0"/>
            </a:endParaRPr>
          </a:p>
        </p:txBody>
      </p:sp>
      <p:sp>
        <p:nvSpPr>
          <p:cNvPr id="6" name="Rectangle 2"/>
          <p:cNvSpPr txBox="1">
            <a:spLocks noChangeArrowheads="1"/>
          </p:cNvSpPr>
          <p:nvPr/>
        </p:nvSpPr>
        <p:spPr>
          <a:xfrm>
            <a:off x="250825" y="707941"/>
            <a:ext cx="8643793" cy="480291"/>
          </a:xfrm>
          <a:prstGeom prst="rect">
            <a:avLst/>
          </a:prstGeom>
        </p:spPr>
        <p:txBody>
          <a:bodyPr anchor="b">
            <a:scene3d>
              <a:camera prst="orthographicFront"/>
              <a:lightRig rig="soft" dir="t"/>
            </a:scene3d>
            <a:sp3d prstMaterial="softEdge">
              <a:bevelT w="25400" h="25400"/>
            </a:sp3d>
          </a:bodyPr>
          <a:lstStyle/>
          <a:p>
            <a:pPr algn="ctr">
              <a:defRPr/>
            </a:pPr>
            <a:r>
              <a:rPr lang="ru-RU" sz="2000" b="1" dirty="0">
                <a:latin typeface="Arial" pitchFamily="34" charset="0"/>
                <a:cs typeface="Arial" pitchFamily="34" charset="0"/>
              </a:rPr>
              <a:t>Процедура управления профессиональными рисками</a:t>
            </a:r>
          </a:p>
        </p:txBody>
      </p:sp>
      <p:sp>
        <p:nvSpPr>
          <p:cNvPr id="7" name="Rectangle 2"/>
          <p:cNvSpPr txBox="1">
            <a:spLocks noChangeArrowheads="1"/>
          </p:cNvSpPr>
          <p:nvPr/>
        </p:nvSpPr>
        <p:spPr>
          <a:xfrm>
            <a:off x="1403648" y="101386"/>
            <a:ext cx="6408712" cy="606555"/>
          </a:xfrm>
          <a:prstGeom prst="rect">
            <a:avLst/>
          </a:prstGeom>
        </p:spPr>
        <p:txBody>
          <a:bodyPr anchor="b">
            <a:scene3d>
              <a:camera prst="orthographicFront"/>
              <a:lightRig rig="soft" dir="t"/>
            </a:scene3d>
            <a:sp3d prstMaterial="softEdge">
              <a:bevelT w="25400" h="25400"/>
            </a:sp3d>
          </a:bodyPr>
          <a:lstStyle/>
          <a:p>
            <a:pPr algn="ctr" fontAlgn="auto">
              <a:spcAft>
                <a:spcPts val="0"/>
              </a:spcAft>
              <a:defRPr/>
            </a:pPr>
            <a:r>
              <a:rPr lang="ru-RU" sz="3200" b="1" dirty="0">
                <a:effectLst>
                  <a:outerShdw blurRad="38100" dist="38100" dir="2700000" algn="tl">
                    <a:srgbClr val="000000">
                      <a:alpha val="43137"/>
                    </a:srgbClr>
                  </a:outerShdw>
                </a:effectLst>
                <a:latin typeface="+mj-lt"/>
                <a:ea typeface="+mj-ea"/>
                <a:cs typeface="+mj-cs"/>
              </a:rPr>
              <a:t>Типовое положение о СУОТ</a:t>
            </a:r>
          </a:p>
        </p:txBody>
      </p:sp>
      <p:pic>
        <p:nvPicPr>
          <p:cNvPr id="179204" name="Picture 2" descr="http://www.strongsecurity.com.au/new-strongs/wp-content/uploads/2015/12/risk-management.jpg"/>
          <p:cNvPicPr>
            <a:picLocks noChangeAspect="1" noChangeArrowheads="1"/>
          </p:cNvPicPr>
          <p:nvPr/>
        </p:nvPicPr>
        <p:blipFill>
          <a:blip r:embed="rId2"/>
          <a:srcRect/>
          <a:stretch>
            <a:fillRect/>
          </a:stretch>
        </p:blipFill>
        <p:spPr bwMode="auto">
          <a:xfrm>
            <a:off x="6003925" y="4689475"/>
            <a:ext cx="3140075" cy="2168525"/>
          </a:xfrm>
          <a:prstGeom prst="rect">
            <a:avLst/>
          </a:prstGeom>
          <a:noFill/>
          <a:ln w="9525">
            <a:noFill/>
            <a:miter lim="800000"/>
            <a:headEnd/>
            <a:tailEnd/>
          </a:ln>
        </p:spPr>
      </p:pic>
    </p:spTree>
  </p:cSld>
  <p:clrMapOvr>
    <a:masterClrMapping/>
  </p:clrMapOvr>
  <p:transition>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TextBox 5"/>
          <p:cNvSpPr txBox="1">
            <a:spLocks noChangeArrowheads="1"/>
          </p:cNvSpPr>
          <p:nvPr/>
        </p:nvSpPr>
        <p:spPr bwMode="auto">
          <a:xfrm>
            <a:off x="534572" y="1420837"/>
            <a:ext cx="8141116" cy="2800350"/>
          </a:xfrm>
          <a:prstGeom prst="rect">
            <a:avLst/>
          </a:prstGeom>
          <a:noFill/>
          <a:ln w="9525">
            <a:noFill/>
            <a:miter lim="800000"/>
            <a:headEnd/>
            <a:tailEnd/>
          </a:ln>
        </p:spPr>
        <p:txBody>
          <a:bodyPr wrap="square">
            <a:spAutoFit/>
          </a:bodyPr>
          <a:lstStyle/>
          <a:p>
            <a:endParaRPr lang="ru-RU" sz="1600" dirty="0">
              <a:latin typeface="Arial" charset="0"/>
            </a:endParaRPr>
          </a:p>
          <a:p>
            <a:r>
              <a:rPr lang="ru-RU" sz="1600" dirty="0">
                <a:latin typeface="Arial" charset="0"/>
              </a:rPr>
              <a:t>39. К </a:t>
            </a:r>
            <a:r>
              <a:rPr lang="ru-RU" sz="1600" u="sng" dirty="0">
                <a:latin typeface="Arial" charset="0"/>
              </a:rPr>
              <a:t>мерам по исключению или снижению </a:t>
            </a:r>
            <a:r>
              <a:rPr lang="ru-RU" sz="1600" dirty="0">
                <a:latin typeface="Arial" charset="0"/>
              </a:rPr>
              <a:t>уровней профессиональных рисков относятся:</a:t>
            </a:r>
          </a:p>
          <a:p>
            <a:r>
              <a:rPr lang="ru-RU" sz="1600" dirty="0">
                <a:latin typeface="Arial" charset="0"/>
              </a:rPr>
              <a:t>а) исключение опасной работы (процедуры);</a:t>
            </a:r>
          </a:p>
          <a:p>
            <a:r>
              <a:rPr lang="ru-RU" sz="1600" dirty="0">
                <a:latin typeface="Arial" charset="0"/>
              </a:rPr>
              <a:t>б) замена опасной работы (процедуры) менее опасной;</a:t>
            </a:r>
          </a:p>
          <a:p>
            <a:r>
              <a:rPr lang="ru-RU" sz="1600" dirty="0">
                <a:latin typeface="Arial" charset="0"/>
              </a:rPr>
              <a:t>в) реализация инженерных (технических) методов ограничения риска воздействия опасностей на работников;</a:t>
            </a:r>
          </a:p>
          <a:p>
            <a:r>
              <a:rPr lang="ru-RU" sz="1600" dirty="0">
                <a:latin typeface="Arial" charset="0"/>
              </a:rPr>
              <a:t>г) реализация административных методов ограничения времени воздействия опасностей на работников;</a:t>
            </a:r>
          </a:p>
          <a:p>
            <a:r>
              <a:rPr lang="ru-RU" sz="1600" dirty="0" err="1">
                <a:latin typeface="Arial" charset="0"/>
              </a:rPr>
              <a:t>д</a:t>
            </a:r>
            <a:r>
              <a:rPr lang="ru-RU" sz="1600" dirty="0">
                <a:latin typeface="Arial" charset="0"/>
              </a:rPr>
              <a:t>) использование средств индивидуальной защиты;</a:t>
            </a:r>
          </a:p>
          <a:p>
            <a:r>
              <a:rPr lang="ru-RU" sz="1600" dirty="0">
                <a:latin typeface="Arial" charset="0"/>
              </a:rPr>
              <a:t>е) страхование профессионального риска.</a:t>
            </a:r>
          </a:p>
        </p:txBody>
      </p:sp>
      <p:sp>
        <p:nvSpPr>
          <p:cNvPr id="6" name="Rectangle 2"/>
          <p:cNvSpPr txBox="1">
            <a:spLocks noChangeArrowheads="1"/>
          </p:cNvSpPr>
          <p:nvPr/>
        </p:nvSpPr>
        <p:spPr>
          <a:xfrm>
            <a:off x="250825" y="707941"/>
            <a:ext cx="8643793" cy="480291"/>
          </a:xfrm>
          <a:prstGeom prst="rect">
            <a:avLst/>
          </a:prstGeom>
        </p:spPr>
        <p:txBody>
          <a:bodyPr anchor="b">
            <a:scene3d>
              <a:camera prst="orthographicFront"/>
              <a:lightRig rig="soft" dir="t"/>
            </a:scene3d>
            <a:sp3d prstMaterial="softEdge">
              <a:bevelT w="25400" h="25400"/>
            </a:sp3d>
          </a:bodyPr>
          <a:lstStyle/>
          <a:p>
            <a:pPr algn="ctr">
              <a:defRPr/>
            </a:pPr>
            <a:r>
              <a:rPr lang="ru-RU" sz="2000" b="1" dirty="0">
                <a:latin typeface="Arial" pitchFamily="34" charset="0"/>
                <a:cs typeface="Arial" pitchFamily="34" charset="0"/>
              </a:rPr>
              <a:t>Процедура управления профессиональными рисками</a:t>
            </a:r>
          </a:p>
        </p:txBody>
      </p:sp>
      <p:sp>
        <p:nvSpPr>
          <p:cNvPr id="7" name="Rectangle 2"/>
          <p:cNvSpPr txBox="1">
            <a:spLocks noChangeArrowheads="1"/>
          </p:cNvSpPr>
          <p:nvPr/>
        </p:nvSpPr>
        <p:spPr>
          <a:xfrm>
            <a:off x="1403648" y="101386"/>
            <a:ext cx="6408712" cy="606555"/>
          </a:xfrm>
          <a:prstGeom prst="rect">
            <a:avLst/>
          </a:prstGeom>
        </p:spPr>
        <p:txBody>
          <a:bodyPr anchor="b">
            <a:scene3d>
              <a:camera prst="orthographicFront"/>
              <a:lightRig rig="soft" dir="t"/>
            </a:scene3d>
            <a:sp3d prstMaterial="softEdge">
              <a:bevelT w="25400" h="25400"/>
            </a:sp3d>
          </a:bodyPr>
          <a:lstStyle/>
          <a:p>
            <a:pPr algn="ctr" fontAlgn="auto">
              <a:spcAft>
                <a:spcPts val="0"/>
              </a:spcAft>
              <a:defRPr/>
            </a:pPr>
            <a:r>
              <a:rPr lang="ru-RU" sz="3200" b="1" dirty="0">
                <a:effectLst>
                  <a:outerShdw blurRad="38100" dist="38100" dir="2700000" algn="tl">
                    <a:srgbClr val="000000">
                      <a:alpha val="43137"/>
                    </a:srgbClr>
                  </a:outerShdw>
                </a:effectLst>
                <a:latin typeface="+mj-lt"/>
                <a:ea typeface="+mj-ea"/>
                <a:cs typeface="+mj-cs"/>
              </a:rPr>
              <a:t>Типовое положение о СУОТ</a:t>
            </a:r>
          </a:p>
        </p:txBody>
      </p:sp>
      <p:pic>
        <p:nvPicPr>
          <p:cNvPr id="180228" name="Picture 2" descr="https://crotraining.co.uk/wp-content/uploads/2015/02/RiskPic.jpg"/>
          <p:cNvPicPr>
            <a:picLocks noChangeAspect="1" noChangeArrowheads="1"/>
          </p:cNvPicPr>
          <p:nvPr/>
        </p:nvPicPr>
        <p:blipFill>
          <a:blip r:embed="rId2"/>
          <a:srcRect/>
          <a:stretch>
            <a:fillRect/>
          </a:stretch>
        </p:blipFill>
        <p:spPr bwMode="auto">
          <a:xfrm>
            <a:off x="5701252" y="4002332"/>
            <a:ext cx="3193366" cy="2135877"/>
          </a:xfrm>
          <a:prstGeom prst="rect">
            <a:avLst/>
          </a:prstGeom>
          <a:noFill/>
          <a:ln w="9525">
            <a:noFill/>
            <a:miter lim="800000"/>
            <a:headEnd/>
            <a:tailEnd/>
          </a:ln>
        </p:spPr>
      </p:pic>
    </p:spTree>
  </p:cSld>
  <p:clrMapOvr>
    <a:masterClrMapping/>
  </p:clrMapOvr>
  <p:transition>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49" name="Picture 2" descr="http://www.insaatyatirim.com/e-dergi/INSAAT-YATIRIM-SAYI-86/files/assets/seo/page60_images/0001.jpg"/>
          <p:cNvPicPr>
            <a:picLocks noChangeAspect="1" noChangeArrowheads="1"/>
          </p:cNvPicPr>
          <p:nvPr/>
        </p:nvPicPr>
        <p:blipFill>
          <a:blip r:embed="rId2"/>
          <a:srcRect/>
          <a:stretch>
            <a:fillRect/>
          </a:stretch>
        </p:blipFill>
        <p:spPr bwMode="auto">
          <a:xfrm>
            <a:off x="287338" y="4816475"/>
            <a:ext cx="1917700" cy="1698625"/>
          </a:xfrm>
          <a:prstGeom prst="rect">
            <a:avLst/>
          </a:prstGeom>
          <a:noFill/>
          <a:ln w="9525">
            <a:noFill/>
            <a:miter lim="800000"/>
            <a:headEnd/>
            <a:tailEnd/>
          </a:ln>
        </p:spPr>
      </p:pic>
      <p:sp>
        <p:nvSpPr>
          <p:cNvPr id="181250" name="Rectangle 4"/>
          <p:cNvSpPr>
            <a:spLocks noChangeArrowheads="1"/>
          </p:cNvSpPr>
          <p:nvPr/>
        </p:nvSpPr>
        <p:spPr bwMode="auto">
          <a:xfrm>
            <a:off x="3478213" y="-31840"/>
            <a:ext cx="5665787" cy="1200329"/>
          </a:xfrm>
          <a:prstGeom prst="rect">
            <a:avLst/>
          </a:prstGeom>
          <a:noFill/>
          <a:ln w="9525">
            <a:noFill/>
            <a:miter lim="800000"/>
            <a:headEnd/>
            <a:tailEnd/>
          </a:ln>
        </p:spPr>
        <p:txBody>
          <a:bodyPr anchor="ctr">
            <a:spAutoFit/>
          </a:bodyPr>
          <a:lstStyle/>
          <a:p>
            <a:pPr indent="180975" algn="ctr"/>
            <a:r>
              <a:rPr lang="ru-RU" sz="2400" b="1" dirty="0">
                <a:latin typeface="Calibri" pitchFamily="34" charset="0"/>
                <a:cs typeface="Times New Roman" pitchFamily="18" charset="0"/>
              </a:rPr>
              <a:t>ГОСТ Р 51901.1-2002 </a:t>
            </a:r>
            <a:r>
              <a:rPr lang="ru-RU" sz="2400" b="1" dirty="0" smtClean="0">
                <a:latin typeface="Calibri" pitchFamily="34" charset="0"/>
                <a:cs typeface="Times New Roman" pitchFamily="18" charset="0"/>
              </a:rPr>
              <a:t>«Менеджмент риска. </a:t>
            </a:r>
            <a:r>
              <a:rPr lang="ru-RU" sz="2400" b="1" dirty="0">
                <a:latin typeface="Calibri" pitchFamily="34" charset="0"/>
                <a:cs typeface="Times New Roman" pitchFamily="18" charset="0"/>
              </a:rPr>
              <a:t>Анализ риска технологических </a:t>
            </a:r>
            <a:r>
              <a:rPr lang="ru-RU" sz="2400" b="1" dirty="0" smtClean="0">
                <a:latin typeface="Calibri" pitchFamily="34" charset="0"/>
                <a:cs typeface="Times New Roman" pitchFamily="18" charset="0"/>
              </a:rPr>
              <a:t>систем»</a:t>
            </a:r>
            <a:endParaRPr lang="ru-RU" sz="2400" dirty="0">
              <a:latin typeface="Arial" charset="0"/>
            </a:endParaRPr>
          </a:p>
        </p:txBody>
      </p:sp>
      <p:sp>
        <p:nvSpPr>
          <p:cNvPr id="8" name="Стрелка вниз 7"/>
          <p:cNvSpPr/>
          <p:nvPr/>
        </p:nvSpPr>
        <p:spPr>
          <a:xfrm rot="5400000">
            <a:off x="4081823" y="-1307734"/>
            <a:ext cx="2718488" cy="6470780"/>
          </a:xfrm>
          <a:prstGeom prst="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indent="180975" algn="ctr" eaLnBrk="0" hangingPunct="0">
              <a:defRPr/>
            </a:pPr>
            <a:r>
              <a:rPr lang="ru-RU" sz="1500" b="1" dirty="0">
                <a:solidFill>
                  <a:srgbClr val="000000"/>
                </a:solidFill>
                <a:latin typeface="Calibri" pitchFamily="34" charset="0"/>
                <a:ea typeface="Times New Roman" pitchFamily="18" charset="0"/>
                <a:cs typeface="Times New Roman" pitchFamily="18" charset="0"/>
              </a:rPr>
              <a:t>Анализ риска (</a:t>
            </a:r>
            <a:r>
              <a:rPr lang="en-US" sz="1500" b="1" dirty="0">
                <a:solidFill>
                  <a:srgbClr val="000000"/>
                </a:solidFill>
                <a:latin typeface="Calibri" pitchFamily="34" charset="0"/>
                <a:ea typeface="Times New Roman" pitchFamily="18" charset="0"/>
                <a:cs typeface="Times New Roman" pitchFamily="18" charset="0"/>
              </a:rPr>
              <a:t>risk analysis</a:t>
            </a:r>
            <a:r>
              <a:rPr lang="ru-RU" sz="1500" b="1" dirty="0">
                <a:solidFill>
                  <a:srgbClr val="000000"/>
                </a:solidFill>
                <a:latin typeface="Calibri" pitchFamily="34" charset="0"/>
                <a:ea typeface="Times New Roman" pitchFamily="18" charset="0"/>
                <a:cs typeface="Times New Roman" pitchFamily="18" charset="0"/>
              </a:rPr>
              <a:t>):</a:t>
            </a:r>
            <a:r>
              <a:rPr lang="ru-RU" sz="1500" dirty="0">
                <a:solidFill>
                  <a:srgbClr val="000000"/>
                </a:solidFill>
                <a:latin typeface="Calibri" pitchFamily="34" charset="0"/>
                <a:ea typeface="Times New Roman" pitchFamily="18" charset="0"/>
                <a:cs typeface="Times New Roman" pitchFamily="18" charset="0"/>
              </a:rPr>
              <a:t> </a:t>
            </a:r>
          </a:p>
          <a:p>
            <a:pPr indent="180975" algn="just" eaLnBrk="0" hangingPunct="0">
              <a:defRPr/>
            </a:pPr>
            <a:r>
              <a:rPr lang="ru-RU" sz="1500" u="sng" dirty="0">
                <a:solidFill>
                  <a:srgbClr val="000000"/>
                </a:solidFill>
                <a:latin typeface="Calibri" pitchFamily="34" charset="0"/>
                <a:ea typeface="Times New Roman" pitchFamily="18" charset="0"/>
                <a:cs typeface="Times New Roman" pitchFamily="18" charset="0"/>
              </a:rPr>
              <a:t>Систематическое</a:t>
            </a:r>
            <a:r>
              <a:rPr lang="ru-RU" sz="1500" dirty="0">
                <a:solidFill>
                  <a:srgbClr val="000000"/>
                </a:solidFill>
                <a:latin typeface="Calibri" pitchFamily="34" charset="0"/>
                <a:ea typeface="Times New Roman" pitchFamily="18" charset="0"/>
                <a:cs typeface="Times New Roman" pitchFamily="18" charset="0"/>
              </a:rPr>
              <a:t> использование информации </a:t>
            </a:r>
            <a:r>
              <a:rPr lang="ru-RU" sz="1500" u="sng" dirty="0">
                <a:solidFill>
                  <a:srgbClr val="000000"/>
                </a:solidFill>
                <a:latin typeface="Calibri" pitchFamily="34" charset="0"/>
                <a:ea typeface="Times New Roman" pitchFamily="18" charset="0"/>
                <a:cs typeface="Times New Roman" pitchFamily="18" charset="0"/>
              </a:rPr>
              <a:t>для определения источников и количественной оценки риска</a:t>
            </a:r>
            <a:r>
              <a:rPr lang="ru-RU" sz="1500" dirty="0">
                <a:solidFill>
                  <a:srgbClr val="000000"/>
                </a:solidFill>
                <a:latin typeface="Calibri" pitchFamily="34" charset="0"/>
                <a:ea typeface="Times New Roman" pitchFamily="18" charset="0"/>
                <a:cs typeface="Times New Roman" pitchFamily="18" charset="0"/>
              </a:rPr>
              <a:t>.</a:t>
            </a:r>
            <a:endParaRPr lang="ru-RU" sz="1500" dirty="0">
              <a:solidFill>
                <a:schemeClr val="tx1"/>
              </a:solidFill>
              <a:cs typeface="Arial" pitchFamily="34" charset="0"/>
            </a:endParaRPr>
          </a:p>
          <a:p>
            <a:pPr indent="180975" algn="just" eaLnBrk="0" hangingPunct="0">
              <a:defRPr/>
            </a:pPr>
            <a:r>
              <a:rPr lang="ru-RU" sz="1500" b="1" dirty="0">
                <a:solidFill>
                  <a:srgbClr val="000000"/>
                </a:solidFill>
                <a:latin typeface="Calibri" pitchFamily="34" charset="0"/>
                <a:ea typeface="Times New Roman" pitchFamily="18" charset="0"/>
                <a:cs typeface="Times New Roman" pitchFamily="18" charset="0"/>
              </a:rPr>
              <a:t>Примечание</a:t>
            </a:r>
            <a:r>
              <a:rPr lang="ru-RU" sz="1500" dirty="0">
                <a:solidFill>
                  <a:srgbClr val="000000"/>
                </a:solidFill>
                <a:latin typeface="Calibri" pitchFamily="34" charset="0"/>
                <a:ea typeface="Times New Roman" pitchFamily="18" charset="0"/>
                <a:cs typeface="Times New Roman" pitchFamily="18" charset="0"/>
              </a:rPr>
              <a:t> - Анализ риска обеспечивает базу для оценивания риска, мероприятий по снижению риска и принятия риска.</a:t>
            </a:r>
            <a:endParaRPr lang="ru-RU" sz="1500" dirty="0">
              <a:solidFill>
                <a:schemeClr val="tx1"/>
              </a:solidFill>
              <a:cs typeface="Arial" pitchFamily="34" charset="0"/>
            </a:endParaRPr>
          </a:p>
        </p:txBody>
      </p:sp>
      <p:sp>
        <p:nvSpPr>
          <p:cNvPr id="9" name="Стрелка вниз 8"/>
          <p:cNvSpPr/>
          <p:nvPr/>
        </p:nvSpPr>
        <p:spPr>
          <a:xfrm rot="5400000">
            <a:off x="3743054" y="3278477"/>
            <a:ext cx="1540497" cy="4615250"/>
          </a:xfrm>
          <a:prstGeom prst="downArrow">
            <a:avLst>
              <a:gd name="adj1" fmla="val 50000"/>
              <a:gd name="adj2" fmla="val 542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ru-RU" sz="1600" b="1" dirty="0">
                <a:solidFill>
                  <a:srgbClr val="000000"/>
                </a:solidFill>
                <a:latin typeface="Calibri" pitchFamily="34" charset="0"/>
                <a:ea typeface="Times New Roman" pitchFamily="18" charset="0"/>
                <a:cs typeface="Times New Roman" pitchFamily="18" charset="0"/>
              </a:rPr>
              <a:t>  Оценка риска</a:t>
            </a:r>
            <a:r>
              <a:rPr lang="ru-RU" sz="1600" dirty="0">
                <a:solidFill>
                  <a:srgbClr val="000000"/>
                </a:solidFill>
                <a:latin typeface="Calibri" pitchFamily="34" charset="0"/>
                <a:ea typeface="Times New Roman" pitchFamily="18" charset="0"/>
                <a:cs typeface="Times New Roman" pitchFamily="18" charset="0"/>
              </a:rPr>
              <a:t> </a:t>
            </a:r>
            <a:r>
              <a:rPr lang="ru-RU" sz="1600" b="1" dirty="0">
                <a:solidFill>
                  <a:srgbClr val="000000"/>
                </a:solidFill>
                <a:latin typeface="Calibri" pitchFamily="34" charset="0"/>
                <a:ea typeface="Times New Roman" pitchFamily="18" charset="0"/>
                <a:cs typeface="Times New Roman" pitchFamily="18" charset="0"/>
              </a:rPr>
              <a:t>(</a:t>
            </a:r>
            <a:r>
              <a:rPr lang="en-US" sz="1600" b="1" dirty="0">
                <a:solidFill>
                  <a:srgbClr val="000000"/>
                </a:solidFill>
                <a:latin typeface="Calibri" pitchFamily="34" charset="0"/>
                <a:ea typeface="Times New Roman" pitchFamily="18" charset="0"/>
                <a:cs typeface="Times New Roman" pitchFamily="18" charset="0"/>
              </a:rPr>
              <a:t>risk </a:t>
            </a:r>
            <a:r>
              <a:rPr lang="en-US" sz="1600" b="1" dirty="0" err="1">
                <a:solidFill>
                  <a:srgbClr val="000000"/>
                </a:solidFill>
                <a:latin typeface="Calibri" pitchFamily="34" charset="0"/>
                <a:ea typeface="Times New Roman" pitchFamily="18" charset="0"/>
                <a:cs typeface="Times New Roman" pitchFamily="18" charset="0"/>
              </a:rPr>
              <a:t>assesment</a:t>
            </a:r>
            <a:r>
              <a:rPr lang="ru-RU" sz="1600" b="1" dirty="0">
                <a:solidFill>
                  <a:srgbClr val="000000"/>
                </a:solidFill>
                <a:latin typeface="Calibri" pitchFamily="34" charset="0"/>
                <a:ea typeface="Times New Roman" pitchFamily="18" charset="0"/>
                <a:cs typeface="Times New Roman" pitchFamily="18" charset="0"/>
              </a:rPr>
              <a:t>):</a:t>
            </a:r>
            <a:r>
              <a:rPr lang="ru-RU" sz="1600" dirty="0">
                <a:solidFill>
                  <a:srgbClr val="000000"/>
                </a:solidFill>
                <a:latin typeface="Calibri" pitchFamily="34" charset="0"/>
                <a:ea typeface="Times New Roman" pitchFamily="18" charset="0"/>
                <a:cs typeface="Times New Roman" pitchFamily="18" charset="0"/>
              </a:rPr>
              <a:t> </a:t>
            </a:r>
          </a:p>
          <a:p>
            <a:pPr algn="ctr">
              <a:defRPr/>
            </a:pPr>
            <a:r>
              <a:rPr lang="ru-RU" sz="1600" u="sng" dirty="0">
                <a:solidFill>
                  <a:srgbClr val="000000"/>
                </a:solidFill>
                <a:latin typeface="Calibri" pitchFamily="34" charset="0"/>
                <a:ea typeface="Times New Roman" pitchFamily="18" charset="0"/>
                <a:cs typeface="Times New Roman" pitchFamily="18" charset="0"/>
              </a:rPr>
              <a:t>Общий процесс анализа риска и оценивания риска</a:t>
            </a:r>
          </a:p>
        </p:txBody>
      </p:sp>
      <p:sp>
        <p:nvSpPr>
          <p:cNvPr id="7" name="Стрелка вниз 6"/>
          <p:cNvSpPr/>
          <p:nvPr/>
        </p:nvSpPr>
        <p:spPr>
          <a:xfrm rot="16200000">
            <a:off x="2759076" y="844550"/>
            <a:ext cx="2532062" cy="6097587"/>
          </a:xfrm>
          <a:prstGeom prst="downArrow">
            <a:avLst>
              <a:gd name="adj1" fmla="val 50000"/>
              <a:gd name="adj2" fmla="val 542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anchor="ctr"/>
          <a:lstStyle/>
          <a:p>
            <a:pPr indent="180975" algn="ctr" eaLnBrk="0" hangingPunct="0">
              <a:defRPr/>
            </a:pPr>
            <a:r>
              <a:rPr lang="ru-RU" sz="1500" b="1">
                <a:solidFill>
                  <a:srgbClr val="000000"/>
                </a:solidFill>
                <a:latin typeface="Calibri" pitchFamily="34" charset="0"/>
                <a:cs typeface="Times New Roman" pitchFamily="18" charset="0"/>
              </a:rPr>
              <a:t> Оценивание риска (</a:t>
            </a:r>
            <a:r>
              <a:rPr lang="en-US" sz="1500" b="1">
                <a:solidFill>
                  <a:srgbClr val="000000"/>
                </a:solidFill>
                <a:latin typeface="Calibri" pitchFamily="34" charset="0"/>
                <a:cs typeface="Times New Roman" pitchFamily="18" charset="0"/>
              </a:rPr>
              <a:t>risk evaluation</a:t>
            </a:r>
            <a:r>
              <a:rPr lang="ru-RU" sz="1500" b="1">
                <a:solidFill>
                  <a:srgbClr val="000000"/>
                </a:solidFill>
                <a:latin typeface="Calibri" pitchFamily="34" charset="0"/>
                <a:cs typeface="Times New Roman" pitchFamily="18" charset="0"/>
              </a:rPr>
              <a:t>): </a:t>
            </a:r>
          </a:p>
          <a:p>
            <a:pPr indent="180975" eaLnBrk="0" hangingPunct="0">
              <a:defRPr/>
            </a:pPr>
            <a:r>
              <a:rPr lang="ru-RU" sz="1500" u="sng">
                <a:solidFill>
                  <a:srgbClr val="000000"/>
                </a:solidFill>
                <a:latin typeface="Calibri" pitchFamily="34" charset="0"/>
                <a:cs typeface="Times New Roman" pitchFamily="18" charset="0"/>
              </a:rPr>
              <a:t>Процесс сравнения оцененного риска с данными критериями </a:t>
            </a:r>
            <a:r>
              <a:rPr lang="ru-RU" sz="1500">
                <a:solidFill>
                  <a:srgbClr val="000000"/>
                </a:solidFill>
                <a:latin typeface="Calibri" pitchFamily="34" charset="0"/>
                <a:cs typeface="Times New Roman" pitchFamily="18" charset="0"/>
              </a:rPr>
              <a:t>риска с целью определения значимости риска.</a:t>
            </a:r>
          </a:p>
          <a:p>
            <a:pPr indent="180975" eaLnBrk="0" hangingPunct="0">
              <a:defRPr/>
            </a:pPr>
            <a:r>
              <a:rPr lang="ru-RU" sz="1500" b="1">
                <a:solidFill>
                  <a:srgbClr val="000000"/>
                </a:solidFill>
                <a:latin typeface="Calibri" pitchFamily="34" charset="0"/>
                <a:cs typeface="Times New Roman" pitchFamily="18" charset="0"/>
              </a:rPr>
              <a:t>Примечание</a:t>
            </a:r>
            <a:r>
              <a:rPr lang="ru-RU" sz="1500">
                <a:solidFill>
                  <a:srgbClr val="000000"/>
                </a:solidFill>
                <a:latin typeface="Calibri" pitchFamily="34" charset="0"/>
                <a:cs typeface="Times New Roman" pitchFamily="18" charset="0"/>
              </a:rPr>
              <a:t> - Оценивание риска может быть использовано для содействия решениям по принятию или обработке риска.</a:t>
            </a:r>
          </a:p>
        </p:txBody>
      </p:sp>
      <p:pic>
        <p:nvPicPr>
          <p:cNvPr id="181254" name="Picture 4" descr="http://wallpapers3.hellowallpaper.com/other_apple-mac--01_24-1920x1200.jpg"/>
          <p:cNvPicPr>
            <a:picLocks noChangeAspect="1" noChangeArrowheads="1"/>
          </p:cNvPicPr>
          <p:nvPr/>
        </p:nvPicPr>
        <p:blipFill>
          <a:blip r:embed="rId3"/>
          <a:srcRect/>
          <a:stretch>
            <a:fillRect/>
          </a:stretch>
        </p:blipFill>
        <p:spPr bwMode="auto">
          <a:xfrm>
            <a:off x="7073900" y="2941638"/>
            <a:ext cx="1925638" cy="1603375"/>
          </a:xfrm>
          <a:prstGeom prst="rect">
            <a:avLst/>
          </a:prstGeom>
          <a:noFill/>
          <a:ln w="9525">
            <a:noFill/>
            <a:miter lim="800000"/>
            <a:headEnd/>
            <a:tailEnd/>
          </a:ln>
        </p:spPr>
      </p:pic>
      <p:pic>
        <p:nvPicPr>
          <p:cNvPr id="181255" name="Picture 8" descr="http://www.eso.org.tr/resimler/2(475).jpg"/>
          <p:cNvPicPr>
            <a:picLocks noChangeAspect="1" noChangeArrowheads="1"/>
          </p:cNvPicPr>
          <p:nvPr/>
        </p:nvPicPr>
        <p:blipFill>
          <a:blip r:embed="rId4"/>
          <a:srcRect/>
          <a:stretch>
            <a:fillRect/>
          </a:stretch>
        </p:blipFill>
        <p:spPr bwMode="auto">
          <a:xfrm>
            <a:off x="0" y="804863"/>
            <a:ext cx="2205038" cy="1652587"/>
          </a:xfrm>
          <a:prstGeom prst="rect">
            <a:avLst/>
          </a:prstGeom>
          <a:noFill/>
          <a:ln w="9525">
            <a:noFill/>
            <a:miter lim="800000"/>
            <a:headEnd/>
            <a:tailEnd/>
          </a:ln>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3" name="Picture 4" descr="http://www.turnkeyconsulting.com/media/17/1417-risk-management-solution.jpg"/>
          <p:cNvPicPr>
            <a:picLocks noChangeAspect="1" noChangeArrowheads="1"/>
          </p:cNvPicPr>
          <p:nvPr/>
        </p:nvPicPr>
        <p:blipFill>
          <a:blip r:embed="rId2"/>
          <a:srcRect/>
          <a:stretch>
            <a:fillRect/>
          </a:stretch>
        </p:blipFill>
        <p:spPr bwMode="auto">
          <a:xfrm>
            <a:off x="7415213" y="2820988"/>
            <a:ext cx="1728787" cy="1384300"/>
          </a:xfrm>
          <a:prstGeom prst="rect">
            <a:avLst/>
          </a:prstGeom>
          <a:noFill/>
          <a:ln w="9525">
            <a:noFill/>
            <a:miter lim="800000"/>
            <a:headEnd/>
            <a:tailEnd/>
          </a:ln>
        </p:spPr>
      </p:pic>
      <p:sp>
        <p:nvSpPr>
          <p:cNvPr id="182274" name="Rectangle 4"/>
          <p:cNvSpPr>
            <a:spLocks noChangeArrowheads="1"/>
          </p:cNvSpPr>
          <p:nvPr/>
        </p:nvSpPr>
        <p:spPr bwMode="auto">
          <a:xfrm>
            <a:off x="2752725" y="45671"/>
            <a:ext cx="6254750" cy="830997"/>
          </a:xfrm>
          <a:prstGeom prst="rect">
            <a:avLst/>
          </a:prstGeom>
          <a:noFill/>
          <a:ln w="9525">
            <a:noFill/>
            <a:miter lim="800000"/>
            <a:headEnd/>
            <a:tailEnd/>
          </a:ln>
        </p:spPr>
        <p:txBody>
          <a:bodyPr anchor="ctr">
            <a:spAutoFit/>
          </a:bodyPr>
          <a:lstStyle/>
          <a:p>
            <a:pPr indent="180975" algn="ctr"/>
            <a:r>
              <a:rPr lang="ru-RU" sz="2400" b="1" dirty="0">
                <a:latin typeface="Calibri" pitchFamily="34" charset="0"/>
                <a:cs typeface="Times New Roman" pitchFamily="18" charset="0"/>
              </a:rPr>
              <a:t>ГОСТ Р 51901.1-2002 </a:t>
            </a:r>
            <a:r>
              <a:rPr lang="ru-RU" sz="2400" b="1" dirty="0" smtClean="0">
                <a:latin typeface="Calibri" pitchFamily="34" charset="0"/>
                <a:cs typeface="Times New Roman" pitchFamily="18" charset="0"/>
              </a:rPr>
              <a:t>«Менеджмент риска. </a:t>
            </a:r>
            <a:r>
              <a:rPr lang="ru-RU" sz="2400" b="1" dirty="0">
                <a:latin typeface="Calibri" pitchFamily="34" charset="0"/>
                <a:cs typeface="Times New Roman" pitchFamily="18" charset="0"/>
              </a:rPr>
              <a:t>Анализ риска технологических </a:t>
            </a:r>
            <a:r>
              <a:rPr lang="ru-RU" sz="2400" b="1" dirty="0" smtClean="0">
                <a:latin typeface="Calibri" pitchFamily="34" charset="0"/>
                <a:cs typeface="Times New Roman" pitchFamily="18" charset="0"/>
              </a:rPr>
              <a:t>систем»</a:t>
            </a:r>
            <a:endParaRPr lang="ru-RU" sz="2400" dirty="0">
              <a:latin typeface="Arial" charset="0"/>
            </a:endParaRPr>
          </a:p>
        </p:txBody>
      </p:sp>
      <p:sp>
        <p:nvSpPr>
          <p:cNvPr id="8" name="Стрелка вниз 7"/>
          <p:cNvSpPr/>
          <p:nvPr/>
        </p:nvSpPr>
        <p:spPr>
          <a:xfrm rot="5400000">
            <a:off x="3958965" y="-1922002"/>
            <a:ext cx="2257862" cy="7228706"/>
          </a:xfrm>
          <a:prstGeom prst="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ru-RU" sz="1500" b="1" dirty="0">
                <a:solidFill>
                  <a:schemeClr val="tx1"/>
                </a:solidFill>
              </a:rPr>
              <a:t>Оценка величины риска (</a:t>
            </a:r>
            <a:r>
              <a:rPr lang="en-US" sz="1500" b="1" dirty="0">
                <a:solidFill>
                  <a:schemeClr val="tx1"/>
                </a:solidFill>
              </a:rPr>
              <a:t>risk estimation</a:t>
            </a:r>
            <a:r>
              <a:rPr lang="ru-RU" sz="1500" b="1" dirty="0">
                <a:solidFill>
                  <a:schemeClr val="tx1"/>
                </a:solidFill>
              </a:rPr>
              <a:t>):</a:t>
            </a:r>
            <a:r>
              <a:rPr lang="ru-RU" sz="1500" dirty="0">
                <a:solidFill>
                  <a:schemeClr val="tx1"/>
                </a:solidFill>
              </a:rPr>
              <a:t> </a:t>
            </a:r>
          </a:p>
          <a:p>
            <a:pPr>
              <a:defRPr/>
            </a:pPr>
            <a:r>
              <a:rPr lang="ru-RU" sz="1500" dirty="0">
                <a:solidFill>
                  <a:schemeClr val="tx1"/>
                </a:solidFill>
              </a:rPr>
              <a:t>Процесс </a:t>
            </a:r>
            <a:r>
              <a:rPr lang="ru-RU" sz="1500" u="sng" dirty="0">
                <a:solidFill>
                  <a:schemeClr val="tx1"/>
                </a:solidFill>
              </a:rPr>
              <a:t>присвоения значений </a:t>
            </a:r>
            <a:r>
              <a:rPr lang="ru-RU" sz="1500" dirty="0">
                <a:solidFill>
                  <a:schemeClr val="tx1"/>
                </a:solidFill>
              </a:rPr>
              <a:t>вероятности и последствий риска.</a:t>
            </a:r>
          </a:p>
          <a:p>
            <a:pPr>
              <a:defRPr/>
            </a:pPr>
            <a:r>
              <a:rPr lang="ru-RU" sz="1500" b="1" dirty="0">
                <a:solidFill>
                  <a:schemeClr val="tx1"/>
                </a:solidFill>
              </a:rPr>
              <a:t>Примечание -</a:t>
            </a:r>
            <a:r>
              <a:rPr lang="ru-RU" sz="1500" dirty="0">
                <a:solidFill>
                  <a:schemeClr val="tx1"/>
                </a:solidFill>
              </a:rPr>
              <a:t> Оценка величины риска может рассматривать стоимость, выгоды, озабоченность участвующих сторон и другие переменные, рассматриваемые при оценивании риска.</a:t>
            </a:r>
          </a:p>
        </p:txBody>
      </p:sp>
      <p:sp>
        <p:nvSpPr>
          <p:cNvPr id="9" name="Стрелка вниз 8"/>
          <p:cNvSpPr/>
          <p:nvPr/>
        </p:nvSpPr>
        <p:spPr>
          <a:xfrm rot="16200000">
            <a:off x="2552701" y="-30163"/>
            <a:ext cx="2654300" cy="7165975"/>
          </a:xfrm>
          <a:prstGeom prst="downArrow">
            <a:avLst>
              <a:gd name="adj1" fmla="val 50000"/>
              <a:gd name="adj2" fmla="val 542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a:defRPr/>
            </a:pPr>
            <a:r>
              <a:rPr lang="ru-RU" sz="1500" b="1" dirty="0">
                <a:solidFill>
                  <a:schemeClr val="tx1"/>
                </a:solidFill>
              </a:rPr>
              <a:t>Управление риском (</a:t>
            </a:r>
            <a:r>
              <a:rPr lang="en-US" sz="1500" b="1" dirty="0">
                <a:solidFill>
                  <a:schemeClr val="tx1"/>
                </a:solidFill>
              </a:rPr>
              <a:t>risk control</a:t>
            </a:r>
            <a:r>
              <a:rPr lang="ru-RU" sz="1500" b="1" dirty="0">
                <a:solidFill>
                  <a:schemeClr val="tx1"/>
                </a:solidFill>
              </a:rPr>
              <a:t>): </a:t>
            </a:r>
          </a:p>
          <a:p>
            <a:pPr>
              <a:defRPr/>
            </a:pPr>
            <a:r>
              <a:rPr lang="ru-RU" sz="1500" u="sng" dirty="0">
                <a:solidFill>
                  <a:schemeClr val="tx1"/>
                </a:solidFill>
              </a:rPr>
              <a:t>Действия, осуществляемые для выполнения решений </a:t>
            </a:r>
            <a:r>
              <a:rPr lang="ru-RU" sz="1500" dirty="0">
                <a:solidFill>
                  <a:schemeClr val="tx1"/>
                </a:solidFill>
              </a:rPr>
              <a:t>в рамках менеджмента рисков.</a:t>
            </a:r>
          </a:p>
          <a:p>
            <a:pPr>
              <a:defRPr/>
            </a:pPr>
            <a:r>
              <a:rPr lang="ru-RU" sz="1500" b="1" dirty="0">
                <a:solidFill>
                  <a:schemeClr val="tx1"/>
                </a:solidFill>
              </a:rPr>
              <a:t>Примечание - </a:t>
            </a:r>
            <a:r>
              <a:rPr lang="ru-RU" sz="1500" dirty="0">
                <a:solidFill>
                  <a:schemeClr val="tx1"/>
                </a:solidFill>
              </a:rPr>
              <a:t>Управление риском может включать мониторинг, </a:t>
            </a:r>
            <a:r>
              <a:rPr lang="ru-RU" sz="1500" dirty="0" err="1">
                <a:solidFill>
                  <a:schemeClr val="tx1"/>
                </a:solidFill>
              </a:rPr>
              <a:t>переоценивание</a:t>
            </a:r>
            <a:r>
              <a:rPr lang="ru-RU" sz="1500" dirty="0">
                <a:solidFill>
                  <a:schemeClr val="tx1"/>
                </a:solidFill>
              </a:rPr>
              <a:t> и соответствие принятым решениям.</a:t>
            </a:r>
          </a:p>
        </p:txBody>
      </p:sp>
      <p:sp>
        <p:nvSpPr>
          <p:cNvPr id="7" name="Стрелка вниз 6"/>
          <p:cNvSpPr/>
          <p:nvPr/>
        </p:nvSpPr>
        <p:spPr>
          <a:xfrm rot="5400000">
            <a:off x="4124462" y="1974387"/>
            <a:ext cx="2532535" cy="7234695"/>
          </a:xfrm>
          <a:prstGeom prst="downArrow">
            <a:avLst>
              <a:gd name="adj1" fmla="val 50000"/>
              <a:gd name="adj2" fmla="val 542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ru-RU" sz="1500" b="1" dirty="0">
                <a:solidFill>
                  <a:schemeClr val="tx1"/>
                </a:solidFill>
              </a:rPr>
              <a:t>Менеджмент риска (</a:t>
            </a:r>
            <a:r>
              <a:rPr lang="en-US" sz="1500" b="1" dirty="0">
                <a:solidFill>
                  <a:schemeClr val="tx1"/>
                </a:solidFill>
              </a:rPr>
              <a:t>risk management</a:t>
            </a:r>
            <a:r>
              <a:rPr lang="ru-RU" sz="1500" b="1" dirty="0">
                <a:solidFill>
                  <a:schemeClr val="tx1"/>
                </a:solidFill>
              </a:rPr>
              <a:t>):</a:t>
            </a:r>
            <a:r>
              <a:rPr lang="ru-RU" sz="1500" dirty="0">
                <a:solidFill>
                  <a:schemeClr val="tx1"/>
                </a:solidFill>
              </a:rPr>
              <a:t> </a:t>
            </a:r>
          </a:p>
          <a:p>
            <a:pPr>
              <a:defRPr/>
            </a:pPr>
            <a:r>
              <a:rPr lang="ru-RU" sz="1500" u="sng" dirty="0">
                <a:solidFill>
                  <a:schemeClr val="tx1"/>
                </a:solidFill>
              </a:rPr>
              <a:t>Скоординированные действия по руководству и управлению организацией в отношении рисков</a:t>
            </a:r>
            <a:r>
              <a:rPr lang="ru-RU" sz="1500" dirty="0">
                <a:solidFill>
                  <a:schemeClr val="tx1"/>
                </a:solidFill>
              </a:rPr>
              <a:t>.</a:t>
            </a:r>
          </a:p>
          <a:p>
            <a:pPr>
              <a:defRPr/>
            </a:pPr>
            <a:r>
              <a:rPr lang="ru-RU" sz="1500" b="1" dirty="0">
                <a:solidFill>
                  <a:schemeClr val="tx1"/>
                </a:solidFill>
              </a:rPr>
              <a:t>Примечание</a:t>
            </a:r>
            <a:r>
              <a:rPr lang="ru-RU" sz="1500" dirty="0">
                <a:solidFill>
                  <a:schemeClr val="tx1"/>
                </a:solidFill>
              </a:rPr>
              <a:t> - Обычно менеджмент риска включает оценку рисков, обработку рисков, принятие рисков и коммуникацию рисков.</a:t>
            </a:r>
            <a:endParaRPr lang="ru-RU" sz="1500" dirty="0">
              <a:solidFill>
                <a:schemeClr val="tx1"/>
              </a:solidFill>
              <a:cs typeface="Arial" pitchFamily="34" charset="0"/>
            </a:endParaRPr>
          </a:p>
        </p:txBody>
      </p:sp>
      <p:pic>
        <p:nvPicPr>
          <p:cNvPr id="182278" name="Picture 6" descr="http://media-social.s-msn.com/images/blogs/fdd5c3c5e9974d32987ef94d751f9a59.jpg"/>
          <p:cNvPicPr>
            <a:picLocks noChangeAspect="1" noChangeArrowheads="1"/>
          </p:cNvPicPr>
          <p:nvPr/>
        </p:nvPicPr>
        <p:blipFill>
          <a:blip r:embed="rId3"/>
          <a:srcRect/>
          <a:stretch>
            <a:fillRect/>
          </a:stretch>
        </p:blipFill>
        <p:spPr bwMode="auto">
          <a:xfrm>
            <a:off x="0" y="725488"/>
            <a:ext cx="1473200" cy="1500187"/>
          </a:xfrm>
          <a:prstGeom prst="rect">
            <a:avLst/>
          </a:prstGeom>
          <a:noFill/>
          <a:ln w="9525">
            <a:noFill/>
            <a:miter lim="800000"/>
            <a:headEnd/>
            <a:tailEnd/>
          </a:ln>
        </p:spPr>
      </p:pic>
      <p:pic>
        <p:nvPicPr>
          <p:cNvPr id="182279" name="Picture 2" descr="http://www.imtp.ru/upload/iblock/ee9/ee92111d0cc51b12c5b1caebd3d701ea.png"/>
          <p:cNvPicPr>
            <a:picLocks noChangeAspect="1" noChangeArrowheads="1"/>
          </p:cNvPicPr>
          <p:nvPr/>
        </p:nvPicPr>
        <p:blipFill>
          <a:blip r:embed="rId4"/>
          <a:srcRect/>
          <a:stretch>
            <a:fillRect/>
          </a:stretch>
        </p:blipFill>
        <p:spPr bwMode="auto">
          <a:xfrm>
            <a:off x="0" y="5265738"/>
            <a:ext cx="1773238" cy="820737"/>
          </a:xfrm>
          <a:prstGeom prst="rect">
            <a:avLst/>
          </a:prstGeom>
          <a:noFill/>
          <a:ln w="9525">
            <a:noFill/>
            <a:miter lim="800000"/>
            <a:headEnd/>
            <a:tailEnd/>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4"/>
          <p:cNvSpPr>
            <a:spLocks noChangeArrowheads="1"/>
          </p:cNvSpPr>
          <p:nvPr/>
        </p:nvSpPr>
        <p:spPr bwMode="auto">
          <a:xfrm>
            <a:off x="2752725" y="46038"/>
            <a:ext cx="6254750" cy="830262"/>
          </a:xfrm>
          <a:prstGeom prst="rect">
            <a:avLst/>
          </a:prstGeom>
          <a:noFill/>
          <a:ln w="9525">
            <a:noFill/>
            <a:miter lim="800000"/>
            <a:headEnd/>
            <a:tailEnd/>
          </a:ln>
        </p:spPr>
        <p:txBody>
          <a:bodyPr anchor="ctr">
            <a:spAutoFit/>
          </a:bodyPr>
          <a:lstStyle/>
          <a:p>
            <a:pPr indent="180975" algn="ctr"/>
            <a:r>
              <a:rPr lang="ru-RU" sz="2400" b="1" dirty="0">
                <a:latin typeface="Calibri" pitchFamily="34" charset="0"/>
                <a:cs typeface="Times New Roman" pitchFamily="18" charset="0"/>
              </a:rPr>
              <a:t>ГОСТ Р 51344-99 </a:t>
            </a:r>
            <a:r>
              <a:rPr lang="ru-RU" sz="2400" b="1" dirty="0" smtClean="0">
                <a:latin typeface="Calibri" pitchFamily="34" charset="0"/>
                <a:cs typeface="Times New Roman" pitchFamily="18" charset="0"/>
              </a:rPr>
              <a:t>«Безопасность машин. </a:t>
            </a:r>
            <a:r>
              <a:rPr lang="ru-RU" sz="2400" b="1" dirty="0">
                <a:latin typeface="Calibri" pitchFamily="34" charset="0"/>
                <a:cs typeface="Times New Roman" pitchFamily="18" charset="0"/>
              </a:rPr>
              <a:t>Принципы определения и оценки </a:t>
            </a:r>
            <a:r>
              <a:rPr lang="ru-RU" sz="2400" b="1" dirty="0" smtClean="0">
                <a:latin typeface="Calibri" pitchFamily="34" charset="0"/>
                <a:cs typeface="Times New Roman" pitchFamily="18" charset="0"/>
              </a:rPr>
              <a:t>риска»</a:t>
            </a:r>
            <a:endParaRPr lang="ru-RU" sz="2400" dirty="0">
              <a:latin typeface="Arial" charset="0"/>
            </a:endParaRPr>
          </a:p>
        </p:txBody>
      </p:sp>
      <p:pic>
        <p:nvPicPr>
          <p:cNvPr id="183298" name="Рисунок 10" descr="ГОСТ Р 51344-99 Безопасность машин. Принципы оценки и определения риска"/>
          <p:cNvPicPr>
            <a:picLocks noChangeAspect="1" noChangeArrowheads="1"/>
          </p:cNvPicPr>
          <p:nvPr/>
        </p:nvPicPr>
        <p:blipFill>
          <a:blip r:embed="rId2"/>
          <a:srcRect/>
          <a:stretch>
            <a:fillRect/>
          </a:stretch>
        </p:blipFill>
        <p:spPr bwMode="auto">
          <a:xfrm>
            <a:off x="0" y="847725"/>
            <a:ext cx="5837238" cy="6010275"/>
          </a:xfrm>
          <a:prstGeom prst="rect">
            <a:avLst/>
          </a:prstGeom>
          <a:noFill/>
          <a:ln w="9525">
            <a:noFill/>
            <a:miter lim="800000"/>
            <a:headEnd/>
            <a:tailEnd/>
          </a:ln>
        </p:spPr>
      </p:pic>
      <p:sp>
        <p:nvSpPr>
          <p:cNvPr id="183299" name="Прямоугольник 11"/>
          <p:cNvSpPr>
            <a:spLocks noChangeArrowheads="1"/>
          </p:cNvSpPr>
          <p:nvPr/>
        </p:nvSpPr>
        <p:spPr bwMode="auto">
          <a:xfrm>
            <a:off x="5837238" y="1192213"/>
            <a:ext cx="3170237" cy="922337"/>
          </a:xfrm>
          <a:prstGeom prst="rect">
            <a:avLst/>
          </a:prstGeom>
          <a:noFill/>
          <a:ln w="9525">
            <a:noFill/>
            <a:miter lim="800000"/>
            <a:headEnd/>
            <a:tailEnd/>
          </a:ln>
        </p:spPr>
        <p:txBody>
          <a:bodyPr>
            <a:spAutoFit/>
          </a:bodyPr>
          <a:lstStyle/>
          <a:p>
            <a:pPr algn="ctr"/>
            <a:r>
              <a:rPr lang="ru-RU" sz="1800" b="1">
                <a:latin typeface="Arial" charset="0"/>
              </a:rPr>
              <a:t>Итеративный процесс достижения необходимой безопасности</a:t>
            </a:r>
          </a:p>
        </p:txBody>
      </p:sp>
      <p:sp>
        <p:nvSpPr>
          <p:cNvPr id="183300" name="Прямоугольник 12"/>
          <p:cNvSpPr>
            <a:spLocks noChangeArrowheads="1"/>
          </p:cNvSpPr>
          <p:nvPr/>
        </p:nvSpPr>
        <p:spPr bwMode="auto">
          <a:xfrm>
            <a:off x="5729288" y="3800475"/>
            <a:ext cx="3278187" cy="954088"/>
          </a:xfrm>
          <a:prstGeom prst="rect">
            <a:avLst/>
          </a:prstGeom>
          <a:noFill/>
          <a:ln w="9525">
            <a:noFill/>
            <a:miter lim="800000"/>
            <a:headEnd/>
            <a:tailEnd/>
          </a:ln>
        </p:spPr>
        <p:txBody>
          <a:bodyPr>
            <a:spAutoFit/>
          </a:bodyPr>
          <a:lstStyle/>
          <a:p>
            <a:r>
              <a:rPr lang="ru-RU">
                <a:latin typeface="Arial" charset="0"/>
              </a:rPr>
              <a:t>Примечание: уменьшение риска и выбор соответствующих мер защиты не является частью оценки и определения риска.</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323850" y="1189039"/>
            <a:ext cx="5126038" cy="3734654"/>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defRPr/>
            </a:pPr>
            <a:endParaRPr lang="ru-RU" sz="1800" b="1" i="1" dirty="0">
              <a:solidFill>
                <a:schemeClr val="tx1"/>
              </a:solidFill>
            </a:endParaRPr>
          </a:p>
          <a:p>
            <a:pPr marL="266700" indent="-266700" algn="ctr">
              <a:defRPr/>
            </a:pPr>
            <a:r>
              <a:rPr lang="ru-RU" sz="1800" b="1" dirty="0">
                <a:solidFill>
                  <a:srgbClr val="1B8381"/>
                </a:solidFill>
              </a:rPr>
              <a:t>Охрана труда и </a:t>
            </a:r>
            <a:r>
              <a:rPr lang="ru-RU" sz="1800" b="1" dirty="0" smtClean="0">
                <a:solidFill>
                  <a:srgbClr val="1B8381"/>
                </a:solidFill>
              </a:rPr>
              <a:t>экономика</a:t>
            </a:r>
            <a:endParaRPr lang="ru-RU" sz="1800" b="1" dirty="0">
              <a:solidFill>
                <a:srgbClr val="1B8381"/>
              </a:solidFill>
            </a:endParaRPr>
          </a:p>
        </p:txBody>
      </p:sp>
      <p:pic>
        <p:nvPicPr>
          <p:cNvPr id="184322" name="Рисунок 7" descr="http://2qznue1c4kzbrho3o22djm2m2a.wpengine.netdna-cdn.com/wp-content/uploads/2015/07/Dollarphotoclub_53354246.jpg"/>
          <p:cNvPicPr>
            <a:picLocks noChangeAspect="1" noChangeArrowheads="1"/>
          </p:cNvPicPr>
          <p:nvPr/>
        </p:nvPicPr>
        <p:blipFill>
          <a:blip r:embed="rId2"/>
          <a:srcRect/>
          <a:stretch>
            <a:fillRect/>
          </a:stretch>
        </p:blipFill>
        <p:spPr bwMode="auto">
          <a:xfrm>
            <a:off x="5697414" y="3864023"/>
            <a:ext cx="3080826" cy="2119340"/>
          </a:xfrm>
          <a:prstGeom prst="rect">
            <a:avLst/>
          </a:prstGeom>
          <a:noFill/>
          <a:ln w="9525">
            <a:noFill/>
            <a:miter lim="800000"/>
            <a:headEnd/>
            <a:tailEnd/>
          </a:ln>
        </p:spPr>
      </p:pic>
      <p:pic>
        <p:nvPicPr>
          <p:cNvPr id="184323" name="Picture 6" descr="http://www.fx57.net/wp-content/uploads/2012/09/SMOLB50.jpg"/>
          <p:cNvPicPr>
            <a:picLocks noChangeAspect="1" noChangeArrowheads="1"/>
          </p:cNvPicPr>
          <p:nvPr/>
        </p:nvPicPr>
        <p:blipFill>
          <a:blip r:embed="rId3"/>
          <a:srcRect/>
          <a:stretch>
            <a:fillRect/>
          </a:stretch>
        </p:blipFill>
        <p:spPr bwMode="auto">
          <a:xfrm>
            <a:off x="6063174" y="688610"/>
            <a:ext cx="2518117" cy="2539337"/>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802738" y="461169"/>
            <a:ext cx="7704138" cy="922338"/>
          </a:xfrm>
          <a:prstGeom prst="rect">
            <a:avLst/>
          </a:prstGeom>
        </p:spPr>
        <p:txBody>
          <a:bodyPr/>
          <a:lstStyle/>
          <a:p>
            <a:r>
              <a:rPr lang="ru-RU" sz="3200" b="1" dirty="0">
                <a:latin typeface="Lucida Sans Unicode" pitchFamily="34" charset="0"/>
              </a:rPr>
              <a:t>Как оценить влияние охраны труда на экономические </a:t>
            </a:r>
            <a:r>
              <a:rPr lang="ru-RU" sz="3200" b="1" dirty="0" smtClean="0">
                <a:latin typeface="Lucida Sans Unicode" pitchFamily="34" charset="0"/>
              </a:rPr>
              <a:t>показатели ?</a:t>
            </a:r>
            <a:endParaRPr lang="ru-RU" sz="3200" b="1" dirty="0">
              <a:latin typeface="Lucida Sans Unicode" pitchFamily="34" charset="0"/>
            </a:endParaRPr>
          </a:p>
        </p:txBody>
      </p:sp>
      <p:sp>
        <p:nvSpPr>
          <p:cNvPr id="3" name="Rectangle 3"/>
          <p:cNvSpPr txBox="1">
            <a:spLocks noChangeArrowheads="1"/>
          </p:cNvSpPr>
          <p:nvPr/>
        </p:nvSpPr>
        <p:spPr>
          <a:xfrm>
            <a:off x="173038" y="1930400"/>
            <a:ext cx="5959475" cy="3690938"/>
          </a:xfrm>
          <a:prstGeom prst="rect">
            <a:avLst/>
          </a:prstGeom>
        </p:spPr>
        <p:txBody>
          <a:bodyPr/>
          <a:lstStyle/>
          <a:p>
            <a:pPr marL="609600" indent="-609600">
              <a:lnSpc>
                <a:spcPct val="90000"/>
              </a:lnSpc>
              <a:spcBef>
                <a:spcPct val="20000"/>
              </a:spcBef>
              <a:buFont typeface="Wingdings" pitchFamily="2" charset="2"/>
              <a:buChar char="ü"/>
            </a:pPr>
            <a:r>
              <a:rPr lang="ru-RU" sz="2800" b="1" dirty="0">
                <a:latin typeface="Lucida Sans Unicode" pitchFamily="34" charset="0"/>
              </a:rPr>
              <a:t>Оценить «стоимость» несчастных случаев на производстве.</a:t>
            </a:r>
          </a:p>
          <a:p>
            <a:pPr marL="609600" indent="-609600">
              <a:lnSpc>
                <a:spcPct val="90000"/>
              </a:lnSpc>
              <a:spcBef>
                <a:spcPct val="20000"/>
              </a:spcBef>
              <a:buFont typeface="Wingdings" pitchFamily="2" charset="2"/>
              <a:buChar char="ü"/>
            </a:pPr>
            <a:endParaRPr lang="ru-RU" sz="800" b="1" dirty="0">
              <a:latin typeface="Lucida Sans Unicode" pitchFamily="34" charset="0"/>
            </a:endParaRPr>
          </a:p>
          <a:p>
            <a:pPr marL="609600" indent="-609600">
              <a:lnSpc>
                <a:spcPct val="90000"/>
              </a:lnSpc>
              <a:spcBef>
                <a:spcPct val="20000"/>
              </a:spcBef>
              <a:buFont typeface="Wingdings" pitchFamily="2" charset="2"/>
              <a:buChar char="ü"/>
            </a:pPr>
            <a:r>
              <a:rPr lang="ru-RU" sz="2800" b="1" dirty="0">
                <a:latin typeface="Lucida Sans Unicode" pitchFamily="34" charset="0"/>
              </a:rPr>
              <a:t>Оценить экономическую эффективность инвестиций в мероприятия по охране труда (без учета несчастных случаев)</a:t>
            </a:r>
            <a:r>
              <a:rPr lang="en-US" sz="2800" b="1" dirty="0">
                <a:latin typeface="Lucida Sans Unicode" pitchFamily="34" charset="0"/>
              </a:rPr>
              <a:t/>
            </a:r>
            <a:br>
              <a:rPr lang="en-US" sz="2800" b="1" dirty="0">
                <a:latin typeface="Lucida Sans Unicode" pitchFamily="34" charset="0"/>
              </a:rPr>
            </a:br>
            <a:endParaRPr lang="ru-RU" sz="2800" b="1" dirty="0">
              <a:latin typeface="Lucida Sans Unicode" pitchFamily="34" charset="0"/>
            </a:endParaRPr>
          </a:p>
          <a:p>
            <a:pPr marL="609600" indent="-609600">
              <a:lnSpc>
                <a:spcPct val="90000"/>
              </a:lnSpc>
              <a:spcBef>
                <a:spcPct val="20000"/>
              </a:spcBef>
              <a:buFont typeface="Wingdings" pitchFamily="2" charset="2"/>
              <a:buChar char="ü"/>
            </a:pPr>
            <a:endParaRPr lang="ru-RU" sz="2800" b="1" dirty="0">
              <a:latin typeface="Lucida Sans Unicode" pitchFamily="34" charset="0"/>
            </a:endParaRPr>
          </a:p>
        </p:txBody>
      </p:sp>
      <p:pic>
        <p:nvPicPr>
          <p:cNvPr id="185347" name="Picture 2" descr="Статистическое ведомство РК собирает данные онлайн Экономика Информационный портал Республики Казахстан"/>
          <p:cNvPicPr>
            <a:picLocks noChangeAspect="1" noChangeArrowheads="1"/>
          </p:cNvPicPr>
          <p:nvPr/>
        </p:nvPicPr>
        <p:blipFill>
          <a:blip r:embed="rId2"/>
          <a:srcRect/>
          <a:stretch>
            <a:fillRect/>
          </a:stretch>
        </p:blipFill>
        <p:spPr bwMode="auto">
          <a:xfrm>
            <a:off x="6132513" y="2792242"/>
            <a:ext cx="2729132" cy="204202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anim calcmode="lin" valueType="num">
                                      <p:cBhvr>
                                        <p:cTn id="1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3">
                                            <p:txEl>
                                              <p:pRg st="2" end="2"/>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3">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7" name="Rectangle 3"/>
          <p:cNvSpPr>
            <a:spLocks noGrp="1" noChangeArrowheads="1"/>
          </p:cNvSpPr>
          <p:nvPr>
            <p:ph idx="1"/>
          </p:nvPr>
        </p:nvSpPr>
        <p:spPr>
          <a:xfrm>
            <a:off x="130175" y="2125554"/>
            <a:ext cx="8451117" cy="4007960"/>
          </a:xfrm>
        </p:spPr>
        <p:txBody>
          <a:bodyPr>
            <a:normAutofit/>
          </a:bodyPr>
          <a:lstStyle/>
          <a:p>
            <a:pPr marL="365760" indent="-256032" fontAlgn="auto">
              <a:lnSpc>
                <a:spcPct val="80000"/>
              </a:lnSpc>
              <a:spcAft>
                <a:spcPts val="0"/>
              </a:spcAft>
              <a:buFont typeface="Wingdings" pitchFamily="2" charset="2"/>
              <a:buChar char="ü"/>
              <a:defRPr/>
            </a:pPr>
            <a:endParaRPr lang="ru-RU" sz="1600" b="1" dirty="0">
              <a:solidFill>
                <a:srgbClr val="002060"/>
              </a:solidFill>
              <a:latin typeface="Garamond" pitchFamily="18" charset="0"/>
            </a:endParaRPr>
          </a:p>
          <a:p>
            <a:pPr marL="365760" indent="-256032" fontAlgn="auto">
              <a:lnSpc>
                <a:spcPct val="80000"/>
              </a:lnSpc>
              <a:spcAft>
                <a:spcPts val="0"/>
              </a:spcAft>
              <a:buFont typeface="Wingdings" pitchFamily="2" charset="2"/>
              <a:buChar char="ü"/>
              <a:defRPr/>
            </a:pPr>
            <a:r>
              <a:rPr lang="ru-RU" sz="1600" b="1" dirty="0">
                <a:solidFill>
                  <a:srgbClr val="002060"/>
                </a:solidFill>
                <a:latin typeface="Garamond" pitchFamily="18" charset="0"/>
              </a:rPr>
              <a:t>Анализ «затраты-выгоды» - используется для оценки риска, где общие ожидаемые затраты в сфере охраны труда сравниваются с общими ожидаемыми выгодами, следующими из реализации мероприятий по улучшению условий и охраны труда работающих. </a:t>
            </a:r>
          </a:p>
          <a:p>
            <a:pPr marL="365760" indent="-256032" fontAlgn="auto">
              <a:lnSpc>
                <a:spcPct val="80000"/>
              </a:lnSpc>
              <a:spcAft>
                <a:spcPts val="0"/>
              </a:spcAft>
              <a:buFont typeface="Wingdings" pitchFamily="2" charset="2"/>
              <a:buChar char="ü"/>
              <a:defRPr/>
            </a:pPr>
            <a:r>
              <a:rPr lang="ru-RU" sz="1600" b="1" dirty="0">
                <a:solidFill>
                  <a:srgbClr val="002060"/>
                </a:solidFill>
                <a:latin typeface="Garamond" pitchFamily="18" charset="0"/>
              </a:rPr>
              <a:t>В силу ограниченности ресурсов организации, предусмотренных на цели охраны труда, метод является достаточно актуальным, поскольку позволяет выбрать наиболее оптимальный путь расходования финансовых средств, который позволит сократить расходы организации, которые могут иметь место в результате аварий и несчастных случаев на производстве (например, расходы на оказание первой помощи пострадавшим, их транспортировку в лечебное учреждение, надбавки к страховым тарифам на обязательное социальное страхование от несчастных случаев на производстве и профессиональных заболеваний, административные штрафы, налагаемые органами государственного надзора и контроля, реализация решений комиссии по расследованию несчастного случая и т.д.). </a:t>
            </a:r>
          </a:p>
          <a:p>
            <a:pPr marL="365760" indent="-256032" fontAlgn="auto">
              <a:lnSpc>
                <a:spcPct val="80000"/>
              </a:lnSpc>
              <a:spcAft>
                <a:spcPts val="0"/>
              </a:spcAft>
              <a:buFont typeface="Wingdings" pitchFamily="2" charset="2"/>
              <a:buChar char="ü"/>
              <a:defRPr/>
            </a:pPr>
            <a:r>
              <a:rPr lang="ru-RU" sz="1600" b="1" dirty="0">
                <a:solidFill>
                  <a:srgbClr val="002060"/>
                </a:solidFill>
                <a:latin typeface="Garamond" pitchFamily="18" charset="0"/>
              </a:rPr>
              <a:t>Основной задачей, решаемой при использовании данного метода, является определение четких критериев для объективной и явной оценки общей стоимости ряда вариантов мероприятий по охране труда.</a:t>
            </a:r>
          </a:p>
        </p:txBody>
      </p:sp>
      <p:sp>
        <p:nvSpPr>
          <p:cNvPr id="218114" name="Rectangle 2"/>
          <p:cNvSpPr>
            <a:spLocks noGrp="1" noChangeArrowheads="1"/>
          </p:cNvSpPr>
          <p:nvPr>
            <p:ph type="title"/>
          </p:nvPr>
        </p:nvSpPr>
        <p:spPr>
          <a:xfrm>
            <a:off x="630141" y="362672"/>
            <a:ext cx="5320493" cy="912091"/>
          </a:xfrm>
          <a:blipFill>
            <a:blip r:embed="rId3"/>
            <a:tile tx="0" ty="0" sx="100000" sy="100000" flip="none" algn="tl"/>
          </a:blipFill>
        </p:spPr>
        <p:txBody>
          <a:bodyPr>
            <a:normAutofit fontScale="90000"/>
          </a:bodyPr>
          <a:lstStyle/>
          <a:p>
            <a:pPr fontAlgn="auto">
              <a:spcAft>
                <a:spcPts val="0"/>
              </a:spcAft>
              <a:defRPr/>
            </a:pPr>
            <a:r>
              <a:rPr lang="ru-RU" sz="2800" dirty="0">
                <a:solidFill>
                  <a:srgbClr val="002060"/>
                </a:solidFill>
                <a:effectLst>
                  <a:outerShdw blurRad="38100" dist="38100" dir="2700000" algn="tl">
                    <a:srgbClr val="C0C0C0"/>
                  </a:outerShdw>
                </a:effectLst>
                <a:latin typeface="Garamond" pitchFamily="18" charset="0"/>
                <a:cs typeface="Arial" pitchFamily="34" charset="0"/>
              </a:rPr>
              <a:t>Прямой метод оценки риска – </a:t>
            </a:r>
            <a:br>
              <a:rPr lang="ru-RU" sz="2800" dirty="0">
                <a:solidFill>
                  <a:srgbClr val="002060"/>
                </a:solidFill>
                <a:effectLst>
                  <a:outerShdw blurRad="38100" dist="38100" dir="2700000" algn="tl">
                    <a:srgbClr val="C0C0C0"/>
                  </a:outerShdw>
                </a:effectLst>
                <a:latin typeface="Garamond" pitchFamily="18" charset="0"/>
                <a:cs typeface="Arial" pitchFamily="34" charset="0"/>
              </a:rPr>
            </a:br>
            <a:r>
              <a:rPr lang="ru-RU" sz="2800" dirty="0">
                <a:solidFill>
                  <a:srgbClr val="002060"/>
                </a:solidFill>
                <a:effectLst>
                  <a:outerShdw blurRad="38100" dist="38100" dir="2700000" algn="tl">
                    <a:srgbClr val="C0C0C0"/>
                  </a:outerShdw>
                </a:effectLst>
                <a:latin typeface="Garamond" pitchFamily="18" charset="0"/>
                <a:cs typeface="Arial" pitchFamily="34" charset="0"/>
              </a:rPr>
              <a:t>Анализ «затраты-выгоды»</a:t>
            </a:r>
            <a:endParaRPr lang="ru-RU" sz="4400" dirty="0">
              <a:solidFill>
                <a:srgbClr val="002060"/>
              </a:solidFill>
            </a:endParaRPr>
          </a:p>
        </p:txBody>
      </p:sp>
      <p:pic>
        <p:nvPicPr>
          <p:cNvPr id="186371" name="Picture 2" descr="c6f1cee5f8cd04e148d83294e33dcda0_XL"/>
          <p:cNvPicPr>
            <a:picLocks noChangeAspect="1" noChangeArrowheads="1"/>
          </p:cNvPicPr>
          <p:nvPr/>
        </p:nvPicPr>
        <p:blipFill>
          <a:blip r:embed="rId4"/>
          <a:srcRect/>
          <a:stretch>
            <a:fillRect/>
          </a:stretch>
        </p:blipFill>
        <p:spPr bwMode="auto">
          <a:xfrm>
            <a:off x="6161088" y="362672"/>
            <a:ext cx="2650421" cy="176288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7" name="Rectangle 3"/>
          <p:cNvSpPr>
            <a:spLocks noGrp="1" noChangeArrowheads="1"/>
          </p:cNvSpPr>
          <p:nvPr>
            <p:ph idx="1"/>
          </p:nvPr>
        </p:nvSpPr>
        <p:spPr>
          <a:xfrm>
            <a:off x="157163" y="2161377"/>
            <a:ext cx="8522603" cy="2607571"/>
          </a:xfrm>
        </p:spPr>
        <p:txBody>
          <a:bodyPr/>
          <a:lstStyle/>
          <a:p>
            <a:pPr>
              <a:lnSpc>
                <a:spcPct val="80000"/>
              </a:lnSpc>
              <a:buFont typeface="Wingdings" pitchFamily="2" charset="2"/>
              <a:buChar char="ü"/>
            </a:pPr>
            <a:endParaRPr lang="ru-RU" sz="1800" b="1" dirty="0" smtClean="0">
              <a:solidFill>
                <a:srgbClr val="002060"/>
              </a:solidFill>
              <a:latin typeface="Garamond" pitchFamily="18" charset="0"/>
            </a:endParaRPr>
          </a:p>
          <a:p>
            <a:pPr>
              <a:lnSpc>
                <a:spcPct val="80000"/>
              </a:lnSpc>
              <a:buFont typeface="Wingdings" pitchFamily="2" charset="2"/>
              <a:buChar char="ü"/>
            </a:pPr>
            <a:r>
              <a:rPr lang="ru-RU" sz="1800" b="1" dirty="0" smtClean="0">
                <a:solidFill>
                  <a:srgbClr val="002060"/>
                </a:solidFill>
                <a:latin typeface="Garamond" pitchFamily="18" charset="0"/>
              </a:rPr>
              <a:t>Часто возникающая проблема использования данного метода в том, что, как правило, затраты материальны, конкретны и выражаются финансовыми показателями, тогда как преимущества могут быть как конкретными и материальными, так и неконкретными и нематериальными. </a:t>
            </a:r>
          </a:p>
          <a:p>
            <a:pPr>
              <a:lnSpc>
                <a:spcPct val="80000"/>
              </a:lnSpc>
              <a:buFont typeface="Wingdings" pitchFamily="2" charset="2"/>
              <a:buChar char="ü"/>
            </a:pPr>
            <a:r>
              <a:rPr lang="ru-RU" sz="1800" b="1" dirty="0" smtClean="0">
                <a:solidFill>
                  <a:srgbClr val="002060"/>
                </a:solidFill>
                <a:latin typeface="Garamond" pitchFamily="18" charset="0"/>
              </a:rPr>
              <a:t>Надо с осторожностью подходить к утверждениям, что «если вы не можете измерить что-то, то это не существует/не имеет никакой ценности». </a:t>
            </a:r>
          </a:p>
          <a:p>
            <a:pPr>
              <a:lnSpc>
                <a:spcPct val="80000"/>
              </a:lnSpc>
              <a:buFont typeface="Wingdings" pitchFamily="2" charset="2"/>
              <a:buChar char="ü"/>
            </a:pPr>
            <a:r>
              <a:rPr lang="ru-RU" sz="1800" b="1" dirty="0" smtClean="0">
                <a:solidFill>
                  <a:srgbClr val="002060"/>
                </a:solidFill>
                <a:latin typeface="Garamond" pitchFamily="18" charset="0"/>
              </a:rPr>
              <a:t>Особенно в стратегических инвестициях, часто нематериальные преимущества явно превосходят финансовые преимущества. </a:t>
            </a:r>
          </a:p>
          <a:p>
            <a:pPr>
              <a:lnSpc>
                <a:spcPct val="80000"/>
              </a:lnSpc>
              <a:buFont typeface="Wingdings" pitchFamily="2" charset="2"/>
              <a:buChar char="ü"/>
            </a:pPr>
            <a:endParaRPr lang="ru-RU" sz="1800" b="1" dirty="0" smtClean="0">
              <a:solidFill>
                <a:srgbClr val="002060"/>
              </a:solidFill>
              <a:latin typeface="Garamond" pitchFamily="18" charset="0"/>
            </a:endParaRPr>
          </a:p>
        </p:txBody>
      </p:sp>
      <p:sp>
        <p:nvSpPr>
          <p:cNvPr id="218114" name="Rectangle 2"/>
          <p:cNvSpPr>
            <a:spLocks noGrp="1" noChangeArrowheads="1"/>
          </p:cNvSpPr>
          <p:nvPr>
            <p:ph type="title"/>
          </p:nvPr>
        </p:nvSpPr>
        <p:spPr>
          <a:xfrm>
            <a:off x="517237" y="477043"/>
            <a:ext cx="4969163" cy="576263"/>
          </a:xfrm>
          <a:blipFill>
            <a:blip r:embed="rId3"/>
            <a:tile tx="0" ty="0" sx="100000" sy="100000" flip="none" algn="tl"/>
          </a:blipFill>
        </p:spPr>
        <p:txBody>
          <a:bodyPr/>
          <a:lstStyle/>
          <a:p>
            <a:pPr fontAlgn="auto">
              <a:spcAft>
                <a:spcPts val="0"/>
              </a:spcAft>
              <a:defRPr/>
            </a:pPr>
            <a:r>
              <a:rPr lang="ru-RU" sz="2800" dirty="0">
                <a:solidFill>
                  <a:srgbClr val="002060"/>
                </a:solidFill>
                <a:effectLst>
                  <a:outerShdw blurRad="38100" dist="38100" dir="2700000" algn="tl">
                    <a:srgbClr val="C0C0C0"/>
                  </a:outerShdw>
                </a:effectLst>
                <a:latin typeface="Garamond" pitchFamily="18" charset="0"/>
                <a:cs typeface="Arial" pitchFamily="34" charset="0"/>
              </a:rPr>
              <a:t>Анализ «затраты-выгоды»</a:t>
            </a:r>
            <a:endParaRPr lang="ru-RU" sz="4400" dirty="0">
              <a:solidFill>
                <a:srgbClr val="002060"/>
              </a:solidFill>
            </a:endParaRPr>
          </a:p>
        </p:txBody>
      </p:sp>
      <p:pic>
        <p:nvPicPr>
          <p:cNvPr id="188419" name="Picture 2" descr="1320761057_e5c842d4772e027d366b9e6ed840432f"/>
          <p:cNvPicPr>
            <a:picLocks noChangeAspect="1" noChangeArrowheads="1"/>
          </p:cNvPicPr>
          <p:nvPr/>
        </p:nvPicPr>
        <p:blipFill>
          <a:blip r:embed="rId4"/>
          <a:srcRect/>
          <a:stretch>
            <a:fillRect/>
          </a:stretch>
        </p:blipFill>
        <p:spPr bwMode="auto">
          <a:xfrm>
            <a:off x="6330460" y="305558"/>
            <a:ext cx="2602523" cy="185581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p:cTn id="7" dur="500" fill="hold"/>
                                        <p:tgtEl>
                                          <p:spTgt spid="218114"/>
                                        </p:tgtEl>
                                        <p:attrNameLst>
                                          <p:attrName>ppt_w</p:attrName>
                                        </p:attrNameLst>
                                      </p:cBhvr>
                                      <p:tavLst>
                                        <p:tav tm="0">
                                          <p:val>
                                            <p:fltVal val="0"/>
                                          </p:val>
                                        </p:tav>
                                        <p:tav tm="100000">
                                          <p:val>
                                            <p:strVal val="#ppt_w"/>
                                          </p:val>
                                        </p:tav>
                                      </p:tavLst>
                                    </p:anim>
                                    <p:anim calcmode="lin" valueType="num">
                                      <p:cBhvr>
                                        <p:cTn id="8" dur="500" fill="hold"/>
                                        <p:tgtEl>
                                          <p:spTgt spid="218114"/>
                                        </p:tgtEl>
                                        <p:attrNameLst>
                                          <p:attrName>ppt_h</p:attrName>
                                        </p:attrNameLst>
                                      </p:cBhvr>
                                      <p:tavLst>
                                        <p:tav tm="0">
                                          <p:val>
                                            <p:fltVal val="0"/>
                                          </p:val>
                                        </p:tav>
                                        <p:tav tm="100000">
                                          <p:val>
                                            <p:strVal val="#ppt_h"/>
                                          </p:val>
                                        </p:tav>
                                      </p:tavLst>
                                    </p:anim>
                                    <p:animEffect transition="in" filter="fade">
                                      <p:cBhvr>
                                        <p:cTn id="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Прямоугольник 1"/>
          <p:cNvSpPr>
            <a:spLocks noChangeArrowheads="1"/>
          </p:cNvSpPr>
          <p:nvPr/>
        </p:nvSpPr>
        <p:spPr bwMode="auto">
          <a:xfrm>
            <a:off x="1296988" y="0"/>
            <a:ext cx="7515225" cy="1077913"/>
          </a:xfrm>
          <a:prstGeom prst="rect">
            <a:avLst/>
          </a:prstGeom>
          <a:noFill/>
          <a:ln w="9525">
            <a:noFill/>
            <a:miter lim="800000"/>
            <a:headEnd/>
            <a:tailEnd/>
          </a:ln>
        </p:spPr>
        <p:txBody>
          <a:bodyPr>
            <a:spAutoFit/>
          </a:bodyPr>
          <a:lstStyle/>
          <a:p>
            <a:pPr algn="ctr"/>
            <a:r>
              <a:rPr lang="ru-RU" sz="3200" b="1">
                <a:solidFill>
                  <a:schemeClr val="bg1"/>
                </a:solidFill>
                <a:latin typeface="Arial" charset="0"/>
              </a:rPr>
              <a:t>ПОСТАНОВЛЕНИЕ МИНТРУДА от 24 октября 2002 г. № 73</a:t>
            </a:r>
            <a:r>
              <a:rPr lang="ru-RU" sz="3200">
                <a:solidFill>
                  <a:schemeClr val="bg1"/>
                </a:solidFill>
                <a:latin typeface="Arial" charset="0"/>
              </a:rPr>
              <a:t> </a:t>
            </a:r>
          </a:p>
        </p:txBody>
      </p:sp>
      <p:sp>
        <p:nvSpPr>
          <p:cNvPr id="3" name="Rectangle 3"/>
          <p:cNvSpPr txBox="1">
            <a:spLocks noChangeArrowheads="1"/>
          </p:cNvSpPr>
          <p:nvPr/>
        </p:nvSpPr>
        <p:spPr bwMode="auto">
          <a:xfrm>
            <a:off x="357188" y="647114"/>
            <a:ext cx="8578850" cy="5256213"/>
          </a:xfrm>
          <a:prstGeom prst="rect">
            <a:avLst/>
          </a:prstGeom>
          <a:noFill/>
          <a:ln w="9525">
            <a:noFill/>
            <a:miter lim="800000"/>
            <a:headEnd/>
            <a:tailEnd/>
          </a:ln>
        </p:spPr>
        <p:txBody>
          <a:bodyPr/>
          <a:lstStyle/>
          <a:p>
            <a:pPr marL="609600" indent="-609600" algn="r">
              <a:lnSpc>
                <a:spcPct val="90000"/>
              </a:lnSpc>
              <a:spcBef>
                <a:spcPct val="20000"/>
              </a:spcBef>
            </a:pPr>
            <a:r>
              <a:rPr lang="ru-RU" sz="2400" b="1" dirty="0">
                <a:latin typeface="Lucida Sans Unicode" pitchFamily="34" charset="0"/>
              </a:rPr>
              <a:t>Форма 8</a:t>
            </a:r>
          </a:p>
          <a:p>
            <a:pPr marL="609600" indent="-609600" algn="ctr">
              <a:lnSpc>
                <a:spcPct val="90000"/>
              </a:lnSpc>
              <a:spcBef>
                <a:spcPct val="20000"/>
              </a:spcBef>
            </a:pPr>
            <a:r>
              <a:rPr lang="ru-RU" sz="2400" b="1" dirty="0">
                <a:latin typeface="Lucida Sans Unicode" pitchFamily="34" charset="0"/>
              </a:rPr>
              <a:t>СООБЩЕНИЕ </a:t>
            </a:r>
            <a:br>
              <a:rPr lang="ru-RU" sz="2400" b="1" dirty="0">
                <a:latin typeface="Lucida Sans Unicode" pitchFamily="34" charset="0"/>
              </a:rPr>
            </a:br>
            <a:r>
              <a:rPr lang="ru-RU" sz="2400" b="1" dirty="0">
                <a:latin typeface="Lucida Sans Unicode" pitchFamily="34" charset="0"/>
              </a:rPr>
              <a:t>о последствиях несчастного случая на производстве и принятых мерах</a:t>
            </a:r>
          </a:p>
          <a:p>
            <a:pPr marL="609600" indent="-609600" algn="ctr">
              <a:lnSpc>
                <a:spcPct val="90000"/>
              </a:lnSpc>
              <a:spcBef>
                <a:spcPct val="20000"/>
              </a:spcBef>
            </a:pPr>
            <a:endParaRPr lang="ru-RU" sz="2400" b="1" dirty="0">
              <a:latin typeface="Lucida Sans Unicode" pitchFamily="34" charset="0"/>
            </a:endParaRPr>
          </a:p>
          <a:p>
            <a:pPr marL="609600" indent="-609600">
              <a:lnSpc>
                <a:spcPct val="90000"/>
              </a:lnSpc>
              <a:spcBef>
                <a:spcPct val="20000"/>
              </a:spcBef>
            </a:pPr>
            <a:r>
              <a:rPr lang="ru-RU" sz="1800" b="1" dirty="0">
                <a:latin typeface="Lucida Sans Unicode" pitchFamily="34" charset="0"/>
                <a:ea typeface="Arial" charset="0"/>
                <a:cs typeface="Times New Roman" pitchFamily="18" charset="0"/>
              </a:rPr>
              <a:t>4) стоимость испорченного оборудования и инструмента в результате несчастного случая на производстве __________ руб.</a:t>
            </a:r>
          </a:p>
          <a:p>
            <a:pPr marL="609600" indent="-609600" algn="just">
              <a:lnSpc>
                <a:spcPct val="90000"/>
              </a:lnSpc>
              <a:spcBef>
                <a:spcPct val="20000"/>
              </a:spcBef>
            </a:pPr>
            <a:r>
              <a:rPr lang="ru-RU" sz="1800" b="1" dirty="0">
                <a:latin typeface="Lucida Sans Unicode" pitchFamily="34" charset="0"/>
                <a:ea typeface="Arial" charset="0"/>
                <a:cs typeface="Times New Roman" pitchFamily="18" charset="0"/>
              </a:rPr>
              <a:t>5) стоимость разрушенных зданий и сооружений в результате несчастного случая на производстве _______________ руб.</a:t>
            </a:r>
          </a:p>
          <a:p>
            <a:pPr marL="609600" indent="-609600" algn="just">
              <a:lnSpc>
                <a:spcPct val="90000"/>
              </a:lnSpc>
              <a:spcBef>
                <a:spcPct val="20000"/>
              </a:spcBef>
            </a:pPr>
            <a:r>
              <a:rPr lang="ru-RU" sz="1800" b="1" dirty="0">
                <a:latin typeface="Lucida Sans Unicode" pitchFamily="34" charset="0"/>
                <a:ea typeface="Arial" charset="0"/>
                <a:cs typeface="Times New Roman" pitchFamily="18" charset="0"/>
              </a:rPr>
              <a:t>6) сумма прочих расходов (на проведение экспертиз, исследований, оформление материалов и др.) ________________ руб.</a:t>
            </a:r>
          </a:p>
          <a:p>
            <a:pPr marL="609600" indent="-609600" algn="just">
              <a:lnSpc>
                <a:spcPct val="90000"/>
              </a:lnSpc>
              <a:spcBef>
                <a:spcPct val="20000"/>
              </a:spcBef>
            </a:pPr>
            <a:r>
              <a:rPr lang="ru-RU" sz="1800" b="1" dirty="0">
                <a:latin typeface="Lucida Sans Unicode" pitchFamily="34" charset="0"/>
                <a:ea typeface="Arial" charset="0"/>
                <a:cs typeface="Times New Roman" pitchFamily="18" charset="0"/>
              </a:rPr>
              <a:t>7) суммарный материальный ущерб от последствий несчастного случая на производстве ______________________ руб.</a:t>
            </a:r>
          </a:p>
          <a:p>
            <a:pPr marL="609600" indent="-609600" algn="ctr">
              <a:lnSpc>
                <a:spcPct val="90000"/>
              </a:lnSpc>
              <a:spcBef>
                <a:spcPct val="20000"/>
              </a:spcBef>
            </a:pPr>
            <a:r>
              <a:rPr lang="ru-RU" sz="1800" b="1" dirty="0">
                <a:latin typeface="Lucida Sans Unicode" pitchFamily="34" charset="0"/>
                <a:ea typeface="Arial" charset="0"/>
                <a:cs typeface="Times New Roman" pitchFamily="18" charset="0"/>
              </a:rPr>
              <a:t>(сумма строк 4 - 6)</a:t>
            </a:r>
          </a:p>
          <a:p>
            <a:pPr marL="609600" indent="-609600" algn="just">
              <a:lnSpc>
                <a:spcPct val="90000"/>
              </a:lnSpc>
              <a:spcBef>
                <a:spcPct val="20000"/>
              </a:spcBef>
            </a:pPr>
            <a:r>
              <a:rPr lang="ru-RU" sz="1800" b="1" dirty="0">
                <a:latin typeface="Lucida Sans Unicode" pitchFamily="34" charset="0"/>
                <a:ea typeface="Arial" charset="0"/>
                <a:cs typeface="Times New Roman" pitchFamily="18" charset="0"/>
              </a:rPr>
              <a:t>8) сведения о назначении сумм ежемесячных выплат пострадавшему в возмещение вреда __________________________________________</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anim calcmode="lin" valueType="num">
                                      <p:cBhvr>
                                        <p:cTn id="1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3">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3">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anim calcmode="lin" valueType="num">
                                      <p:cBhvr>
                                        <p:cTn id="2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3">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3">
                                            <p:txEl>
                                              <p:pRg st="5" end="5"/>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3">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3">
                                            <p:txEl>
                                              <p:pRg st="6" end="6"/>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3">
                                            <p:txEl>
                                              <p:pRg st="6" end="6"/>
                                            </p:txEl>
                                          </p:spTgt>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Effect transition="in" filter="fade">
                                      <p:cBhvr>
                                        <p:cTn id="55" dur="1000"/>
                                        <p:tgtEl>
                                          <p:spTgt spid="3">
                                            <p:txEl>
                                              <p:pRg st="7" end="7"/>
                                            </p:txEl>
                                          </p:spTgt>
                                        </p:tgtEl>
                                      </p:cBhvr>
                                    </p:animEffect>
                                    <p:anim calcmode="lin" valueType="num">
                                      <p:cBhvr>
                                        <p:cTn id="5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3">
                                            <p:txEl>
                                              <p:pRg st="7" end="7"/>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3">
                                            <p:txEl>
                                              <p:pRg st="7" end="7"/>
                                            </p:txEl>
                                          </p:spTgt>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900" decel="100000" fill="hold"/>
                                        <p:tgtEl>
                                          <p:spTgt spid="3">
                                            <p:txEl>
                                              <p:pRg st="8" end="8"/>
                                            </p:txEl>
                                          </p:spTgt>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3">
                                            <p:txEl>
                                              <p:pRg st="8" end="8"/>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Text Box 7"/>
          <p:cNvSpPr txBox="1">
            <a:spLocks noChangeArrowheads="1"/>
          </p:cNvSpPr>
          <p:nvPr/>
        </p:nvSpPr>
        <p:spPr bwMode="auto">
          <a:xfrm>
            <a:off x="478303" y="369888"/>
            <a:ext cx="6006904" cy="523220"/>
          </a:xfrm>
          <a:prstGeom prst="rect">
            <a:avLst/>
          </a:prstGeom>
          <a:blipFill>
            <a:blip r:embed="rId2"/>
            <a:tile tx="0" ty="0" sx="100000" sy="100000" flip="none" algn="tl"/>
          </a:blipFill>
          <a:ln w="9525">
            <a:noFill/>
            <a:miter lim="800000"/>
            <a:headEnd/>
            <a:tailEnd/>
          </a:ln>
        </p:spPr>
        <p:txBody>
          <a:bodyPr wrap="square">
            <a:spAutoFit/>
          </a:bodyPr>
          <a:lstStyle/>
          <a:p>
            <a:r>
              <a:rPr lang="ru-RU" sz="2800" dirty="0">
                <a:latin typeface="Arial Black" pitchFamily="34" charset="0"/>
              </a:rPr>
              <a:t>Примеры косвенных затрат:</a:t>
            </a:r>
          </a:p>
        </p:txBody>
      </p:sp>
      <p:sp>
        <p:nvSpPr>
          <p:cNvPr id="3" name="Text Box 17"/>
          <p:cNvSpPr txBox="1">
            <a:spLocks noChangeArrowheads="1"/>
          </p:cNvSpPr>
          <p:nvPr/>
        </p:nvSpPr>
        <p:spPr bwMode="auto">
          <a:xfrm>
            <a:off x="292636" y="1772529"/>
            <a:ext cx="7571204" cy="3970318"/>
          </a:xfrm>
          <a:prstGeom prst="rect">
            <a:avLst/>
          </a:prstGeom>
          <a:noFill/>
          <a:ln w="9525">
            <a:noFill/>
            <a:miter lim="800000"/>
            <a:headEnd/>
            <a:tailEnd/>
          </a:ln>
        </p:spPr>
        <p:txBody>
          <a:bodyPr wrap="square">
            <a:spAutoFit/>
          </a:bodyPr>
          <a:lstStyle/>
          <a:p>
            <a:pPr marL="180975" indent="-180975">
              <a:buFont typeface="Wingdings" pitchFamily="2" charset="2"/>
              <a:buChar char="ü"/>
            </a:pPr>
            <a:r>
              <a:rPr lang="ru-RU" sz="1800" b="1" dirty="0">
                <a:latin typeface="Arial" charset="0"/>
              </a:rPr>
              <a:t> Потеря прибыли</a:t>
            </a:r>
          </a:p>
          <a:p>
            <a:pPr marL="180975" indent="-180975">
              <a:buFont typeface="Wingdings" pitchFamily="2" charset="2"/>
              <a:buChar char="ü"/>
            </a:pPr>
            <a:r>
              <a:rPr lang="ru-RU" sz="1800" b="1" dirty="0">
                <a:latin typeface="Arial" charset="0"/>
              </a:rPr>
              <a:t> Потери производительности</a:t>
            </a:r>
          </a:p>
          <a:p>
            <a:pPr marL="180975" indent="-180975">
              <a:buFont typeface="Wingdings" pitchFamily="2" charset="2"/>
              <a:buChar char="ü"/>
            </a:pPr>
            <a:r>
              <a:rPr lang="ru-RU" sz="1800" b="1" dirty="0">
                <a:latin typeface="Arial" charset="0"/>
              </a:rPr>
              <a:t> Нарушение производственного процесса непосредственно после несчастного случая </a:t>
            </a:r>
          </a:p>
          <a:p>
            <a:pPr marL="180975" indent="-180975">
              <a:buFont typeface="Wingdings" pitchFamily="2" charset="2"/>
              <a:buChar char="ü"/>
            </a:pPr>
            <a:r>
              <a:rPr lang="ru-RU" sz="1800" b="1" dirty="0">
                <a:latin typeface="Arial" charset="0"/>
              </a:rPr>
              <a:t> Моральное воздействие на коллег по работе </a:t>
            </a:r>
          </a:p>
          <a:p>
            <a:pPr marL="180975" indent="-180975">
              <a:buFont typeface="Wingdings" pitchFamily="2" charset="2"/>
              <a:buChar char="ü"/>
            </a:pPr>
            <a:r>
              <a:rPr lang="ru-RU" sz="1800" b="1" dirty="0">
                <a:latin typeface="Arial" charset="0"/>
              </a:rPr>
              <a:t> Привлечение персонала к расследованию несчастного случая </a:t>
            </a:r>
          </a:p>
          <a:p>
            <a:pPr marL="180975" indent="-180975">
              <a:buFont typeface="Wingdings" pitchFamily="2" charset="2"/>
              <a:buChar char="ü"/>
            </a:pPr>
            <a:r>
              <a:rPr lang="ru-RU" sz="1800" b="1" dirty="0">
                <a:latin typeface="Arial" charset="0"/>
              </a:rPr>
              <a:t> Расходы по найму и обучению новых работников </a:t>
            </a:r>
          </a:p>
          <a:p>
            <a:pPr marL="180975" indent="-180975">
              <a:buFont typeface="Wingdings" pitchFamily="2" charset="2"/>
              <a:buChar char="ü"/>
            </a:pPr>
            <a:r>
              <a:rPr lang="ru-RU" sz="1800" b="1" dirty="0">
                <a:latin typeface="Arial" charset="0"/>
              </a:rPr>
              <a:t> Ущерб оборудованию и материалам </a:t>
            </a:r>
          </a:p>
          <a:p>
            <a:pPr marL="180975" indent="-180975">
              <a:buFont typeface="Wingdings" pitchFamily="2" charset="2"/>
              <a:buChar char="ü"/>
            </a:pPr>
            <a:r>
              <a:rPr lang="ru-RU" sz="1800" b="1" dirty="0">
                <a:latin typeface="Arial" charset="0"/>
              </a:rPr>
              <a:t> Снижение качества продукции после несчастного случая </a:t>
            </a:r>
          </a:p>
          <a:p>
            <a:pPr marL="180975" indent="-180975">
              <a:buFont typeface="Wingdings" pitchFamily="2" charset="2"/>
              <a:buChar char="ü"/>
            </a:pPr>
            <a:r>
              <a:rPr lang="ru-RU" sz="1800" b="1" dirty="0">
                <a:latin typeface="Arial" charset="0"/>
              </a:rPr>
              <a:t> Сокращение производительности травмированных работников, которые переведены на более легкую работу </a:t>
            </a:r>
          </a:p>
          <a:p>
            <a:pPr marL="180975" indent="-180975">
              <a:buFont typeface="Wingdings" pitchFamily="2" charset="2"/>
              <a:buChar char="ü"/>
            </a:pPr>
            <a:r>
              <a:rPr lang="ru-RU" sz="1800" b="1" dirty="0">
                <a:latin typeface="Arial" charset="0"/>
              </a:rPr>
              <a:t> Расходы на содержание резервных мощностей для  покрытия потерь, связанных с несчастными случаями </a:t>
            </a:r>
          </a:p>
        </p:txBody>
      </p:sp>
      <p:pic>
        <p:nvPicPr>
          <p:cNvPr id="191491" name="Picture 2" descr="660f39543ce79efaa33d5b8ddf950ddb_640_480_c"/>
          <p:cNvPicPr>
            <a:picLocks noChangeAspect="1" noChangeArrowheads="1"/>
          </p:cNvPicPr>
          <p:nvPr/>
        </p:nvPicPr>
        <p:blipFill>
          <a:blip r:embed="rId3"/>
          <a:srcRect/>
          <a:stretch>
            <a:fillRect/>
          </a:stretch>
        </p:blipFill>
        <p:spPr bwMode="auto">
          <a:xfrm>
            <a:off x="6485207" y="369888"/>
            <a:ext cx="2433711" cy="161991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p:cNvSpPr>
            <a:spLocks noChangeArrowheads="1"/>
          </p:cNvSpPr>
          <p:nvPr/>
        </p:nvSpPr>
        <p:spPr bwMode="auto">
          <a:xfrm>
            <a:off x="373063" y="165100"/>
            <a:ext cx="8332788" cy="904875"/>
          </a:xfrm>
          <a:prstGeom prst="rect">
            <a:avLst/>
          </a:prstGeom>
          <a:blipFill>
            <a:blip r:embed="rId2"/>
            <a:tile tx="0" ty="0" sx="100000" sy="100000" flip="none" algn="tl"/>
          </a:blipFill>
          <a:ln w="9525">
            <a:noFill/>
            <a:miter lim="800000"/>
            <a:headEnd/>
            <a:tailEnd/>
          </a:ln>
        </p:spPr>
        <p:txBody>
          <a:bodyPr wrap="square">
            <a:spAutoFit/>
          </a:bodyPr>
          <a:lstStyle/>
          <a:p>
            <a:pPr eaLnBrk="0" hangingPunct="0">
              <a:spcBef>
                <a:spcPct val="20000"/>
              </a:spcBef>
            </a:pPr>
            <a:r>
              <a:rPr lang="ru-RU" sz="2400" b="1" dirty="0">
                <a:latin typeface="Arial Black" pitchFamily="34" charset="0"/>
              </a:rPr>
              <a:t>Факторы влияющие на отсутствие </a:t>
            </a:r>
          </a:p>
          <a:p>
            <a:pPr eaLnBrk="0" hangingPunct="0">
              <a:spcBef>
                <a:spcPct val="20000"/>
              </a:spcBef>
            </a:pPr>
            <a:r>
              <a:rPr lang="ru-RU" sz="2400" b="1" dirty="0">
                <a:latin typeface="Arial Black" pitchFamily="34" charset="0"/>
              </a:rPr>
              <a:t>учета косвенных потерь на предприятии:</a:t>
            </a:r>
          </a:p>
        </p:txBody>
      </p:sp>
      <p:sp>
        <p:nvSpPr>
          <p:cNvPr id="3" name="Содержимое 2"/>
          <p:cNvSpPr txBox="1">
            <a:spLocks/>
          </p:cNvSpPr>
          <p:nvPr/>
        </p:nvSpPr>
        <p:spPr>
          <a:xfrm>
            <a:off x="373063" y="1485900"/>
            <a:ext cx="3600450" cy="431800"/>
          </a:xfrm>
          <a:prstGeom prst="rect">
            <a:avLst/>
          </a:prstGeom>
        </p:spPr>
        <p:txBody>
          <a:bodyPr/>
          <a:lstStyle/>
          <a:p>
            <a:pPr marL="609600" indent="-609600">
              <a:spcBef>
                <a:spcPct val="20000"/>
              </a:spcBef>
            </a:pPr>
            <a:r>
              <a:rPr lang="ru-RU" sz="2400" b="1">
                <a:latin typeface="Lucida Sans Unicode" pitchFamily="34" charset="0"/>
              </a:rPr>
              <a:t>1.  Проблемы оценки</a:t>
            </a:r>
          </a:p>
        </p:txBody>
      </p:sp>
      <p:sp>
        <p:nvSpPr>
          <p:cNvPr id="4" name="Содержимое 2"/>
          <p:cNvSpPr>
            <a:spLocks/>
          </p:cNvSpPr>
          <p:nvPr/>
        </p:nvSpPr>
        <p:spPr bwMode="auto">
          <a:xfrm>
            <a:off x="373063" y="2349500"/>
            <a:ext cx="5762625" cy="431800"/>
          </a:xfrm>
          <a:prstGeom prst="rect">
            <a:avLst/>
          </a:prstGeom>
          <a:noFill/>
          <a:ln w="9525">
            <a:noFill/>
            <a:miter lim="800000"/>
            <a:headEnd/>
            <a:tailEnd/>
          </a:ln>
        </p:spPr>
        <p:txBody>
          <a:bodyPr/>
          <a:lstStyle/>
          <a:p>
            <a:pPr marL="609600" indent="-609600" eaLnBrk="0" hangingPunct="0">
              <a:spcBef>
                <a:spcPct val="20000"/>
              </a:spcBef>
            </a:pPr>
            <a:r>
              <a:rPr lang="ru-RU" sz="2400" b="1">
                <a:latin typeface="Arial" charset="0"/>
              </a:rPr>
              <a:t>2.  Перегруженность руководства</a:t>
            </a:r>
          </a:p>
        </p:txBody>
      </p:sp>
      <p:sp>
        <p:nvSpPr>
          <p:cNvPr id="5" name="Содержимое 2"/>
          <p:cNvSpPr>
            <a:spLocks/>
          </p:cNvSpPr>
          <p:nvPr/>
        </p:nvSpPr>
        <p:spPr bwMode="auto">
          <a:xfrm>
            <a:off x="323850" y="3211513"/>
            <a:ext cx="7416800" cy="433387"/>
          </a:xfrm>
          <a:prstGeom prst="rect">
            <a:avLst/>
          </a:prstGeom>
          <a:noFill/>
          <a:ln w="9525">
            <a:noFill/>
            <a:miter lim="800000"/>
            <a:headEnd/>
            <a:tailEnd/>
          </a:ln>
        </p:spPr>
        <p:txBody>
          <a:bodyPr/>
          <a:lstStyle/>
          <a:p>
            <a:pPr marL="609600" indent="-609600" eaLnBrk="0" hangingPunct="0">
              <a:spcBef>
                <a:spcPct val="20000"/>
              </a:spcBef>
            </a:pPr>
            <a:r>
              <a:rPr lang="ru-RU" sz="2400" b="1">
                <a:latin typeface="Arial" charset="0"/>
              </a:rPr>
              <a:t>3. Особенности методов бухгалтерского учета</a:t>
            </a:r>
          </a:p>
        </p:txBody>
      </p:sp>
      <p:sp>
        <p:nvSpPr>
          <p:cNvPr id="6" name="Содержимое 2"/>
          <p:cNvSpPr>
            <a:spLocks/>
          </p:cNvSpPr>
          <p:nvPr/>
        </p:nvSpPr>
        <p:spPr bwMode="auto">
          <a:xfrm>
            <a:off x="323850" y="4076700"/>
            <a:ext cx="4895850" cy="504825"/>
          </a:xfrm>
          <a:prstGeom prst="rect">
            <a:avLst/>
          </a:prstGeom>
          <a:noFill/>
          <a:ln w="9525">
            <a:noFill/>
            <a:miter lim="800000"/>
            <a:headEnd/>
            <a:tailEnd/>
          </a:ln>
        </p:spPr>
        <p:txBody>
          <a:bodyPr/>
          <a:lstStyle/>
          <a:p>
            <a:pPr marL="609600" indent="-609600" eaLnBrk="0" hangingPunct="0">
              <a:spcBef>
                <a:spcPct val="20000"/>
              </a:spcBef>
            </a:pPr>
            <a:r>
              <a:rPr lang="ru-RU" sz="2400" b="1">
                <a:latin typeface="Arial" charset="0"/>
              </a:rPr>
              <a:t>4.  Проблемы распределения</a:t>
            </a:r>
          </a:p>
        </p:txBody>
      </p:sp>
      <p:sp>
        <p:nvSpPr>
          <p:cNvPr id="7" name="Содержимое 2"/>
          <p:cNvSpPr>
            <a:spLocks/>
          </p:cNvSpPr>
          <p:nvPr/>
        </p:nvSpPr>
        <p:spPr bwMode="auto">
          <a:xfrm>
            <a:off x="323850" y="4938713"/>
            <a:ext cx="6840538" cy="506412"/>
          </a:xfrm>
          <a:prstGeom prst="rect">
            <a:avLst/>
          </a:prstGeom>
          <a:noFill/>
          <a:ln w="9525">
            <a:noFill/>
            <a:miter lim="800000"/>
            <a:headEnd/>
            <a:tailEnd/>
          </a:ln>
        </p:spPr>
        <p:txBody>
          <a:bodyPr/>
          <a:lstStyle/>
          <a:p>
            <a:pPr marL="609600" indent="-609600" eaLnBrk="0" hangingPunct="0">
              <a:spcBef>
                <a:spcPct val="20000"/>
              </a:spcBef>
            </a:pPr>
            <a:r>
              <a:rPr lang="ru-RU" sz="2400" b="1">
                <a:latin typeface="Arial" charset="0"/>
              </a:rPr>
              <a:t>5.  Заниженный статус служб охраны труда</a:t>
            </a:r>
          </a:p>
        </p:txBody>
      </p:sp>
      <p:sp>
        <p:nvSpPr>
          <p:cNvPr id="8" name="Содержимое 2"/>
          <p:cNvSpPr>
            <a:spLocks/>
          </p:cNvSpPr>
          <p:nvPr/>
        </p:nvSpPr>
        <p:spPr bwMode="auto">
          <a:xfrm>
            <a:off x="323850" y="5802313"/>
            <a:ext cx="5111750" cy="434975"/>
          </a:xfrm>
          <a:prstGeom prst="rect">
            <a:avLst/>
          </a:prstGeom>
          <a:noFill/>
          <a:ln w="9525">
            <a:noFill/>
            <a:miter lim="800000"/>
            <a:headEnd/>
            <a:tailEnd/>
          </a:ln>
        </p:spPr>
        <p:txBody>
          <a:bodyPr/>
          <a:lstStyle/>
          <a:p>
            <a:pPr marL="609600" indent="-609600" eaLnBrk="0" hangingPunct="0">
              <a:spcBef>
                <a:spcPct val="20000"/>
              </a:spcBef>
            </a:pPr>
            <a:r>
              <a:rPr lang="ru-RU" sz="2400" b="1">
                <a:latin typeface="Arial" charset="0"/>
              </a:rPr>
              <a:t>6.  «Не говори и не спрашивай»</a:t>
            </a:r>
          </a:p>
        </p:txBody>
      </p:sp>
      <p:pic>
        <p:nvPicPr>
          <p:cNvPr id="9" name="Picture 18" descr="MCj01983630000[1]"/>
          <p:cNvPicPr>
            <a:picLocks noChangeAspect="1" noChangeArrowheads="1"/>
          </p:cNvPicPr>
          <p:nvPr/>
        </p:nvPicPr>
        <p:blipFill>
          <a:blip r:embed="rId3"/>
          <a:srcRect/>
          <a:stretch>
            <a:fillRect/>
          </a:stretch>
        </p:blipFill>
        <p:spPr bwMode="auto">
          <a:xfrm>
            <a:off x="6494463" y="2060575"/>
            <a:ext cx="1476375" cy="1038225"/>
          </a:xfrm>
          <a:prstGeom prst="rect">
            <a:avLst/>
          </a:prstGeom>
          <a:noFill/>
          <a:ln w="9525">
            <a:noFill/>
            <a:miter lim="800000"/>
            <a:headEnd/>
            <a:tailEnd/>
          </a:ln>
        </p:spPr>
      </p:pic>
      <p:pic>
        <p:nvPicPr>
          <p:cNvPr id="10" name="Picture 23" descr="MCj04118520000[1]"/>
          <p:cNvPicPr>
            <a:picLocks noChangeAspect="1" noChangeArrowheads="1"/>
          </p:cNvPicPr>
          <p:nvPr/>
        </p:nvPicPr>
        <p:blipFill>
          <a:blip r:embed="rId4"/>
          <a:srcRect/>
          <a:stretch>
            <a:fillRect/>
          </a:stretch>
        </p:blipFill>
        <p:spPr bwMode="auto">
          <a:xfrm>
            <a:off x="5372100" y="3860800"/>
            <a:ext cx="1431925" cy="947738"/>
          </a:xfrm>
          <a:prstGeom prst="rect">
            <a:avLst/>
          </a:prstGeom>
          <a:noFill/>
          <a:ln w="9525">
            <a:noFill/>
            <a:miter lim="800000"/>
            <a:headEnd/>
            <a:tailEnd/>
          </a:ln>
        </p:spPr>
      </p:pic>
      <p:pic>
        <p:nvPicPr>
          <p:cNvPr id="11" name="Picture 24" descr="MCj04115300000[1]"/>
          <p:cNvPicPr>
            <a:picLocks noChangeAspect="1" noChangeArrowheads="1"/>
          </p:cNvPicPr>
          <p:nvPr/>
        </p:nvPicPr>
        <p:blipFill>
          <a:blip r:embed="rId5"/>
          <a:srcRect/>
          <a:stretch>
            <a:fillRect/>
          </a:stretch>
        </p:blipFill>
        <p:spPr bwMode="auto">
          <a:xfrm>
            <a:off x="7524750" y="4581525"/>
            <a:ext cx="1181100" cy="1195388"/>
          </a:xfrm>
          <a:prstGeom prst="rect">
            <a:avLst/>
          </a:prstGeom>
          <a:noFill/>
          <a:ln w="9525">
            <a:noFill/>
            <a:miter lim="800000"/>
            <a:headEnd/>
            <a:tailEnd/>
          </a:ln>
        </p:spPr>
      </p:pic>
      <p:pic>
        <p:nvPicPr>
          <p:cNvPr id="12" name="Picture 26" descr="MCj04244440000[1]"/>
          <p:cNvPicPr>
            <a:picLocks noChangeAspect="1" noChangeArrowheads="1"/>
          </p:cNvPicPr>
          <p:nvPr/>
        </p:nvPicPr>
        <p:blipFill>
          <a:blip r:embed="rId6"/>
          <a:srcRect/>
          <a:stretch>
            <a:fillRect/>
          </a:stretch>
        </p:blipFill>
        <p:spPr bwMode="auto">
          <a:xfrm>
            <a:off x="5280025" y="5445125"/>
            <a:ext cx="889000" cy="1093788"/>
          </a:xfrm>
          <a:prstGeom prst="rect">
            <a:avLst/>
          </a:prstGeom>
          <a:noFill/>
          <a:ln w="9525">
            <a:noFill/>
            <a:miter lim="800000"/>
            <a:headEnd/>
            <a:tailEnd/>
          </a:ln>
        </p:spPr>
      </p:pic>
      <p:pic>
        <p:nvPicPr>
          <p:cNvPr id="13" name="Picture 27" descr="MCj01497310000[1]"/>
          <p:cNvPicPr>
            <a:picLocks noChangeAspect="1" noChangeArrowheads="1"/>
          </p:cNvPicPr>
          <p:nvPr/>
        </p:nvPicPr>
        <p:blipFill>
          <a:blip r:embed="rId7"/>
          <a:srcRect/>
          <a:stretch>
            <a:fillRect/>
          </a:stretch>
        </p:blipFill>
        <p:spPr bwMode="auto">
          <a:xfrm>
            <a:off x="7524750" y="3098800"/>
            <a:ext cx="976313" cy="1296988"/>
          </a:xfrm>
          <a:prstGeom prst="rect">
            <a:avLst/>
          </a:prstGeom>
          <a:noFill/>
          <a:ln w="9525">
            <a:noFill/>
            <a:miter lim="800000"/>
            <a:headEnd/>
            <a:tailEnd/>
          </a:ln>
        </p:spPr>
      </p:pic>
      <p:pic>
        <p:nvPicPr>
          <p:cNvPr id="14" name="Picture 28" descr="MCj02343260000[1]"/>
          <p:cNvPicPr>
            <a:picLocks noChangeAspect="1" noChangeArrowheads="1"/>
          </p:cNvPicPr>
          <p:nvPr/>
        </p:nvPicPr>
        <p:blipFill>
          <a:blip r:embed="rId8"/>
          <a:srcRect/>
          <a:stretch>
            <a:fillRect/>
          </a:stretch>
        </p:blipFill>
        <p:spPr bwMode="auto">
          <a:xfrm>
            <a:off x="4405313" y="1268413"/>
            <a:ext cx="1368425" cy="969962"/>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900" decel="100000" fill="hold"/>
                                        <p:tgtEl>
                                          <p:spTgt spid="4"/>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par>
                                <p:cTn id="19" presetID="37"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900" decel="100000" fill="hold"/>
                                        <p:tgtEl>
                                          <p:spTgt spid="9"/>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1000" fill="hold"/>
                                        <p:tgtEl>
                                          <p:spTgt spid="5"/>
                                        </p:tgtEl>
                                        <p:attrNameLst>
                                          <p:attrName>ppt_w</p:attrName>
                                        </p:attrNameLst>
                                      </p:cBhvr>
                                      <p:tavLst>
                                        <p:tav tm="0">
                                          <p:val>
                                            <p:strVal val="#ppt_w*0.70"/>
                                          </p:val>
                                        </p:tav>
                                        <p:tav tm="100000">
                                          <p:val>
                                            <p:strVal val="#ppt_w"/>
                                          </p:val>
                                        </p:tav>
                                      </p:tavLst>
                                    </p:anim>
                                    <p:anim calcmode="lin" valueType="num">
                                      <p:cBhvr>
                                        <p:cTn id="30" dur="1000" fill="hold"/>
                                        <p:tgtEl>
                                          <p:spTgt spid="5"/>
                                        </p:tgtEl>
                                        <p:attrNameLst>
                                          <p:attrName>ppt_h</p:attrName>
                                        </p:attrNameLst>
                                      </p:cBhvr>
                                      <p:tavLst>
                                        <p:tav tm="0">
                                          <p:val>
                                            <p:strVal val="#ppt_h"/>
                                          </p:val>
                                        </p:tav>
                                        <p:tav tm="100000">
                                          <p:val>
                                            <p:strVal val="#ppt_h"/>
                                          </p:val>
                                        </p:tav>
                                      </p:tavLst>
                                    </p:anim>
                                    <p:animEffect transition="in" filter="fade">
                                      <p:cBhvr>
                                        <p:cTn id="31" dur="1000"/>
                                        <p:tgtEl>
                                          <p:spTgt spid="5"/>
                                        </p:tgtEl>
                                      </p:cBhvr>
                                    </p:animEffect>
                                  </p:childTnLst>
                                </p:cTn>
                              </p:par>
                              <p:par>
                                <p:cTn id="32" presetID="55"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1000" fill="hold"/>
                                        <p:tgtEl>
                                          <p:spTgt spid="13"/>
                                        </p:tgtEl>
                                        <p:attrNameLst>
                                          <p:attrName>ppt_w</p:attrName>
                                        </p:attrNameLst>
                                      </p:cBhvr>
                                      <p:tavLst>
                                        <p:tav tm="0">
                                          <p:val>
                                            <p:strVal val="#ppt_w*0.70"/>
                                          </p:val>
                                        </p:tav>
                                        <p:tav tm="100000">
                                          <p:val>
                                            <p:strVal val="#ppt_w"/>
                                          </p:val>
                                        </p:tav>
                                      </p:tavLst>
                                    </p:anim>
                                    <p:anim calcmode="lin" valueType="num">
                                      <p:cBhvr>
                                        <p:cTn id="35" dur="1000" fill="hold"/>
                                        <p:tgtEl>
                                          <p:spTgt spid="13"/>
                                        </p:tgtEl>
                                        <p:attrNameLst>
                                          <p:attrName>ppt_h</p:attrName>
                                        </p:attrNameLst>
                                      </p:cBhvr>
                                      <p:tavLst>
                                        <p:tav tm="0">
                                          <p:val>
                                            <p:strVal val="#ppt_h"/>
                                          </p:val>
                                        </p:tav>
                                        <p:tav tm="100000">
                                          <p:val>
                                            <p:strVal val="#ppt_h"/>
                                          </p:val>
                                        </p:tav>
                                      </p:tavLst>
                                    </p:anim>
                                    <p:animEffect transition="in" filter="fade">
                                      <p:cBhvr>
                                        <p:cTn id="36" dur="10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ppt_w</p:attrName>
                                        </p:attrNameLst>
                                      </p:cBhvr>
                                      <p:tavLst>
                                        <p:tav tm="0">
                                          <p:val>
                                            <p:fltVal val="0"/>
                                          </p:val>
                                        </p:tav>
                                        <p:tav tm="100000">
                                          <p:val>
                                            <p:strVal val="#ppt_w"/>
                                          </p:val>
                                        </p:tav>
                                      </p:tavLst>
                                    </p:anim>
                                    <p:anim calcmode="lin" valueType="num">
                                      <p:cBhvr>
                                        <p:cTn id="42" dur="500" fill="hold"/>
                                        <p:tgtEl>
                                          <p:spTgt spid="6"/>
                                        </p:tgtEl>
                                        <p:attrNameLst>
                                          <p:attrName>ppt_h</p:attrName>
                                        </p:attrNameLst>
                                      </p:cBhvr>
                                      <p:tavLst>
                                        <p:tav tm="0">
                                          <p:val>
                                            <p:fltVal val="0"/>
                                          </p:val>
                                        </p:tav>
                                        <p:tav tm="100000">
                                          <p:val>
                                            <p:strVal val="#ppt_h"/>
                                          </p:val>
                                        </p:tav>
                                      </p:tavLst>
                                    </p:anim>
                                    <p:animEffect transition="in" filter="fade">
                                      <p:cBhvr>
                                        <p:cTn id="43" dur="500"/>
                                        <p:tgtEl>
                                          <p:spTgt spid="6"/>
                                        </p:tgtEl>
                                      </p:cBhvr>
                                    </p:animEffect>
                                  </p:childTnLst>
                                </p:cTn>
                              </p:par>
                              <p:par>
                                <p:cTn id="44" presetID="53"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strips(downRight)">
                                      <p:cBhvr>
                                        <p:cTn id="53" dur="500"/>
                                        <p:tgtEl>
                                          <p:spTgt spid="7"/>
                                        </p:tgtEl>
                                      </p:cBhvr>
                                    </p:animEffect>
                                  </p:childTnLst>
                                </p:cTn>
                              </p:par>
                              <p:par>
                                <p:cTn id="54" presetID="18" presetClass="entr" presetSubtype="6"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trips(downRight)">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52"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Scale>
                                      <p:cBhvr>
                                        <p:cTn id="61"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2" dur="1000" decel="50000" fill="hold">
                                          <p:stCondLst>
                                            <p:cond delay="0"/>
                                          </p:stCondLst>
                                        </p:cTn>
                                        <p:tgtEl>
                                          <p:spTgt spid="8"/>
                                        </p:tgtEl>
                                        <p:attrNameLst>
                                          <p:attrName>ppt_x</p:attrName>
                                          <p:attrName>ppt_y</p:attrName>
                                        </p:attrNameLst>
                                      </p:cBhvr>
                                    </p:animMotion>
                                    <p:animEffect transition="in" filter="fade">
                                      <p:cBhvr>
                                        <p:cTn id="63" dur="1000"/>
                                        <p:tgtEl>
                                          <p:spTgt spid="8"/>
                                        </p:tgtEl>
                                      </p:cBhvr>
                                    </p:animEffect>
                                  </p:childTnLst>
                                </p:cTn>
                              </p:par>
                              <p:par>
                                <p:cTn id="64" presetID="52" presetClass="entr" presetSubtype="0" fill="hold" nodeType="withEffect">
                                  <p:stCondLst>
                                    <p:cond delay="0"/>
                                  </p:stCondLst>
                                  <p:childTnLst>
                                    <p:set>
                                      <p:cBhvr>
                                        <p:cTn id="65" dur="1" fill="hold">
                                          <p:stCondLst>
                                            <p:cond delay="0"/>
                                          </p:stCondLst>
                                        </p:cTn>
                                        <p:tgtEl>
                                          <p:spTgt spid="12"/>
                                        </p:tgtEl>
                                        <p:attrNameLst>
                                          <p:attrName>style.visibility</p:attrName>
                                        </p:attrNameLst>
                                      </p:cBhvr>
                                      <p:to>
                                        <p:strVal val="visible"/>
                                      </p:to>
                                    </p:set>
                                    <p:animScale>
                                      <p:cBhvr>
                                        <p:cTn id="66"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7" dur="1000" decel="50000" fill="hold">
                                          <p:stCondLst>
                                            <p:cond delay="0"/>
                                          </p:stCondLst>
                                        </p:cTn>
                                        <p:tgtEl>
                                          <p:spTgt spid="12"/>
                                        </p:tgtEl>
                                        <p:attrNameLst>
                                          <p:attrName>ppt_x</p:attrName>
                                          <p:attrName>ppt_y</p:attrName>
                                        </p:attrNameLst>
                                      </p:cBhvr>
                                    </p:animMotion>
                                    <p:animEffect transition="in" filter="fade">
                                      <p:cBhvr>
                                        <p:cTn id="68"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3"/>
          <p:cNvSpPr>
            <a:spLocks noChangeArrowheads="1"/>
          </p:cNvSpPr>
          <p:nvPr/>
        </p:nvSpPr>
        <p:spPr bwMode="auto">
          <a:xfrm>
            <a:off x="1136650" y="166688"/>
            <a:ext cx="6804025" cy="519112"/>
          </a:xfrm>
          <a:prstGeom prst="rect">
            <a:avLst/>
          </a:prstGeom>
          <a:noFill/>
          <a:ln w="9525">
            <a:noFill/>
            <a:miter lim="800000"/>
            <a:headEnd/>
            <a:tailEnd/>
          </a:ln>
        </p:spPr>
        <p:txBody>
          <a:bodyPr>
            <a:spAutoFit/>
          </a:bodyPr>
          <a:lstStyle/>
          <a:p>
            <a:pPr algn="ctr"/>
            <a:r>
              <a:rPr lang="ru-RU" sz="2800" b="1">
                <a:solidFill>
                  <a:schemeClr val="bg1"/>
                </a:solidFill>
                <a:latin typeface="Arial Black" pitchFamily="34" charset="0"/>
              </a:rPr>
              <a:t>Выгоды для предприятия</a:t>
            </a:r>
          </a:p>
        </p:txBody>
      </p:sp>
      <p:sp>
        <p:nvSpPr>
          <p:cNvPr id="13" name="Oval 22"/>
          <p:cNvSpPr>
            <a:spLocks noChangeArrowheads="1"/>
          </p:cNvSpPr>
          <p:nvPr/>
        </p:nvSpPr>
        <p:spPr bwMode="auto">
          <a:xfrm>
            <a:off x="2520950" y="2663825"/>
            <a:ext cx="2089150" cy="1225550"/>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p>
            <a:pPr algn="ctr">
              <a:defRPr/>
            </a:pPr>
            <a:r>
              <a:rPr lang="ru-RU" sz="1800" b="1" dirty="0">
                <a:solidFill>
                  <a:schemeClr val="bg1"/>
                </a:solidFill>
                <a:latin typeface="Arial" charset="0"/>
              </a:rPr>
              <a:t>Мероприятия по</a:t>
            </a:r>
          </a:p>
          <a:p>
            <a:pPr algn="ctr">
              <a:defRPr/>
            </a:pPr>
            <a:r>
              <a:rPr lang="ru-RU" sz="1800" b="1" dirty="0">
                <a:solidFill>
                  <a:schemeClr val="bg1"/>
                </a:solidFill>
                <a:latin typeface="Arial" charset="0"/>
              </a:rPr>
              <a:t>охране труда</a:t>
            </a:r>
          </a:p>
        </p:txBody>
      </p:sp>
      <p:sp>
        <p:nvSpPr>
          <p:cNvPr id="14" name="Oval 23"/>
          <p:cNvSpPr>
            <a:spLocks noChangeArrowheads="1"/>
          </p:cNvSpPr>
          <p:nvPr/>
        </p:nvSpPr>
        <p:spPr bwMode="auto">
          <a:xfrm>
            <a:off x="4248150" y="1008063"/>
            <a:ext cx="2089150" cy="1368425"/>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p>
            <a:pPr algn="ctr">
              <a:defRPr/>
            </a:pPr>
            <a:r>
              <a:rPr lang="ru-RU" sz="1800" b="1" dirty="0">
                <a:solidFill>
                  <a:schemeClr val="bg1"/>
                </a:solidFill>
                <a:latin typeface="Arial" charset="0"/>
              </a:rPr>
              <a:t>Эффективность</a:t>
            </a:r>
          </a:p>
          <a:p>
            <a:pPr algn="ctr">
              <a:defRPr/>
            </a:pPr>
            <a:r>
              <a:rPr lang="ru-RU" sz="1800" b="1" dirty="0">
                <a:solidFill>
                  <a:schemeClr val="bg1"/>
                </a:solidFill>
                <a:latin typeface="Arial" charset="0"/>
              </a:rPr>
              <a:t>охраны труда</a:t>
            </a:r>
          </a:p>
        </p:txBody>
      </p:sp>
      <p:sp>
        <p:nvSpPr>
          <p:cNvPr id="15" name="Oval 24"/>
          <p:cNvSpPr>
            <a:spLocks noChangeArrowheads="1"/>
          </p:cNvSpPr>
          <p:nvPr/>
        </p:nvSpPr>
        <p:spPr bwMode="auto">
          <a:xfrm>
            <a:off x="4140200" y="4149725"/>
            <a:ext cx="2089150" cy="1295400"/>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p>
            <a:pPr algn="ctr">
              <a:defRPr/>
            </a:pPr>
            <a:r>
              <a:rPr lang="ru-RU" sz="1800" b="1" dirty="0">
                <a:solidFill>
                  <a:schemeClr val="bg1"/>
                </a:solidFill>
                <a:latin typeface="Arial" charset="0"/>
              </a:rPr>
              <a:t>Эффективность</a:t>
            </a:r>
          </a:p>
          <a:p>
            <a:pPr algn="ctr">
              <a:defRPr/>
            </a:pPr>
            <a:r>
              <a:rPr lang="ru-RU" sz="1800" b="1" dirty="0">
                <a:solidFill>
                  <a:schemeClr val="bg1"/>
                </a:solidFill>
                <a:latin typeface="Arial" charset="0"/>
              </a:rPr>
              <a:t>компании</a:t>
            </a:r>
          </a:p>
        </p:txBody>
      </p:sp>
      <p:sp>
        <p:nvSpPr>
          <p:cNvPr id="16" name="AutoShape 28"/>
          <p:cNvSpPr>
            <a:spLocks noChangeArrowheads="1"/>
          </p:cNvSpPr>
          <p:nvPr/>
        </p:nvSpPr>
        <p:spPr bwMode="auto">
          <a:xfrm>
            <a:off x="107950" y="2205038"/>
            <a:ext cx="2087563" cy="2636837"/>
          </a:xfrm>
          <a:prstGeom prst="wedgeRoundRectCallout">
            <a:avLst>
              <a:gd name="adj1" fmla="val 65134"/>
              <a:gd name="adj2" fmla="val -3764"/>
              <a:gd name="adj3" fmla="val 16667"/>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buFont typeface="Wingdings" pitchFamily="2" charset="2"/>
              <a:buChar char="ü"/>
              <a:defRPr/>
            </a:pPr>
            <a:r>
              <a:rPr lang="ru-RU" sz="1500" b="1" dirty="0">
                <a:solidFill>
                  <a:schemeClr val="bg1"/>
                </a:solidFill>
                <a:latin typeface="Arial" charset="0"/>
              </a:rPr>
              <a:t> Инвестиции в охрану труда</a:t>
            </a:r>
          </a:p>
          <a:p>
            <a:pPr>
              <a:buFont typeface="Wingdings" pitchFamily="2" charset="2"/>
              <a:buChar char="ü"/>
              <a:defRPr/>
            </a:pPr>
            <a:r>
              <a:rPr lang="ru-RU" sz="1500" b="1" dirty="0">
                <a:solidFill>
                  <a:schemeClr val="bg1"/>
                </a:solidFill>
                <a:latin typeface="Arial" charset="0"/>
              </a:rPr>
              <a:t> Оценка и управление </a:t>
            </a:r>
            <a:r>
              <a:rPr lang="ru-RU" sz="1500" b="1" dirty="0" err="1">
                <a:solidFill>
                  <a:schemeClr val="bg1"/>
                </a:solidFill>
                <a:latin typeface="Arial" charset="0"/>
              </a:rPr>
              <a:t>профессиональ-ными</a:t>
            </a:r>
            <a:r>
              <a:rPr lang="ru-RU" sz="1500" b="1" dirty="0">
                <a:solidFill>
                  <a:schemeClr val="bg1"/>
                </a:solidFill>
                <a:latin typeface="Arial" charset="0"/>
              </a:rPr>
              <a:t> рисками</a:t>
            </a:r>
          </a:p>
          <a:p>
            <a:pPr>
              <a:buFont typeface="Wingdings" pitchFamily="2" charset="2"/>
              <a:buChar char="ü"/>
              <a:defRPr/>
            </a:pPr>
            <a:r>
              <a:rPr lang="ru-RU" sz="1500" b="1" dirty="0">
                <a:solidFill>
                  <a:schemeClr val="bg1"/>
                </a:solidFill>
                <a:latin typeface="Arial" charset="0"/>
              </a:rPr>
              <a:t> СОУТ</a:t>
            </a:r>
          </a:p>
          <a:p>
            <a:pPr>
              <a:buFont typeface="Wingdings" pitchFamily="2" charset="2"/>
              <a:buChar char="ü"/>
              <a:defRPr/>
            </a:pPr>
            <a:r>
              <a:rPr lang="ru-RU" sz="1500" b="1" dirty="0">
                <a:solidFill>
                  <a:schemeClr val="bg1"/>
                </a:solidFill>
                <a:latin typeface="Arial" charset="0"/>
              </a:rPr>
              <a:t> Обучение</a:t>
            </a:r>
          </a:p>
        </p:txBody>
      </p:sp>
      <p:sp>
        <p:nvSpPr>
          <p:cNvPr id="17" name="AutoShape 29"/>
          <p:cNvSpPr>
            <a:spLocks noChangeArrowheads="1"/>
          </p:cNvSpPr>
          <p:nvPr/>
        </p:nvSpPr>
        <p:spPr bwMode="auto">
          <a:xfrm>
            <a:off x="6337300" y="4076700"/>
            <a:ext cx="2806700" cy="2736850"/>
          </a:xfrm>
          <a:prstGeom prst="wedgeRoundRectCallout">
            <a:avLst>
              <a:gd name="adj1" fmla="val -62560"/>
              <a:gd name="adj2" fmla="val 3944"/>
              <a:gd name="adj3" fmla="val 16667"/>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buFont typeface="Wingdings" pitchFamily="2" charset="2"/>
              <a:buChar char="ü"/>
              <a:defRPr/>
            </a:pPr>
            <a:r>
              <a:rPr lang="ru-RU" sz="1500" b="1" dirty="0">
                <a:solidFill>
                  <a:schemeClr val="bg1"/>
                </a:solidFill>
                <a:latin typeface="Arial" charset="0"/>
              </a:rPr>
              <a:t> Повышение производительности</a:t>
            </a:r>
            <a:r>
              <a:rPr lang="en-US" sz="1500" b="1" dirty="0">
                <a:solidFill>
                  <a:schemeClr val="bg1"/>
                </a:solidFill>
                <a:latin typeface="Arial" charset="0"/>
              </a:rPr>
              <a:t> </a:t>
            </a:r>
            <a:r>
              <a:rPr lang="ru-RU" sz="1500" b="1" dirty="0">
                <a:solidFill>
                  <a:schemeClr val="bg1"/>
                </a:solidFill>
                <a:latin typeface="Arial" charset="0"/>
              </a:rPr>
              <a:t>труда</a:t>
            </a:r>
          </a:p>
          <a:p>
            <a:pPr>
              <a:buFont typeface="Wingdings" pitchFamily="2" charset="2"/>
              <a:buChar char="ü"/>
              <a:defRPr/>
            </a:pPr>
            <a:r>
              <a:rPr lang="ru-RU" sz="1500" b="1" dirty="0">
                <a:solidFill>
                  <a:schemeClr val="bg1"/>
                </a:solidFill>
                <a:latin typeface="Arial" charset="0"/>
              </a:rPr>
              <a:t> Улучшение качества продукции</a:t>
            </a:r>
          </a:p>
          <a:p>
            <a:pPr>
              <a:buFont typeface="Wingdings" pitchFamily="2" charset="2"/>
              <a:buChar char="ü"/>
              <a:defRPr/>
            </a:pPr>
            <a:r>
              <a:rPr lang="ru-RU" sz="1500" b="1" dirty="0">
                <a:solidFill>
                  <a:schemeClr val="bg1"/>
                </a:solidFill>
                <a:latin typeface="Arial" charset="0"/>
              </a:rPr>
              <a:t> Улучшение имиджа компании</a:t>
            </a:r>
          </a:p>
          <a:p>
            <a:pPr>
              <a:buFont typeface="Wingdings" pitchFamily="2" charset="2"/>
              <a:buChar char="ü"/>
              <a:defRPr/>
            </a:pPr>
            <a:r>
              <a:rPr lang="ru-RU" sz="1500" b="1" dirty="0">
                <a:solidFill>
                  <a:schemeClr val="bg1"/>
                </a:solidFill>
                <a:latin typeface="Arial" charset="0"/>
              </a:rPr>
              <a:t> Развитие</a:t>
            </a:r>
            <a:r>
              <a:rPr lang="en-US" sz="1500" b="1" dirty="0">
                <a:solidFill>
                  <a:schemeClr val="bg1"/>
                </a:solidFill>
                <a:latin typeface="Arial" charset="0"/>
              </a:rPr>
              <a:t> </a:t>
            </a:r>
            <a:r>
              <a:rPr lang="ru-RU" sz="1500" b="1" dirty="0">
                <a:solidFill>
                  <a:schemeClr val="bg1"/>
                </a:solidFill>
                <a:latin typeface="Arial" charset="0"/>
              </a:rPr>
              <a:t>компании</a:t>
            </a:r>
          </a:p>
        </p:txBody>
      </p:sp>
      <p:sp>
        <p:nvSpPr>
          <p:cNvPr id="18" name="AutoShape 30"/>
          <p:cNvSpPr>
            <a:spLocks noChangeArrowheads="1"/>
          </p:cNvSpPr>
          <p:nvPr/>
        </p:nvSpPr>
        <p:spPr bwMode="auto">
          <a:xfrm>
            <a:off x="6659563" y="909638"/>
            <a:ext cx="2159000" cy="2519362"/>
          </a:xfrm>
          <a:prstGeom prst="wedgeRoundRectCallout">
            <a:avLst>
              <a:gd name="adj1" fmla="val -75222"/>
              <a:gd name="adj2" fmla="val 1167"/>
              <a:gd name="adj3" fmla="val 16667"/>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buFont typeface="Wingdings" pitchFamily="2" charset="2"/>
              <a:buChar char="ü"/>
              <a:defRPr/>
            </a:pPr>
            <a:r>
              <a:rPr lang="ru-RU" sz="1500" b="1" dirty="0">
                <a:solidFill>
                  <a:schemeClr val="bg1"/>
                </a:solidFill>
                <a:latin typeface="Arial" charset="0"/>
              </a:rPr>
              <a:t> Уменьшение количества </a:t>
            </a:r>
            <a:r>
              <a:rPr lang="ru-RU" sz="1500" b="1" dirty="0" err="1">
                <a:solidFill>
                  <a:schemeClr val="bg1"/>
                </a:solidFill>
                <a:latin typeface="Arial" charset="0"/>
              </a:rPr>
              <a:t>н</a:t>
            </a:r>
            <a:r>
              <a:rPr lang="ru-RU" sz="1500" b="1" dirty="0">
                <a:solidFill>
                  <a:schemeClr val="bg1"/>
                </a:solidFill>
                <a:latin typeface="Arial" charset="0"/>
              </a:rPr>
              <a:t>/с и снижение заболеваемости</a:t>
            </a:r>
          </a:p>
          <a:p>
            <a:pPr>
              <a:buFont typeface="Wingdings" pitchFamily="2" charset="2"/>
              <a:buChar char="ü"/>
              <a:defRPr/>
            </a:pPr>
            <a:r>
              <a:rPr lang="ru-RU" sz="1500" b="1" dirty="0">
                <a:solidFill>
                  <a:schemeClr val="bg1"/>
                </a:solidFill>
                <a:latin typeface="Arial" charset="0"/>
              </a:rPr>
              <a:t> Уменьшение текучести кадров</a:t>
            </a:r>
          </a:p>
          <a:p>
            <a:pPr>
              <a:buFont typeface="Wingdings" pitchFamily="2" charset="2"/>
              <a:buChar char="ü"/>
              <a:defRPr/>
            </a:pPr>
            <a:r>
              <a:rPr lang="ru-RU" sz="1500" b="1" dirty="0">
                <a:solidFill>
                  <a:schemeClr val="bg1"/>
                </a:solidFill>
                <a:latin typeface="Arial" charset="0"/>
              </a:rPr>
              <a:t> Снижение экономических потерь из-за </a:t>
            </a:r>
            <a:r>
              <a:rPr lang="ru-RU" sz="1500" b="1" dirty="0" err="1">
                <a:solidFill>
                  <a:schemeClr val="bg1"/>
                </a:solidFill>
                <a:latin typeface="Arial" charset="0"/>
              </a:rPr>
              <a:t>н</a:t>
            </a:r>
            <a:r>
              <a:rPr lang="ru-RU" sz="1500" b="1" dirty="0">
                <a:solidFill>
                  <a:schemeClr val="bg1"/>
                </a:solidFill>
                <a:latin typeface="Arial" charset="0"/>
              </a:rPr>
              <a:t>/с</a:t>
            </a:r>
          </a:p>
          <a:p>
            <a:pPr algn="ctr">
              <a:defRPr/>
            </a:pPr>
            <a:endParaRPr lang="ru-RU" sz="1500" b="1" dirty="0">
              <a:solidFill>
                <a:schemeClr val="bg1"/>
              </a:solidFill>
              <a:latin typeface="Arial" charset="0"/>
            </a:endParaRPr>
          </a:p>
        </p:txBody>
      </p:sp>
      <p:sp>
        <p:nvSpPr>
          <p:cNvPr id="19" name="AutoShape 31"/>
          <p:cNvSpPr>
            <a:spLocks noChangeArrowheads="1"/>
          </p:cNvSpPr>
          <p:nvPr/>
        </p:nvSpPr>
        <p:spPr bwMode="auto">
          <a:xfrm>
            <a:off x="5040313" y="2447925"/>
            <a:ext cx="504825" cy="1657350"/>
          </a:xfrm>
          <a:prstGeom prst="downArrow">
            <a:avLst>
              <a:gd name="adj1" fmla="val 50000"/>
              <a:gd name="adj2" fmla="val 82075"/>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ru-RU" sz="1800"/>
          </a:p>
        </p:txBody>
      </p:sp>
      <p:sp>
        <p:nvSpPr>
          <p:cNvPr id="20" name="AutoShape 32"/>
          <p:cNvSpPr>
            <a:spLocks noChangeArrowheads="1"/>
          </p:cNvSpPr>
          <p:nvPr/>
        </p:nvSpPr>
        <p:spPr bwMode="auto">
          <a:xfrm>
            <a:off x="3455988" y="1296988"/>
            <a:ext cx="720725" cy="1295400"/>
          </a:xfrm>
          <a:custGeom>
            <a:avLst/>
            <a:gdLst>
              <a:gd name="T0" fmla="*/ 6673 w 21600"/>
              <a:gd name="T1" fmla="*/ 0 h 21600"/>
              <a:gd name="T2" fmla="*/ 6673 w 21600"/>
              <a:gd name="T3" fmla="*/ 61172 h 21600"/>
              <a:gd name="T4" fmla="*/ 1101 w 21600"/>
              <a:gd name="T5" fmla="*/ 111488 h 21600"/>
              <a:gd name="T6" fmla="*/ 11145 w 21600"/>
              <a:gd name="T7" fmla="*/ 32385 h 21600"/>
              <a:gd name="T8" fmla="*/ 17694720 60000 65536"/>
              <a:gd name="T9" fmla="*/ 5898240 60000 65536"/>
              <a:gd name="T10" fmla="*/ 5898240 60000 65536"/>
              <a:gd name="T11" fmla="*/ 0 60000 65536"/>
              <a:gd name="T12" fmla="*/ 12418 w 21600"/>
              <a:gd name="T13" fmla="*/ 3441 h 21600"/>
              <a:gd name="T14" fmla="*/ 18603 w 21600"/>
              <a:gd name="T15" fmla="*/ 8709 h 21600"/>
            </a:gdLst>
            <a:ahLst/>
            <a:cxnLst>
              <a:cxn ang="T8">
                <a:pos x="T0" y="T1"/>
              </a:cxn>
              <a:cxn ang="T9">
                <a:pos x="T2" y="T3"/>
              </a:cxn>
              <a:cxn ang="T10">
                <a:pos x="T4" y="T5"/>
              </a:cxn>
              <a:cxn ang="T11">
                <a:pos x="T6" y="T7"/>
              </a:cxn>
            </a:cxnLst>
            <a:rect l="T12" t="T13" r="T14" b="T15"/>
            <a:pathLst>
              <a:path w="21600" h="21600">
                <a:moveTo>
                  <a:pt x="21600" y="6079"/>
                </a:moveTo>
                <a:lnTo>
                  <a:pt x="14701" y="0"/>
                </a:lnTo>
                <a:lnTo>
                  <a:pt x="14701" y="3441"/>
                </a:lnTo>
                <a:lnTo>
                  <a:pt x="12427" y="3441"/>
                </a:lnTo>
                <a:cubicBezTo>
                  <a:pt x="5564" y="3441"/>
                  <a:pt x="0" y="7344"/>
                  <a:pt x="0" y="12158"/>
                </a:cubicBezTo>
                <a:lnTo>
                  <a:pt x="0" y="21600"/>
                </a:lnTo>
                <a:lnTo>
                  <a:pt x="5393" y="21600"/>
                </a:lnTo>
                <a:lnTo>
                  <a:pt x="5393" y="12158"/>
                </a:lnTo>
                <a:cubicBezTo>
                  <a:pt x="5393" y="10258"/>
                  <a:pt x="8542" y="8717"/>
                  <a:pt x="12427" y="8717"/>
                </a:cubicBezTo>
                <a:lnTo>
                  <a:pt x="14701" y="8717"/>
                </a:lnTo>
                <a:lnTo>
                  <a:pt x="14701" y="12158"/>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ru-RU" sz="1800"/>
          </a:p>
        </p:txBody>
      </p:sp>
      <p:sp>
        <p:nvSpPr>
          <p:cNvPr id="21" name="AutoShape 33"/>
          <p:cNvSpPr>
            <a:spLocks noChangeArrowheads="1"/>
          </p:cNvSpPr>
          <p:nvPr/>
        </p:nvSpPr>
        <p:spPr bwMode="auto">
          <a:xfrm rot="10817767" flipH="1">
            <a:off x="3454400" y="3959225"/>
            <a:ext cx="647700" cy="1295400"/>
          </a:xfrm>
          <a:custGeom>
            <a:avLst/>
            <a:gdLst>
              <a:gd name="T0" fmla="*/ 4498 w 21600"/>
              <a:gd name="T1" fmla="*/ 0 h 21600"/>
              <a:gd name="T2" fmla="*/ 4498 w 21600"/>
              <a:gd name="T3" fmla="*/ 61172 h 21600"/>
              <a:gd name="T4" fmla="*/ 900 w 21600"/>
              <a:gd name="T5" fmla="*/ 111488 h 21600"/>
              <a:gd name="T6" fmla="*/ 7197 w 21600"/>
              <a:gd name="T7" fmla="*/ 32385 h 21600"/>
              <a:gd name="T8" fmla="*/ 17694720 60000 65536"/>
              <a:gd name="T9" fmla="*/ 5898240 60000 65536"/>
              <a:gd name="T10" fmla="*/ 5898240 60000 65536"/>
              <a:gd name="T11" fmla="*/ 0 60000 65536"/>
              <a:gd name="T12" fmla="*/ 12441 w 21600"/>
              <a:gd name="T13" fmla="*/ 3441 h 21600"/>
              <a:gd name="T14" fmla="*/ 18582 w 21600"/>
              <a:gd name="T15" fmla="*/ 8709 h 21600"/>
            </a:gdLst>
            <a:ahLst/>
            <a:cxnLst>
              <a:cxn ang="T8">
                <a:pos x="T0" y="T1"/>
              </a:cxn>
              <a:cxn ang="T9">
                <a:pos x="T2" y="T3"/>
              </a:cxn>
              <a:cxn ang="T10">
                <a:pos x="T4" y="T5"/>
              </a:cxn>
              <a:cxn ang="T11">
                <a:pos x="T6" y="T7"/>
              </a:cxn>
            </a:cxnLst>
            <a:rect l="T12" t="T13" r="T14" b="T15"/>
            <a:pathLst>
              <a:path w="21600" h="21600">
                <a:moveTo>
                  <a:pt x="21600" y="6079"/>
                </a:moveTo>
                <a:lnTo>
                  <a:pt x="14701" y="0"/>
                </a:lnTo>
                <a:lnTo>
                  <a:pt x="14701" y="3441"/>
                </a:lnTo>
                <a:lnTo>
                  <a:pt x="12427" y="3441"/>
                </a:lnTo>
                <a:cubicBezTo>
                  <a:pt x="5564" y="3441"/>
                  <a:pt x="0" y="7344"/>
                  <a:pt x="0" y="12158"/>
                </a:cubicBezTo>
                <a:lnTo>
                  <a:pt x="0" y="21600"/>
                </a:lnTo>
                <a:lnTo>
                  <a:pt x="5393" y="21600"/>
                </a:lnTo>
                <a:lnTo>
                  <a:pt x="5393" y="12158"/>
                </a:lnTo>
                <a:cubicBezTo>
                  <a:pt x="5393" y="10258"/>
                  <a:pt x="8542" y="8717"/>
                  <a:pt x="12427" y="8717"/>
                </a:cubicBezTo>
                <a:lnTo>
                  <a:pt x="14701" y="8717"/>
                </a:lnTo>
                <a:lnTo>
                  <a:pt x="14701" y="12158"/>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rot="10800000" wrap="none" anchor="ctr"/>
          <a:lstStyle/>
          <a:p>
            <a:pPr>
              <a:defRPr/>
            </a:pPr>
            <a:endParaRPr lang="ru-RU" sz="1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righ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childTnLst>
                          </p:cTn>
                        </p:par>
                        <p:par>
                          <p:cTn id="19" fill="hold">
                            <p:stCondLst>
                              <p:cond delay="500"/>
                            </p:stCondLst>
                            <p:childTnLst>
                              <p:par>
                                <p:cTn id="20" presetID="55"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up)">
                                      <p:cBhvr>
                                        <p:cTn id="33" dur="500"/>
                                        <p:tgtEl>
                                          <p:spTgt spid="19"/>
                                        </p:tgtEl>
                                      </p:cBhvr>
                                    </p:animEffect>
                                  </p:childTnLst>
                                </p:cTn>
                              </p:par>
                              <p:par>
                                <p:cTn id="34" presetID="18" presetClass="entr" presetSubtype="6"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strips(downRight)">
                                      <p:cBhvr>
                                        <p:cTn id="36" dur="500"/>
                                        <p:tgtEl>
                                          <p:spTgt spid="21"/>
                                        </p:tgtEl>
                                      </p:cBhvr>
                                    </p:animEffect>
                                  </p:childTnLst>
                                </p:cTn>
                              </p:par>
                            </p:childTnLst>
                          </p:cTn>
                        </p:par>
                        <p:par>
                          <p:cTn id="37" fill="hold">
                            <p:stCondLst>
                              <p:cond delay="500"/>
                            </p:stCondLst>
                            <p:childTnLst>
                              <p:par>
                                <p:cTn id="38" presetID="2" presetClass="entr" presetSubtype="6"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1" name="Picture 2" descr="mzl"/>
          <p:cNvPicPr>
            <a:picLocks noChangeAspect="1" noChangeArrowheads="1"/>
          </p:cNvPicPr>
          <p:nvPr/>
        </p:nvPicPr>
        <p:blipFill>
          <a:blip r:embed="rId3"/>
          <a:srcRect/>
          <a:stretch>
            <a:fillRect/>
          </a:stretch>
        </p:blipFill>
        <p:spPr bwMode="auto">
          <a:xfrm>
            <a:off x="2286928" y="429651"/>
            <a:ext cx="5753100" cy="5753100"/>
          </a:xfrm>
          <a:prstGeom prst="rect">
            <a:avLst/>
          </a:prstGeom>
          <a:noFill/>
          <a:ln w="9525">
            <a:noFill/>
            <a:miter lim="800000"/>
            <a:headEnd/>
            <a:tailEnd/>
          </a:ln>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Открытая">
  <a:themeElements>
    <a:clrScheme name="Открытая">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Открытая">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Открытая">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Открытая">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Открытая">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Открытая">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Открытая">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5355</TotalTime>
  <Words>5041</Words>
  <Application>Microsoft Office PowerPoint</Application>
  <PresentationFormat>Экран (4:3)</PresentationFormat>
  <Paragraphs>629</Paragraphs>
  <Slides>81</Slides>
  <Notes>22</Notes>
  <HiddenSlides>0</HiddenSlides>
  <MMClips>0</MMClips>
  <ScaleCrop>false</ScaleCrop>
  <HeadingPairs>
    <vt:vector size="8" baseType="variant">
      <vt:variant>
        <vt:lpstr>Использованные шрифты</vt:lpstr>
      </vt:variant>
      <vt:variant>
        <vt:i4>12</vt:i4>
      </vt:variant>
      <vt:variant>
        <vt:lpstr>Тема</vt:lpstr>
      </vt:variant>
      <vt:variant>
        <vt:i4>1</vt:i4>
      </vt:variant>
      <vt:variant>
        <vt:lpstr>Внедренные серверы OLE</vt:lpstr>
      </vt:variant>
      <vt:variant>
        <vt:i4>2</vt:i4>
      </vt:variant>
      <vt:variant>
        <vt:lpstr>Заголовки слайдов</vt:lpstr>
      </vt:variant>
      <vt:variant>
        <vt:i4>81</vt:i4>
      </vt:variant>
    </vt:vector>
  </HeadingPairs>
  <TitlesOfParts>
    <vt:vector size="96" baseType="lpstr">
      <vt:lpstr>ＭＳ Ｐゴシック</vt:lpstr>
      <vt:lpstr>Arial</vt:lpstr>
      <vt:lpstr>Arial Black</vt:lpstr>
      <vt:lpstr>Calibri</vt:lpstr>
      <vt:lpstr>Garamond</vt:lpstr>
      <vt:lpstr>Lucida Sans Unicode</vt:lpstr>
      <vt:lpstr>Tahoma</vt:lpstr>
      <vt:lpstr>Times New Roman</vt:lpstr>
      <vt:lpstr>Verdana</vt:lpstr>
      <vt:lpstr>Wingdings</vt:lpstr>
      <vt:lpstr>Wingdings 2</vt:lpstr>
      <vt:lpstr>Wingdings 3</vt:lpstr>
      <vt:lpstr>Открытая</vt:lpstr>
      <vt:lpstr>Формула</vt:lpstr>
      <vt:lpstr>Документ</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Федеральный закон № 426-ФЗ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Прямой метод оценки риска –  Анализ «затраты-выгоды»</vt:lpstr>
      <vt:lpstr>Анализ «затраты-выгоды»</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Oeg Kosyrev</dc:creator>
  <cp:lastModifiedBy>Пользователь</cp:lastModifiedBy>
  <cp:revision>314</cp:revision>
  <cp:lastPrinted>2015-09-08T06:19:20Z</cp:lastPrinted>
  <dcterms:created xsi:type="dcterms:W3CDTF">2012-11-25T18:30:42Z</dcterms:created>
  <dcterms:modified xsi:type="dcterms:W3CDTF">2026-09-04T14:57:08Z</dcterms:modified>
</cp:coreProperties>
</file>