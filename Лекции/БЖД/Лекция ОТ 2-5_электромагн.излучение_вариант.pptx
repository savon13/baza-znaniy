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2"/>
  </p:notesMasterIdLst>
  <p:sldIdLst>
    <p:sldId id="256" r:id="rId2"/>
    <p:sldId id="369" r:id="rId3"/>
    <p:sldId id="258" r:id="rId4"/>
    <p:sldId id="260" r:id="rId5"/>
    <p:sldId id="261" r:id="rId6"/>
    <p:sldId id="294" r:id="rId7"/>
    <p:sldId id="295" r:id="rId8"/>
    <p:sldId id="296" r:id="rId9"/>
    <p:sldId id="300" r:id="rId10"/>
    <p:sldId id="301" r:id="rId11"/>
    <p:sldId id="303" r:id="rId12"/>
    <p:sldId id="306" r:id="rId13"/>
    <p:sldId id="363" r:id="rId14"/>
    <p:sldId id="304" r:id="rId15"/>
    <p:sldId id="378" r:id="rId16"/>
    <p:sldId id="305" r:id="rId17"/>
    <p:sldId id="308" r:id="rId18"/>
    <p:sldId id="309" r:id="rId19"/>
    <p:sldId id="377" r:id="rId20"/>
    <p:sldId id="310" r:id="rId21"/>
    <p:sldId id="311" r:id="rId22"/>
    <p:sldId id="312" r:id="rId23"/>
    <p:sldId id="314" r:id="rId24"/>
    <p:sldId id="316" r:id="rId25"/>
    <p:sldId id="317" r:id="rId26"/>
    <p:sldId id="318" r:id="rId27"/>
    <p:sldId id="315" r:id="rId28"/>
    <p:sldId id="319" r:id="rId29"/>
    <p:sldId id="321" r:id="rId30"/>
    <p:sldId id="322" r:id="rId31"/>
    <p:sldId id="323" r:id="rId32"/>
    <p:sldId id="371" r:id="rId33"/>
    <p:sldId id="373" r:id="rId34"/>
    <p:sldId id="325" r:id="rId35"/>
    <p:sldId id="326" r:id="rId36"/>
    <p:sldId id="320" r:id="rId37"/>
    <p:sldId id="364" r:id="rId38"/>
    <p:sldId id="327" r:id="rId39"/>
    <p:sldId id="328" r:id="rId40"/>
    <p:sldId id="370" r:id="rId41"/>
    <p:sldId id="329" r:id="rId42"/>
    <p:sldId id="383" r:id="rId43"/>
    <p:sldId id="331" r:id="rId44"/>
    <p:sldId id="332" r:id="rId45"/>
    <p:sldId id="333" r:id="rId46"/>
    <p:sldId id="376" r:id="rId47"/>
    <p:sldId id="334" r:id="rId48"/>
    <p:sldId id="330" r:id="rId49"/>
    <p:sldId id="375" r:id="rId50"/>
    <p:sldId id="335" r:id="rId51"/>
    <p:sldId id="336" r:id="rId52"/>
    <p:sldId id="337" r:id="rId53"/>
    <p:sldId id="338" r:id="rId54"/>
    <p:sldId id="382" r:id="rId55"/>
    <p:sldId id="339" r:id="rId56"/>
    <p:sldId id="367" r:id="rId57"/>
    <p:sldId id="368" r:id="rId58"/>
    <p:sldId id="341" r:id="rId59"/>
    <p:sldId id="342" r:id="rId60"/>
    <p:sldId id="366" r:id="rId61"/>
    <p:sldId id="344" r:id="rId62"/>
    <p:sldId id="345" r:id="rId63"/>
    <p:sldId id="346" r:id="rId64"/>
    <p:sldId id="347" r:id="rId65"/>
    <p:sldId id="348" r:id="rId66"/>
    <p:sldId id="379" r:id="rId67"/>
    <p:sldId id="349" r:id="rId68"/>
    <p:sldId id="351" r:id="rId69"/>
    <p:sldId id="352" r:id="rId70"/>
    <p:sldId id="353" r:id="rId71"/>
    <p:sldId id="354" r:id="rId72"/>
    <p:sldId id="355" r:id="rId73"/>
    <p:sldId id="356" r:id="rId74"/>
    <p:sldId id="381" r:id="rId75"/>
    <p:sldId id="357" r:id="rId76"/>
    <p:sldId id="380" r:id="rId77"/>
    <p:sldId id="358" r:id="rId78"/>
    <p:sldId id="360" r:id="rId79"/>
    <p:sldId id="361" r:id="rId80"/>
    <p:sldId id="313" r:id="rId81"/>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1677F3C8-BABF-45AF-B5CB-6D29140BB41B}">
          <p14:sldIdLst>
            <p14:sldId id="256"/>
            <p14:sldId id="369"/>
            <p14:sldId id="258"/>
            <p14:sldId id="260"/>
            <p14:sldId id="261"/>
            <p14:sldId id="294"/>
            <p14:sldId id="295"/>
            <p14:sldId id="296"/>
            <p14:sldId id="300"/>
            <p14:sldId id="301"/>
            <p14:sldId id="303"/>
            <p14:sldId id="306"/>
            <p14:sldId id="363"/>
            <p14:sldId id="304"/>
            <p14:sldId id="378"/>
            <p14:sldId id="305"/>
            <p14:sldId id="308"/>
            <p14:sldId id="309"/>
            <p14:sldId id="377"/>
            <p14:sldId id="310"/>
            <p14:sldId id="311"/>
            <p14:sldId id="312"/>
            <p14:sldId id="314"/>
            <p14:sldId id="316"/>
            <p14:sldId id="317"/>
            <p14:sldId id="318"/>
            <p14:sldId id="315"/>
            <p14:sldId id="319"/>
            <p14:sldId id="321"/>
            <p14:sldId id="322"/>
            <p14:sldId id="323"/>
            <p14:sldId id="371"/>
            <p14:sldId id="373"/>
            <p14:sldId id="325"/>
            <p14:sldId id="326"/>
            <p14:sldId id="320"/>
            <p14:sldId id="364"/>
            <p14:sldId id="327"/>
            <p14:sldId id="328"/>
            <p14:sldId id="370"/>
            <p14:sldId id="329"/>
            <p14:sldId id="383"/>
            <p14:sldId id="331"/>
            <p14:sldId id="332"/>
            <p14:sldId id="333"/>
            <p14:sldId id="376"/>
            <p14:sldId id="334"/>
            <p14:sldId id="330"/>
            <p14:sldId id="375"/>
            <p14:sldId id="335"/>
            <p14:sldId id="336"/>
            <p14:sldId id="337"/>
            <p14:sldId id="338"/>
            <p14:sldId id="382"/>
            <p14:sldId id="339"/>
            <p14:sldId id="367"/>
            <p14:sldId id="368"/>
            <p14:sldId id="341"/>
            <p14:sldId id="342"/>
            <p14:sldId id="366"/>
            <p14:sldId id="344"/>
            <p14:sldId id="345"/>
            <p14:sldId id="346"/>
            <p14:sldId id="347"/>
            <p14:sldId id="348"/>
            <p14:sldId id="379"/>
            <p14:sldId id="349"/>
            <p14:sldId id="351"/>
            <p14:sldId id="352"/>
            <p14:sldId id="353"/>
            <p14:sldId id="354"/>
            <p14:sldId id="355"/>
            <p14:sldId id="356"/>
            <p14:sldId id="381"/>
            <p14:sldId id="357"/>
            <p14:sldId id="380"/>
            <p14:sldId id="358"/>
            <p14:sldId id="360"/>
            <p14:sldId id="361"/>
            <p14:sldId id="31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1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CF7A97-F242-4CE3-BE31-515D509BFFEF}" type="datetimeFigureOut">
              <a:rPr lang="ru-RU" smtClean="0"/>
              <a:pPr/>
              <a:t>04.09.2026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039FE-67AC-4E55-8ABE-0D59081C4143}" type="slidenum">
              <a:rPr lang="ru-RU" smtClean="0"/>
              <a:pPr/>
              <a:t>‹#›</a:t>
            </a:fld>
            <a:endParaRPr lang="ru-RU"/>
          </a:p>
        </p:txBody>
      </p:sp>
    </p:spTree>
    <p:extLst>
      <p:ext uri="{BB962C8B-B14F-4D97-AF65-F5344CB8AC3E}">
        <p14:creationId xmlns:p14="http://schemas.microsoft.com/office/powerpoint/2010/main" val="67593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D30039FE-67AC-4E55-8ABE-0D59081C4143}" type="slidenum">
              <a:rPr lang="ru-RU" smtClean="0"/>
              <a:pPr/>
              <a:t>1</a:t>
            </a:fld>
            <a:endParaRPr lang="ru-RU"/>
          </a:p>
        </p:txBody>
      </p:sp>
    </p:spTree>
    <p:extLst>
      <p:ext uri="{BB962C8B-B14F-4D97-AF65-F5344CB8AC3E}">
        <p14:creationId xmlns:p14="http://schemas.microsoft.com/office/powerpoint/2010/main" val="2996586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0039FE-67AC-4E55-8ABE-0D59081C4143}" type="slidenum">
              <a:rPr lang="ru-RU" smtClean="0"/>
              <a:pPr/>
              <a:t>20</a:t>
            </a:fld>
            <a:endParaRPr lang="ru-RU"/>
          </a:p>
        </p:txBody>
      </p:sp>
    </p:spTree>
    <p:extLst>
      <p:ext uri="{BB962C8B-B14F-4D97-AF65-F5344CB8AC3E}">
        <p14:creationId xmlns:p14="http://schemas.microsoft.com/office/powerpoint/2010/main" val="121780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0039FE-67AC-4E55-8ABE-0D59081C4143}" type="slidenum">
              <a:rPr lang="ru-RU" smtClean="0"/>
              <a:pPr/>
              <a:t>51</a:t>
            </a:fld>
            <a:endParaRPr lang="ru-RU"/>
          </a:p>
        </p:txBody>
      </p:sp>
    </p:spTree>
    <p:extLst>
      <p:ext uri="{BB962C8B-B14F-4D97-AF65-F5344CB8AC3E}">
        <p14:creationId xmlns:p14="http://schemas.microsoft.com/office/powerpoint/2010/main" val="1201122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ru-RU" smtClean="0"/>
              <a:t>Образец заголовка</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2F127D12-0692-43BC-9641-25D8C789F2FC}" type="datetime1">
              <a:rPr lang="ru-RU" smtClean="0"/>
              <a:pPr/>
              <a:t>04.09.2026</a:t>
            </a:fld>
            <a:endParaRPr lang="ru-RU"/>
          </a:p>
        </p:txBody>
      </p:sp>
      <p:sp>
        <p:nvSpPr>
          <p:cNvPr id="5" name="Footer Placeholder 4"/>
          <p:cNvSpPr>
            <a:spLocks noGrp="1"/>
          </p:cNvSpPr>
          <p:nvPr>
            <p:ph type="ftr" sz="quarter" idx="11"/>
          </p:nvPr>
        </p:nvSpPr>
        <p:spPr/>
        <p:txBody>
          <a:bodyPr/>
          <a:lstStyle/>
          <a:p>
            <a:r>
              <a:rPr lang="ru-RU" smtClean="0"/>
              <a:t>Электромагнитное излучение</a:t>
            </a:r>
            <a:endParaRPr lang="ru-RU"/>
          </a:p>
        </p:txBody>
      </p:sp>
      <p:sp>
        <p:nvSpPr>
          <p:cNvPr id="6" name="Slide Number Placeholder 5"/>
          <p:cNvSpPr>
            <a:spLocks noGrp="1"/>
          </p:cNvSpPr>
          <p:nvPr>
            <p:ph type="sldNum" sz="quarter" idx="12"/>
          </p:nvPr>
        </p:nvSpPr>
        <p:spPr/>
        <p:txBody>
          <a:bodyPr/>
          <a:lstStyle/>
          <a:p>
            <a:fld id="{3BD8B445-A5DE-4AFB-97A2-38F398769644}" type="slidenum">
              <a:rPr lang="ru-RU" smtClean="0"/>
              <a:pPr/>
              <a:t>‹#›</a:t>
            </a:fld>
            <a:endParaRPr lang="ru-RU"/>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11D3851F-96D2-4EF0-B73C-C91FA5F17679}" type="datetime1">
              <a:rPr lang="ru-RU" smtClean="0"/>
              <a:pPr/>
              <a:t>04.09.2026</a:t>
            </a:fld>
            <a:endParaRPr lang="ru-RU"/>
          </a:p>
        </p:txBody>
      </p:sp>
      <p:sp>
        <p:nvSpPr>
          <p:cNvPr id="5" name="Footer Placeholder 4"/>
          <p:cNvSpPr>
            <a:spLocks noGrp="1"/>
          </p:cNvSpPr>
          <p:nvPr>
            <p:ph type="ftr" sz="quarter" idx="11"/>
          </p:nvPr>
        </p:nvSpPr>
        <p:spPr/>
        <p:txBody>
          <a:bodyPr/>
          <a:lstStyle/>
          <a:p>
            <a:r>
              <a:rPr lang="ru-RU" smtClean="0"/>
              <a:t>Электромагнитное излучение</a:t>
            </a:r>
            <a:endParaRPr lang="ru-RU"/>
          </a:p>
        </p:txBody>
      </p:sp>
      <p:sp>
        <p:nvSpPr>
          <p:cNvPr id="6" name="Slide Number Placeholder 5"/>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3AD255-873E-4A29-8093-6D5F910C9FB8}" type="datetime1">
              <a:rPr lang="ru-RU" smtClean="0"/>
              <a:pPr/>
              <a:t>04.09.2026</a:t>
            </a:fld>
            <a:endParaRPr lang="ru-RU"/>
          </a:p>
        </p:txBody>
      </p:sp>
      <p:sp>
        <p:nvSpPr>
          <p:cNvPr id="5" name="Footer Placeholder 4"/>
          <p:cNvSpPr>
            <a:spLocks noGrp="1"/>
          </p:cNvSpPr>
          <p:nvPr>
            <p:ph type="ftr" sz="quarter" idx="11"/>
          </p:nvPr>
        </p:nvSpPr>
        <p:spPr/>
        <p:txBody>
          <a:bodyPr/>
          <a:lstStyle/>
          <a:p>
            <a:r>
              <a:rPr lang="ru-RU" smtClean="0"/>
              <a:t>Электромагнитное излучение</a:t>
            </a:r>
            <a:endParaRPr lang="ru-RU"/>
          </a:p>
        </p:txBody>
      </p:sp>
      <p:sp>
        <p:nvSpPr>
          <p:cNvPr id="6" name="Slide Number Placeholder 5"/>
          <p:cNvSpPr>
            <a:spLocks noGrp="1"/>
          </p:cNvSpPr>
          <p:nvPr>
            <p:ph type="sldNum" sz="quarter" idx="12"/>
          </p:nvPr>
        </p:nvSpPr>
        <p:spPr/>
        <p:txBody>
          <a:bodyPr/>
          <a:lstStyle/>
          <a:p>
            <a:fld id="{3BD8B445-A5DE-4AFB-97A2-38F398769644}" type="slidenum">
              <a:rPr lang="ru-RU" smtClean="0"/>
              <a:pPr/>
              <a:t>‹#›</a:t>
            </a:fld>
            <a:endParaRPr lang="ru-RU"/>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A1AB68D1-5A64-424A-8F7A-CD214FA9A460}" type="datetime1">
              <a:rPr lang="ru-RU" smtClean="0"/>
              <a:pPr/>
              <a:t>04.09.2026</a:t>
            </a:fld>
            <a:endParaRPr lang="ru-RU"/>
          </a:p>
        </p:txBody>
      </p:sp>
      <p:sp>
        <p:nvSpPr>
          <p:cNvPr id="6" name="Footer Placeholder 5"/>
          <p:cNvSpPr>
            <a:spLocks noGrp="1"/>
          </p:cNvSpPr>
          <p:nvPr>
            <p:ph type="ftr" sz="quarter" idx="11"/>
          </p:nvPr>
        </p:nvSpPr>
        <p:spPr/>
        <p:txBody>
          <a:bodyPr/>
          <a:lstStyle/>
          <a:p>
            <a:r>
              <a:rPr lang="ru-RU" smtClean="0"/>
              <a:t>Электромагнитное излучение</a:t>
            </a:r>
            <a:endParaRPr lang="ru-RU"/>
          </a:p>
        </p:txBody>
      </p:sp>
      <p:sp>
        <p:nvSpPr>
          <p:cNvPr id="7" name="Slide Number Placeholder 6"/>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1D4AD879-925B-4419-A9C4-3026FE73E525}" type="datetime1">
              <a:rPr lang="ru-RU" smtClean="0"/>
              <a:pPr/>
              <a:t>04.09.2026</a:t>
            </a:fld>
            <a:endParaRPr lang="ru-RU"/>
          </a:p>
        </p:txBody>
      </p:sp>
      <p:sp>
        <p:nvSpPr>
          <p:cNvPr id="8" name="Footer Placeholder 7"/>
          <p:cNvSpPr>
            <a:spLocks noGrp="1"/>
          </p:cNvSpPr>
          <p:nvPr>
            <p:ph type="ftr" sz="quarter" idx="11"/>
          </p:nvPr>
        </p:nvSpPr>
        <p:spPr/>
        <p:txBody>
          <a:bodyPr/>
          <a:lstStyle/>
          <a:p>
            <a:r>
              <a:rPr lang="ru-RU" smtClean="0"/>
              <a:t>Электромагнитное излучение</a:t>
            </a:r>
            <a:endParaRPr lang="ru-RU"/>
          </a:p>
        </p:txBody>
      </p:sp>
      <p:sp>
        <p:nvSpPr>
          <p:cNvPr id="9" name="Slide Number Placeholder 8"/>
          <p:cNvSpPr>
            <a:spLocks noGrp="1"/>
          </p:cNvSpPr>
          <p:nvPr>
            <p:ph type="sldNum" sz="quarter" idx="12"/>
          </p:nvPr>
        </p:nvSpPr>
        <p:spPr/>
        <p:txBody>
          <a:bodyPr/>
          <a:lstStyle/>
          <a:p>
            <a:fld id="{3BD8B445-A5DE-4AFB-97A2-38F398769644}" type="slidenum">
              <a:rPr lang="ru-RU" smtClean="0"/>
              <a:pPr/>
              <a:t>‹#›</a:t>
            </a:fld>
            <a:endParaRPr lang="ru-RU"/>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4BD3155D-F31E-4E13-833C-0C99092BF327}" type="datetime1">
              <a:rPr lang="ru-RU" smtClean="0"/>
              <a:pPr/>
              <a:t>04.09.2026</a:t>
            </a:fld>
            <a:endParaRPr lang="ru-RU"/>
          </a:p>
        </p:txBody>
      </p:sp>
      <p:sp>
        <p:nvSpPr>
          <p:cNvPr id="4" name="Footer Placeholder 3"/>
          <p:cNvSpPr>
            <a:spLocks noGrp="1"/>
          </p:cNvSpPr>
          <p:nvPr>
            <p:ph type="ftr" sz="quarter" idx="11"/>
          </p:nvPr>
        </p:nvSpPr>
        <p:spPr/>
        <p:txBody>
          <a:bodyPr/>
          <a:lstStyle/>
          <a:p>
            <a:r>
              <a:rPr lang="ru-RU" smtClean="0"/>
              <a:t>Электромагнитное излучение</a:t>
            </a:r>
            <a:endParaRPr lang="ru-RU"/>
          </a:p>
        </p:txBody>
      </p:sp>
      <p:sp>
        <p:nvSpPr>
          <p:cNvPr id="5" name="Slide Number Placeholder 4"/>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C303A0-97E9-4E42-AEB9-69C703DDFF09}" type="datetime1">
              <a:rPr lang="ru-RU" smtClean="0"/>
              <a:pPr/>
              <a:t>04.09.2026</a:t>
            </a:fld>
            <a:endParaRPr lang="ru-RU"/>
          </a:p>
        </p:txBody>
      </p:sp>
      <p:sp>
        <p:nvSpPr>
          <p:cNvPr id="3" name="Footer Placeholder 2"/>
          <p:cNvSpPr>
            <a:spLocks noGrp="1"/>
          </p:cNvSpPr>
          <p:nvPr>
            <p:ph type="ftr" sz="quarter" idx="11"/>
          </p:nvPr>
        </p:nvSpPr>
        <p:spPr/>
        <p:txBody>
          <a:bodyPr/>
          <a:lstStyle/>
          <a:p>
            <a:r>
              <a:rPr lang="ru-RU" smtClean="0"/>
              <a:t>Электромагнитное излучение</a:t>
            </a:r>
            <a:endParaRPr lang="ru-RU"/>
          </a:p>
        </p:txBody>
      </p:sp>
      <p:sp>
        <p:nvSpPr>
          <p:cNvPr id="4" name="Slide Number Placeholder 3"/>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96C61EC2-85A1-4B4D-9FD0-3B0F258501DB}" type="datetime1">
              <a:rPr lang="ru-RU" smtClean="0"/>
              <a:pPr/>
              <a:t>04.09.2026</a:t>
            </a:fld>
            <a:endParaRPr lang="ru-RU"/>
          </a:p>
        </p:txBody>
      </p:sp>
      <p:sp>
        <p:nvSpPr>
          <p:cNvPr id="6" name="Footer Placeholder 5"/>
          <p:cNvSpPr>
            <a:spLocks noGrp="1"/>
          </p:cNvSpPr>
          <p:nvPr>
            <p:ph type="ftr" sz="quarter" idx="11"/>
          </p:nvPr>
        </p:nvSpPr>
        <p:spPr/>
        <p:txBody>
          <a:bodyPr/>
          <a:lstStyle/>
          <a:p>
            <a:r>
              <a:rPr lang="ru-RU" smtClean="0"/>
              <a:t>Электромагнитное излучение</a:t>
            </a:r>
            <a:endParaRPr lang="ru-RU"/>
          </a:p>
        </p:txBody>
      </p:sp>
      <p:sp>
        <p:nvSpPr>
          <p:cNvPr id="7" name="Slide Number Placeholder 6"/>
          <p:cNvSpPr>
            <a:spLocks noGrp="1"/>
          </p:cNvSpPr>
          <p:nvPr>
            <p:ph type="sldNum" sz="quarter" idx="12"/>
          </p:nvPr>
        </p:nvSpPr>
        <p:spPr/>
        <p:txBody>
          <a:bodyPr/>
          <a:lstStyle/>
          <a:p>
            <a:fld id="{3BD8B445-A5DE-4AFB-97A2-38F398769644}" type="slidenum">
              <a:rPr lang="ru-RU" smtClean="0"/>
              <a:pPr/>
              <a:t>‹#›</a:t>
            </a:fld>
            <a:endParaRPr lang="ru-RU"/>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ru-RU" smtClean="0"/>
              <a:t>Образец заголовка</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9730BC1-0FFD-482E-9A66-2F9AFBCC50D5}" type="datetime1">
              <a:rPr lang="ru-RU" smtClean="0"/>
              <a:pPr/>
              <a:t>04.09.2026</a:t>
            </a:fld>
            <a:endParaRPr lang="ru-RU"/>
          </a:p>
        </p:txBody>
      </p:sp>
      <p:sp>
        <p:nvSpPr>
          <p:cNvPr id="6" name="Footer Placeholder 5"/>
          <p:cNvSpPr>
            <a:spLocks noGrp="1"/>
          </p:cNvSpPr>
          <p:nvPr>
            <p:ph type="ftr" sz="quarter" idx="11"/>
          </p:nvPr>
        </p:nvSpPr>
        <p:spPr/>
        <p:txBody>
          <a:bodyPr/>
          <a:lstStyle/>
          <a:p>
            <a:r>
              <a:rPr lang="ru-RU" smtClean="0"/>
              <a:t>Электромагнитное излучение</a:t>
            </a:r>
            <a:endParaRPr lang="ru-RU"/>
          </a:p>
        </p:txBody>
      </p:sp>
      <p:sp>
        <p:nvSpPr>
          <p:cNvPr id="7" name="Slide Number Placeholder 6"/>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0EFFF78B-791E-40D0-9446-CCC3AC18047F}" type="datetime1">
              <a:rPr lang="ru-RU" smtClean="0"/>
              <a:pPr/>
              <a:t>04.09.2026</a:t>
            </a:fld>
            <a:endParaRPr lang="ru-RU"/>
          </a:p>
        </p:txBody>
      </p:sp>
      <p:sp>
        <p:nvSpPr>
          <p:cNvPr id="5" name="Footer Placeholder 4"/>
          <p:cNvSpPr>
            <a:spLocks noGrp="1"/>
          </p:cNvSpPr>
          <p:nvPr>
            <p:ph type="ftr" sz="quarter" idx="11"/>
          </p:nvPr>
        </p:nvSpPr>
        <p:spPr/>
        <p:txBody>
          <a:bodyPr/>
          <a:lstStyle/>
          <a:p>
            <a:r>
              <a:rPr lang="ru-RU" smtClean="0"/>
              <a:t>Электромагнитное излучение</a:t>
            </a:r>
            <a:endParaRPr lang="ru-RU"/>
          </a:p>
        </p:txBody>
      </p:sp>
      <p:sp>
        <p:nvSpPr>
          <p:cNvPr id="6" name="Slide Number Placeholder 5"/>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9E3528E-4666-4AD5-A0EB-B032FEBE71AD}" type="datetime1">
              <a:rPr lang="ru-RU" smtClean="0"/>
              <a:pPr/>
              <a:t>04.09.2026</a:t>
            </a:fld>
            <a:endParaRPr lang="ru-RU"/>
          </a:p>
        </p:txBody>
      </p:sp>
      <p:sp>
        <p:nvSpPr>
          <p:cNvPr id="5" name="Footer Placeholder 4"/>
          <p:cNvSpPr>
            <a:spLocks noGrp="1"/>
          </p:cNvSpPr>
          <p:nvPr>
            <p:ph type="ftr" sz="quarter" idx="11"/>
          </p:nvPr>
        </p:nvSpPr>
        <p:spPr/>
        <p:txBody>
          <a:bodyPr/>
          <a:lstStyle/>
          <a:p>
            <a:r>
              <a:rPr lang="ru-RU" smtClean="0"/>
              <a:t>Электромагнитное излучение</a:t>
            </a:r>
            <a:endParaRPr lang="ru-RU"/>
          </a:p>
        </p:txBody>
      </p:sp>
      <p:sp>
        <p:nvSpPr>
          <p:cNvPr id="6" name="Slide Number Placeholder 5"/>
          <p:cNvSpPr>
            <a:spLocks noGrp="1"/>
          </p:cNvSpPr>
          <p:nvPr>
            <p:ph type="sldNum" sz="quarter" idx="12"/>
          </p:nvPr>
        </p:nvSpPr>
        <p:spPr/>
        <p:txBody>
          <a:bodyPr/>
          <a:lstStyle/>
          <a:p>
            <a:fld id="{3BD8B445-A5DE-4AFB-97A2-38F398769644}"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6CA6CD95-9715-464F-84F6-942FD45E5141}" type="datetime1">
              <a:rPr lang="ru-RU" smtClean="0"/>
              <a:pPr/>
              <a:t>04.09.2026</a:t>
            </a:fld>
            <a:endParaRPr lang="ru-RU"/>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ru-RU" smtClean="0"/>
              <a:t>Электромагнитное излучение</a:t>
            </a:r>
            <a:endParaRPr lang="ru-RU"/>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3BD8B445-A5DE-4AFB-97A2-38F398769644}"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Электромагнитное излучение</a:t>
            </a:r>
            <a:endParaRPr lang="ru-RU" dirty="0"/>
          </a:p>
        </p:txBody>
      </p:sp>
    </p:spTree>
    <p:extLst>
      <p:ext uri="{BB962C8B-B14F-4D97-AF65-F5344CB8AC3E}">
        <p14:creationId xmlns:p14="http://schemas.microsoft.com/office/powerpoint/2010/main" val="25098458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Что такое электромагнитное излучение?</a:t>
            </a:r>
            <a:endParaRPr lang="ru-RU" dirty="0"/>
          </a:p>
        </p:txBody>
      </p:sp>
      <p:sp>
        <p:nvSpPr>
          <p:cNvPr id="3" name="Объект 2"/>
          <p:cNvSpPr>
            <a:spLocks noGrp="1"/>
          </p:cNvSpPr>
          <p:nvPr>
            <p:ph idx="1"/>
          </p:nvPr>
        </p:nvSpPr>
        <p:spPr>
          <a:xfrm>
            <a:off x="457200" y="1600200"/>
            <a:ext cx="8229600" cy="2044824"/>
          </a:xfrm>
        </p:spPr>
        <p:txBody>
          <a:bodyPr>
            <a:normAutofit fontScale="47500" lnSpcReduction="20000"/>
          </a:bodyPr>
          <a:lstStyle/>
          <a:p>
            <a:pPr marL="0" indent="0" algn="just">
              <a:buNone/>
            </a:pPr>
            <a:r>
              <a:rPr lang="ru-RU" sz="4200" dirty="0" smtClean="0"/>
              <a:t>Электромагнитное </a:t>
            </a:r>
            <a:r>
              <a:rPr lang="ru-RU" sz="4200" dirty="0"/>
              <a:t>поле (ЭМП), частным случаем которого является электромагнитное излучение (ЭМИ), можно рассматривать как особую форму материи, посредством которой осуществляется взаимодействие между заряженными частицами. ЭМП представляет собой взаимосвязанные переменные электрическое и магнитное поля. </a:t>
            </a:r>
            <a:endParaRPr lang="ru-RU" sz="4200" dirty="0" smtClean="0"/>
          </a:p>
          <a:p>
            <a:pPr marL="0" indent="0" algn="just">
              <a:buNone/>
            </a:pPr>
            <a:r>
              <a:rPr lang="ru-RU" sz="4200" dirty="0" smtClean="0"/>
              <a:t>	</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59632" y="3104740"/>
            <a:ext cx="6558554" cy="3753260"/>
          </a:xfrm>
          <a:prstGeom prst="rect">
            <a:avLst/>
          </a:prstGeom>
        </p:spPr>
      </p:pic>
    </p:spTree>
    <p:extLst>
      <p:ext uri="{BB962C8B-B14F-4D97-AF65-F5344CB8AC3E}">
        <p14:creationId xmlns:p14="http://schemas.microsoft.com/office/powerpoint/2010/main" val="40631439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24109" y="476672"/>
            <a:ext cx="4363916" cy="2460485"/>
          </a:xfrm>
        </p:spPr>
        <p:txBody>
          <a:bodyPr>
            <a:noAutofit/>
          </a:bodyPr>
          <a:lstStyle/>
          <a:p>
            <a:pPr marL="0" indent="0">
              <a:buNone/>
            </a:pPr>
            <a:r>
              <a:rPr lang="ru-RU" sz="2000" dirty="0" smtClean="0"/>
              <a:t>Взаимная </a:t>
            </a:r>
            <a:r>
              <a:rPr lang="ru-RU" sz="2000" dirty="0"/>
              <a:t>связь электрического и магнитного полей заключается в том, что всякое изменение одного из них приводит к появлению другого: переменное электрическое поле, возбуждаемое ускоренно движущимися </a:t>
            </a:r>
            <a:r>
              <a:rPr lang="ru-RU" sz="2000" dirty="0" smtClean="0"/>
              <a:t>зарядами</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4048" y="620688"/>
            <a:ext cx="3443211" cy="2316469"/>
          </a:xfrm>
          <a:prstGeom prst="rect">
            <a:avLst/>
          </a:prstGeom>
        </p:spPr>
      </p:pic>
      <p:sp>
        <p:nvSpPr>
          <p:cNvPr id="9" name="Прямоугольник 8"/>
          <p:cNvSpPr/>
          <p:nvPr/>
        </p:nvSpPr>
        <p:spPr>
          <a:xfrm>
            <a:off x="504459" y="3140968"/>
            <a:ext cx="7907707" cy="2246769"/>
          </a:xfrm>
          <a:prstGeom prst="rect">
            <a:avLst/>
          </a:prstGeom>
        </p:spPr>
        <p:txBody>
          <a:bodyPr wrap="square">
            <a:spAutoFit/>
          </a:bodyPr>
          <a:lstStyle/>
          <a:p>
            <a:pPr algn="just"/>
            <a:r>
              <a:rPr lang="ru-RU" sz="2000" dirty="0"/>
              <a:t>(источником поля), возбуждает в смежных областях пространства переменное магнитное поле, которое, в свою очередь, возбуждает в прилегающих к нему областях пространства переменное электрическое поле, и т.д.</a:t>
            </a:r>
          </a:p>
          <a:p>
            <a:pPr algn="just"/>
            <a:r>
              <a:rPr lang="ru-RU" sz="2000" dirty="0"/>
              <a:t>Таким образом, ЭМП распространяется от точки к точке пространства в виде электромагнитных волн (излучений), "бегущих" от источника. </a:t>
            </a:r>
          </a:p>
        </p:txBody>
      </p:sp>
    </p:spTree>
    <p:extLst>
      <p:ext uri="{BB962C8B-B14F-4D97-AF65-F5344CB8AC3E}">
        <p14:creationId xmlns:p14="http://schemas.microsoft.com/office/powerpoint/2010/main" val="1234070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548680"/>
            <a:ext cx="8280920" cy="3024336"/>
          </a:xfrm>
        </p:spPr>
        <p:txBody>
          <a:bodyPr>
            <a:normAutofit fontScale="85000" lnSpcReduction="20000"/>
          </a:bodyPr>
          <a:lstStyle/>
          <a:p>
            <a:pPr marL="0" indent="0">
              <a:buNone/>
            </a:pPr>
            <a:r>
              <a:rPr lang="ru-RU" dirty="0" smtClean="0"/>
              <a:t>Благодаря конечной скорости распространения ЭМП оно может существовать автономно от сформировавшего его источника и не исчезает с устранением источника.</a:t>
            </a:r>
          </a:p>
          <a:p>
            <a:pPr marL="0" indent="0">
              <a:buNone/>
            </a:pPr>
            <a:r>
              <a:rPr lang="ru-RU" dirty="0" smtClean="0"/>
              <a:t>ЭМИ </a:t>
            </a:r>
            <a:r>
              <a:rPr lang="ru-RU" dirty="0"/>
              <a:t>представляют собой переменное во времени ЭМП, распространяющееся в пространстве с конечной скоростью, зависящей от свойств среды. Максвеллом была разработана теория, позволяющая единым образом подходить к описанию ЭМИ всего частотного диапазона, начиная от радиоволн, и вплоть до гамма-излучения.</a:t>
            </a:r>
          </a:p>
          <a:p>
            <a:pPr marL="0" indent="0">
              <a:buNone/>
            </a:pPr>
            <a:endParaRPr lang="ru-RU" dirty="0"/>
          </a:p>
          <a:p>
            <a:pPr marL="0" indent="0">
              <a:buNone/>
            </a:pPr>
            <a:r>
              <a:rPr lang="ru-RU" dirty="0" smtClean="0"/>
              <a:t>	</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9" name="Рисунок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03" y="3284984"/>
            <a:ext cx="8927976" cy="3080383"/>
          </a:xfrm>
          <a:prstGeom prst="rect">
            <a:avLst/>
          </a:prstGeom>
        </p:spPr>
      </p:pic>
    </p:spTree>
    <p:extLst>
      <p:ext uri="{BB962C8B-B14F-4D97-AF65-F5344CB8AC3E}">
        <p14:creationId xmlns:p14="http://schemas.microsoft.com/office/powerpoint/2010/main" val="15714438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b="1" dirty="0"/>
              <a:t>Кооперативное действие электромагнитных </a:t>
            </a:r>
            <a:r>
              <a:rPr lang="ru-RU" b="1" dirty="0" smtClean="0"/>
              <a:t>полей</a:t>
            </a:r>
            <a:endParaRPr lang="ru-RU" dirty="0"/>
          </a:p>
        </p:txBody>
      </p:sp>
      <p:sp>
        <p:nvSpPr>
          <p:cNvPr id="3" name="Объект 2"/>
          <p:cNvSpPr>
            <a:spLocks noGrp="1"/>
          </p:cNvSpPr>
          <p:nvPr>
            <p:ph idx="1"/>
          </p:nvPr>
        </p:nvSpPr>
        <p:spPr/>
        <p:txBody>
          <a:bodyPr>
            <a:normAutofit fontScale="85000" lnSpcReduction="10000"/>
          </a:bodyPr>
          <a:lstStyle/>
          <a:p>
            <a:pPr marL="0" indent="0" algn="just">
              <a:buNone/>
            </a:pPr>
            <a:r>
              <a:rPr lang="ru-RU" dirty="0" smtClean="0"/>
              <a:t>	В </a:t>
            </a:r>
            <a:r>
              <a:rPr lang="ru-RU" dirty="0"/>
              <a:t>реальности на живые организмы во многих случаях действуют несколько ЭМП разных частотных </a:t>
            </a:r>
            <a:r>
              <a:rPr lang="ru-RU" dirty="0" smtClean="0"/>
              <a:t>диапазонов. </a:t>
            </a:r>
            <a:r>
              <a:rPr lang="ru-RU" dirty="0"/>
              <a:t>Например, при работе с компьютером на оператора воздействуют ЭМП нескольких частотных диапазонов и типов, а именно, низкочастотное магнитное поле, низкочастотное электрическое поле, сумма высокочастотных полей, сумма высокочастотных электромагнитных полей (ВЭМП) светового диапазона, рентгеновское </a:t>
            </a:r>
            <a:r>
              <a:rPr lang="ru-RU" dirty="0" smtClean="0"/>
              <a:t>излучение. </a:t>
            </a:r>
            <a:r>
              <a:rPr lang="ru-RU" dirty="0"/>
              <a:t>Такое же сложное воздействие испытывает человек во время солнечных вспышек, когда на него воздействуют сумма ВЭМП, сумма ионизирующих лучей и добавляются на вторые сутки высокочастотные магнитные поля от геомагнитных </a:t>
            </a:r>
            <a:r>
              <a:rPr lang="ru-RU" dirty="0" smtClean="0"/>
              <a:t>возмущений.</a:t>
            </a:r>
          </a:p>
          <a:p>
            <a:pPr marL="0" indent="0" algn="just">
              <a:buNone/>
            </a:pPr>
            <a:r>
              <a:rPr lang="ru-RU" dirty="0" smtClean="0"/>
              <a:t>	Для </a:t>
            </a:r>
            <a:r>
              <a:rPr lang="ru-RU" dirty="0"/>
              <a:t>выяснения причин кооперативного действия рассмотрим механизмы одинарно действующих ЭМП. Рассмотрение начнем с давно используемых в физиотерапии постоянных и низкочастотных электрических и магнитных полей.</a:t>
            </a:r>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5799153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marL="0" indent="0"/>
            <a:r>
              <a:rPr lang="ru-RU" i="1" dirty="0"/>
              <a:t>Электрические постоянные и переменные низкочастотные </a:t>
            </a:r>
            <a:r>
              <a:rPr lang="ru-RU" i="1" dirty="0" smtClean="0"/>
              <a:t>поля</a:t>
            </a:r>
            <a:endParaRPr lang="ru-RU" i="1" dirty="0"/>
          </a:p>
        </p:txBody>
      </p:sp>
      <p:sp>
        <p:nvSpPr>
          <p:cNvPr id="3" name="Объект 2"/>
          <p:cNvSpPr>
            <a:spLocks noGrp="1"/>
          </p:cNvSpPr>
          <p:nvPr>
            <p:ph idx="1"/>
          </p:nvPr>
        </p:nvSpPr>
        <p:spPr/>
        <p:txBody>
          <a:bodyPr>
            <a:normAutofit fontScale="92500" lnSpcReduction="20000"/>
          </a:bodyPr>
          <a:lstStyle/>
          <a:p>
            <a:pPr marL="0" indent="0" algn="just">
              <a:buNone/>
            </a:pPr>
            <a:r>
              <a:rPr lang="ru-RU" dirty="0" smtClean="0"/>
              <a:t>	В </a:t>
            </a:r>
            <a:r>
              <a:rPr lang="ru-RU" dirty="0"/>
              <a:t>большинстве случаев при воздействии ЭМП на биологические структуры имеет место воздействие низковольтных электрических полей, кроме случайного, аварийного попадания биологических объектов в зону высоковольтных цепей. Воздействие низковольтных электрических полей проявляется в возникновении электрофоретических явлений. Постоянное электрическое поле вызывает перемещение неподвижных заряженных частиц, переориентацию, ускорение или торможение движущихся заряженных частиц в зависимости от полярности. Переменное электрическое поле увеличивает проницаемость этих частиц через мембраны за счет периодического изменения поляризации в зоне проникновения и ускоряет движение заряженных частиц в кровеносных сосудах, обладающих вентильными свойствами за счет имеющихся обратных </a:t>
            </a:r>
            <a:r>
              <a:rPr lang="ru-RU" dirty="0" smtClean="0"/>
              <a:t>клапанов.</a:t>
            </a:r>
            <a:endParaRPr lang="ru-RU" dirty="0"/>
          </a:p>
          <a:p>
            <a:pPr algn="just"/>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1768892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i="1" dirty="0"/>
              <a:t>Магнитные постоянные и переменные низкочастотные </a:t>
            </a:r>
            <a:r>
              <a:rPr lang="ru-RU" i="1" dirty="0" smtClean="0"/>
              <a:t>поля</a:t>
            </a:r>
            <a:endParaRPr lang="ru-RU" i="1" dirty="0"/>
          </a:p>
        </p:txBody>
      </p:sp>
      <p:sp>
        <p:nvSpPr>
          <p:cNvPr id="3" name="Объект 2"/>
          <p:cNvSpPr>
            <a:spLocks noGrp="1"/>
          </p:cNvSpPr>
          <p:nvPr>
            <p:ph idx="1"/>
          </p:nvPr>
        </p:nvSpPr>
        <p:spPr/>
        <p:txBody>
          <a:bodyPr>
            <a:normAutofit fontScale="92500"/>
          </a:bodyPr>
          <a:lstStyle/>
          <a:p>
            <a:pPr marL="0" indent="0" algn="just">
              <a:buNone/>
            </a:pPr>
            <a:r>
              <a:rPr lang="ru-RU" dirty="0" smtClean="0"/>
              <a:t>	Воздействие </a:t>
            </a:r>
            <a:r>
              <a:rPr lang="ru-RU" dirty="0"/>
              <a:t>магнитных полей изучено значительно меньше воздействия электрических полей, однако использование их в физиотерапии в последнее время позволяет говорить о воздействии на биологические структуры. Предложено несколько моделей действия магнитных полей. Наиболее вероятной моделью можно считать ориентационные последствия. В этом случае микрочастицы, имеющие магнитные свойства за счет ферритных включений или магнитного момента, изменяют свое положение в пространстве. Изменение ориентации будет наблюдаться у молекул с наименьшими размерами, как наиболее подвижными и находящимися в свободном состоянии в жидкости с малым </a:t>
            </a:r>
            <a:r>
              <a:rPr lang="ru-RU" dirty="0" smtClean="0"/>
              <a:t>коэффициентом </a:t>
            </a:r>
            <a:r>
              <a:rPr lang="ru-RU" dirty="0"/>
              <a:t>вязкости.</a:t>
            </a:r>
          </a:p>
        </p:txBody>
      </p:sp>
      <p:sp>
        <p:nvSpPr>
          <p:cNvPr id="4" name="Номер слайда 3"/>
          <p:cNvSpPr>
            <a:spLocks noGrp="1"/>
          </p:cNvSpPr>
          <p:nvPr>
            <p:ph type="sldNum" sz="quarter" idx="12"/>
          </p:nvPr>
        </p:nvSpPr>
        <p:spPr/>
        <p:txBody>
          <a:bodyPr/>
          <a:lstStyle/>
          <a:p>
            <a:fld id="{3BD8B445-A5DE-4AFB-97A2-38F398769644}" type="slidenum">
              <a:rPr lang="ru-RU" smtClean="0"/>
              <a:pPr/>
              <a:t>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2876369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i="1" dirty="0"/>
              <a:t>Высокочастотные электромагнитные </a:t>
            </a:r>
            <a:r>
              <a:rPr lang="ru-RU" i="1" dirty="0" smtClean="0"/>
              <a:t>поля</a:t>
            </a:r>
            <a:endParaRPr lang="ru-RU" i="1" dirty="0"/>
          </a:p>
        </p:txBody>
      </p:sp>
      <p:sp>
        <p:nvSpPr>
          <p:cNvPr id="3" name="Объект 2"/>
          <p:cNvSpPr>
            <a:spLocks noGrp="1"/>
          </p:cNvSpPr>
          <p:nvPr>
            <p:ph idx="1"/>
          </p:nvPr>
        </p:nvSpPr>
        <p:spPr/>
        <p:txBody>
          <a:bodyPr>
            <a:normAutofit/>
          </a:bodyPr>
          <a:lstStyle/>
          <a:p>
            <a:pPr marL="0" indent="0" algn="just">
              <a:buNone/>
            </a:pPr>
            <a:r>
              <a:rPr lang="ru-RU" dirty="0" smtClean="0"/>
              <a:t>	При </a:t>
            </a:r>
            <a:r>
              <a:rPr lang="ru-RU" dirty="0"/>
              <a:t>воздействии ВЭМП на биологическую ткань происходят возбуждение, ионизация и диссоциация некоторых молекул ткани, вызывая появление новых электрически заряженных микрочастиц</a:t>
            </a:r>
            <a:r>
              <a:rPr lang="ru-RU" dirty="0" smtClean="0"/>
              <a:t>.</a:t>
            </a:r>
          </a:p>
          <a:p>
            <a:pPr marL="0" indent="0" algn="just">
              <a:buNone/>
            </a:pPr>
            <a:endParaRPr lang="ru-RU" dirty="0" smtClean="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7707081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29600" cy="5928320"/>
          </a:xfrm>
        </p:spPr>
        <p:txBody>
          <a:bodyPr>
            <a:normAutofit fontScale="85000" lnSpcReduction="10000"/>
          </a:bodyPr>
          <a:lstStyle/>
          <a:p>
            <a:pPr marL="0" indent="0" algn="just">
              <a:buNone/>
            </a:pPr>
            <a:r>
              <a:rPr lang="ru-RU" dirty="0" smtClean="0"/>
              <a:t>В </a:t>
            </a:r>
            <a:r>
              <a:rPr lang="ru-RU" dirty="0"/>
              <a:t>случае одновременных действий ЭМП вышеупомянутых групп происходит не простое суммирование их действий, а совместное, кооперативное воздействие на биологические ткани, причем действия взаимно усиливают одно другое. Свободные микро- и </a:t>
            </a:r>
            <a:r>
              <a:rPr lang="ru-RU" dirty="0" err="1"/>
              <a:t>макрочастицы</a:t>
            </a:r>
            <a:r>
              <a:rPr lang="ru-RU" dirty="0"/>
              <a:t>, хаотически расположенные в жидких средах, ориентируются в направлении действия электрических и магнитных полей В случае совпадения направления постоянных и низкочастотных ЭМП с направлением вектора ВЭМП увеличивается количество энергии, поглощенной электронами и, следовательно, количество трансформируемых микрочастиц. </a:t>
            </a:r>
            <a:endParaRPr lang="ru-RU" dirty="0" smtClean="0"/>
          </a:p>
          <a:p>
            <a:pPr marL="0" indent="0" algn="just">
              <a:buNone/>
            </a:pPr>
            <a:endParaRPr lang="ru-RU" dirty="0"/>
          </a:p>
          <a:p>
            <a:pPr marL="0" indent="0" algn="just">
              <a:buNone/>
            </a:pPr>
            <a:r>
              <a:rPr lang="ru-RU" dirty="0"/>
              <a:t>Этот эффект давно используется в лазерной физиотерапии и его действие обнаружено при исследовании лечебного эффекта физиотерапевтических генераторов миллиметрового диапазона волн</a:t>
            </a:r>
            <a:r>
              <a:rPr lang="ru-RU" dirty="0" smtClean="0"/>
              <a:t>.</a:t>
            </a:r>
          </a:p>
          <a:p>
            <a:pPr marL="0" indent="0" algn="just">
              <a:buNone/>
            </a:pPr>
            <a:endParaRPr lang="ru-RU" dirty="0"/>
          </a:p>
          <a:p>
            <a:pPr marL="0" indent="0" algn="just">
              <a:buNone/>
            </a:pPr>
            <a:r>
              <a:rPr lang="ru-RU" dirty="0" smtClean="0"/>
              <a:t>Таким </a:t>
            </a:r>
            <a:r>
              <a:rPr lang="ru-RU" dirty="0"/>
              <a:t>образом, резко увеличивается степень взаимодействия ВЭМП с биологическими структурами, либо увеличивается лечебный эффект, либо усиливается вредный эффект.</a:t>
            </a:r>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9</a:t>
            </a:fld>
            <a:endParaRPr lang="ru-RU"/>
          </a:p>
        </p:txBody>
      </p:sp>
      <p:sp>
        <p:nvSpPr>
          <p:cNvPr id="6" name="Нижний колонтитул 5"/>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682032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dirty="0"/>
              <a:t>Источники электромагнитного излучения</a:t>
            </a:r>
          </a:p>
        </p:txBody>
      </p:sp>
      <p:sp>
        <p:nvSpPr>
          <p:cNvPr id="3" name="Объект 2"/>
          <p:cNvSpPr>
            <a:spLocks noGrp="1"/>
          </p:cNvSpPr>
          <p:nvPr>
            <p:ph idx="1"/>
          </p:nvPr>
        </p:nvSpPr>
        <p:spPr/>
        <p:txBody>
          <a:bodyPr>
            <a:normAutofit/>
          </a:bodyPr>
          <a:lstStyle/>
          <a:p>
            <a:pPr marL="0" indent="0">
              <a:buNone/>
            </a:pPr>
            <a:r>
              <a:rPr lang="ru-RU" dirty="0" smtClean="0"/>
              <a:t>Источники </a:t>
            </a:r>
            <a:r>
              <a:rPr lang="ru-RU" dirty="0"/>
              <a:t>ЭМИ (рис. 1.1) можно характеризовать по нескольким критериям, из которых наиболее часто используемым является классификация по частотному диапазону. Основное деление всего известного диапазона излучений: радиоволны, инфракрасное излучение, видимый спектр, ультрафиолетовое, рентгеновское, гамма-излучение испытывает дополнительное дробление, определяемое условиями распространения радиоволн. Вошедшее в практику подразделение радиоволн на диапазоны приведено в табл. 1.1.</a:t>
            </a:r>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10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9311129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206" t="11005" r="4022" b="19701"/>
          <a:stretch/>
        </p:blipFill>
        <p:spPr>
          <a:xfrm>
            <a:off x="4665" y="836712"/>
            <a:ext cx="9038061" cy="5400600"/>
          </a:xfrm>
        </p:spPr>
      </p:pic>
      <p:sp>
        <p:nvSpPr>
          <p:cNvPr id="4" name="Номер слайда 3"/>
          <p:cNvSpPr>
            <a:spLocks noGrp="1"/>
          </p:cNvSpPr>
          <p:nvPr>
            <p:ph type="sldNum" sz="quarter" idx="12"/>
          </p:nvPr>
        </p:nvSpPr>
        <p:spPr/>
        <p:txBody>
          <a:bodyPr/>
          <a:lstStyle/>
          <a:p>
            <a:fld id="{3BD8B445-A5DE-4AFB-97A2-38F398769644}" type="slidenum">
              <a:rPr lang="ru-RU" smtClean="0"/>
              <a:pPr/>
              <a:t>11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349120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376" t="20269" r="4765" b="13317"/>
          <a:stretch/>
        </p:blipFill>
        <p:spPr>
          <a:xfrm>
            <a:off x="55808" y="548680"/>
            <a:ext cx="9088192" cy="5256584"/>
          </a:xfrm>
        </p:spPr>
      </p:pic>
      <p:sp>
        <p:nvSpPr>
          <p:cNvPr id="4" name="Номер слайда 3"/>
          <p:cNvSpPr>
            <a:spLocks noGrp="1"/>
          </p:cNvSpPr>
          <p:nvPr>
            <p:ph type="sldNum" sz="quarter" idx="12"/>
          </p:nvPr>
        </p:nvSpPr>
        <p:spPr/>
        <p:txBody>
          <a:bodyPr/>
          <a:lstStyle/>
          <a:p>
            <a:fld id="{3BD8B445-A5DE-4AFB-97A2-38F398769644}" type="slidenum">
              <a:rPr lang="ru-RU" smtClean="0"/>
              <a:pPr/>
              <a:t>12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0207799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20688"/>
            <a:ext cx="8229600" cy="2520280"/>
          </a:xfrm>
        </p:spPr>
        <p:txBody>
          <a:bodyPr>
            <a:normAutofit lnSpcReduction="10000"/>
          </a:bodyPr>
          <a:lstStyle/>
          <a:p>
            <a:pPr marL="0" indent="0" algn="just">
              <a:buNone/>
            </a:pPr>
            <a:r>
              <a:rPr lang="ru-RU" sz="2000" dirty="0"/>
              <a:t>Источники радиоволн могут работать в пределах одного частотного диапазона или перестраиваться в некоторой полосе частот. С помощью электромагнитных волн можно передавать информацию в виде радиосигналов, отличающихся несущей частотой, шириной частотного спектра, видом модуляции. Таким образом, источник ЭМИ с точки зрения частотного деления характеризуется основной рабочей частотой (несущей частотой радиосигнала), шириной и видом спектральной характеристики излучаемого сигнала. </a:t>
            </a:r>
          </a:p>
        </p:txBody>
      </p:sp>
      <p:sp>
        <p:nvSpPr>
          <p:cNvPr id="4" name="Номер слайда 3"/>
          <p:cNvSpPr>
            <a:spLocks noGrp="1"/>
          </p:cNvSpPr>
          <p:nvPr>
            <p:ph type="sldNum" sz="quarter" idx="12"/>
          </p:nvPr>
        </p:nvSpPr>
        <p:spPr/>
        <p:txBody>
          <a:bodyPr/>
          <a:lstStyle/>
          <a:p>
            <a:fld id="{3BD8B445-A5DE-4AFB-97A2-38F398769644}" type="slidenum">
              <a:rPr lang="ru-RU" smtClean="0"/>
              <a:pPr/>
              <a:t>13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954" y="2910339"/>
            <a:ext cx="8672321" cy="3947661"/>
          </a:xfrm>
          <a:prstGeom prst="rect">
            <a:avLst/>
          </a:prstGeom>
        </p:spPr>
      </p:pic>
    </p:spTree>
    <p:extLst>
      <p:ext uri="{BB962C8B-B14F-4D97-AF65-F5344CB8AC3E}">
        <p14:creationId xmlns:p14="http://schemas.microsoft.com/office/powerpoint/2010/main" val="34232143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5856312"/>
          </a:xfrm>
        </p:spPr>
        <p:txBody>
          <a:bodyPr>
            <a:normAutofit fontScale="85000" lnSpcReduction="10000"/>
          </a:bodyPr>
          <a:lstStyle/>
          <a:p>
            <a:pPr marL="0" indent="0" algn="just">
              <a:buNone/>
            </a:pPr>
            <a:r>
              <a:rPr lang="ru-RU" dirty="0"/>
              <a:t>Вид и ширина спектра ЭМИ зависят от мгновенного значения напряженности поля и характера изменения ее во времени. Гармонические колебания, наиболее широко применяемые в современной радиотехнике и удобные для анализа, характеризуются мгновенными значениями амплитуды, частоты и фазы. Следовательно, информационным параметром может быть изменение амплитуды, частоты и фазы. На основании этого выделяют радиосигналы с амплитудной, частотной и фазовой модуляцией.</a:t>
            </a:r>
          </a:p>
          <a:p>
            <a:pPr marL="0" indent="0" algn="just">
              <a:buNone/>
            </a:pPr>
            <a:r>
              <a:rPr lang="ru-RU" dirty="0" smtClean="0"/>
              <a:t>Важной характеристикой ЭМВ является поляризация. </a:t>
            </a:r>
            <a:r>
              <a:rPr lang="ru-RU" b="1" dirty="0" smtClean="0"/>
              <a:t>Поляризация</a:t>
            </a:r>
            <a:r>
              <a:rPr lang="ru-RU" dirty="0" smtClean="0"/>
              <a:t> - нарушение симметрии в распределении ориентации векторов напряженности электрического и магнитного полей в электромагнитной волне относительно направления ее распространения. Выделяют источники неполяризованных, частично поляризованных и полностью поляризованных излучений, причем различают вертикальную, горизонтальную, эллиптическую (в частном случае круговую) поляризации.</a:t>
            </a:r>
          </a:p>
          <a:p>
            <a:pPr marL="0" indent="0" algn="just">
              <a:buNone/>
            </a:pPr>
            <a:r>
              <a:rPr lang="ru-RU" dirty="0"/>
              <a:t>С точки зрения распространения ЭМИ в пространстве можно выделить источники направленного и ненаправленного излучения. </a:t>
            </a:r>
          </a:p>
        </p:txBody>
      </p:sp>
      <p:sp>
        <p:nvSpPr>
          <p:cNvPr id="4" name="Номер слайда 3"/>
          <p:cNvSpPr>
            <a:spLocks noGrp="1"/>
          </p:cNvSpPr>
          <p:nvPr>
            <p:ph type="sldNum" sz="quarter" idx="12"/>
          </p:nvPr>
        </p:nvSpPr>
        <p:spPr/>
        <p:txBody>
          <a:bodyPr/>
          <a:lstStyle/>
          <a:p>
            <a:fld id="{3BD8B445-A5DE-4AFB-97A2-38F398769644}" type="slidenum">
              <a:rPr lang="ru-RU" smtClean="0"/>
              <a:pPr/>
              <a:t>14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63860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Объект 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90181" y="3372712"/>
            <a:ext cx="5753819" cy="3485288"/>
          </a:xfrm>
        </p:spPr>
      </p:pic>
      <p:sp>
        <p:nvSpPr>
          <p:cNvPr id="4" name="Номер слайда 3"/>
          <p:cNvSpPr>
            <a:spLocks noGrp="1"/>
          </p:cNvSpPr>
          <p:nvPr>
            <p:ph type="sldNum" sz="quarter" idx="12"/>
          </p:nvPr>
        </p:nvSpPr>
        <p:spPr/>
        <p:txBody>
          <a:bodyPr/>
          <a:lstStyle/>
          <a:p>
            <a:fld id="{3BD8B445-A5DE-4AFB-97A2-38F398769644}" type="slidenum">
              <a:rPr lang="ru-RU" smtClean="0"/>
              <a:pPr/>
              <a:t>15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
        <p:nvSpPr>
          <p:cNvPr id="6" name="Прямоугольник 5"/>
          <p:cNvSpPr/>
          <p:nvPr/>
        </p:nvSpPr>
        <p:spPr>
          <a:xfrm>
            <a:off x="251520" y="548679"/>
            <a:ext cx="8568952" cy="2862322"/>
          </a:xfrm>
          <a:prstGeom prst="rect">
            <a:avLst/>
          </a:prstGeom>
        </p:spPr>
        <p:txBody>
          <a:bodyPr wrap="square">
            <a:spAutoFit/>
          </a:bodyPr>
          <a:lstStyle/>
          <a:p>
            <a:pPr algn="just"/>
            <a:r>
              <a:rPr lang="ru-RU" sz="2000" dirty="0"/>
              <a:t>Формирование распределения поля в области пространства возможно с помощью антенной системы. Направленные свойства антенны характеризуются диаграммой направленности. Используя способность ЭМВ распространяться в определенном направлении, осуществляется пространственная селекция радиосигналов.</a:t>
            </a:r>
          </a:p>
          <a:p>
            <a:pPr algn="just"/>
            <a:r>
              <a:rPr lang="ru-RU" sz="2000" dirty="0"/>
              <a:t>Источники излучений характеризуются мощностью ЭМИ. Излучаемая энергия определяет дальность распространения ЭМВ, особенности взаимодействия их с некоторыми средами и влияния на биологические организмы. </a:t>
            </a:r>
          </a:p>
        </p:txBody>
      </p:sp>
      <p:sp>
        <p:nvSpPr>
          <p:cNvPr id="8" name="Прямоугольник 7"/>
          <p:cNvSpPr/>
          <p:nvPr/>
        </p:nvSpPr>
        <p:spPr>
          <a:xfrm>
            <a:off x="251520" y="3645024"/>
            <a:ext cx="3024336" cy="2246769"/>
          </a:xfrm>
          <a:prstGeom prst="rect">
            <a:avLst/>
          </a:prstGeom>
        </p:spPr>
        <p:txBody>
          <a:bodyPr wrap="square">
            <a:spAutoFit/>
          </a:bodyPr>
          <a:lstStyle/>
          <a:p>
            <a:r>
              <a:rPr lang="ru-RU" sz="2000" dirty="0"/>
              <a:t>Мощность генераторов ЭМИ занимает широкий диапазон - от долей микроватт до нескольких миллионов ватт, в зависимости от назначения источника. </a:t>
            </a:r>
          </a:p>
        </p:txBody>
      </p:sp>
    </p:spTree>
    <p:extLst>
      <p:ext uri="{BB962C8B-B14F-4D97-AF65-F5344CB8AC3E}">
        <p14:creationId xmlns:p14="http://schemas.microsoft.com/office/powerpoint/2010/main" val="318157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2952328"/>
          </a:xfrm>
        </p:spPr>
        <p:txBody>
          <a:bodyPr>
            <a:normAutofit/>
          </a:bodyPr>
          <a:lstStyle/>
          <a:p>
            <a:pPr marL="0" indent="0" algn="just">
              <a:buNone/>
            </a:pPr>
            <a:r>
              <a:rPr lang="ru-RU" sz="2000" dirty="0" smtClean="0"/>
              <a:t>Мощностью в несколько мегаватт обладают промышленные генераторы, радиопередающие устройства систем дальней радиосвязи, телевидения и радиовещания, устройства передачи энергии и радиолокационные системы. Нежелательные излучения таких генераторов осложняют электромагнитную обстановку и вредно влияют на работу более маломощных и высокочувствительных устройств. Источники ЭМП, воздействующие на различные рецепторы, можно разделить на группы. </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16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rotWithShape="1">
          <a:blip r:embed="rId2" cstate="print">
            <a:extLst>
              <a:ext uri="{28A0092B-C50C-407E-A947-70E740481C1C}">
                <a14:useLocalDpi xmlns:a14="http://schemas.microsoft.com/office/drawing/2010/main" val="0"/>
              </a:ext>
            </a:extLst>
          </a:blip>
          <a:srcRect b="6114"/>
          <a:stretch/>
        </p:blipFill>
        <p:spPr>
          <a:xfrm>
            <a:off x="4230617" y="3212976"/>
            <a:ext cx="4906284" cy="3068960"/>
          </a:xfrm>
          <a:prstGeom prst="rect">
            <a:avLst/>
          </a:prstGeom>
        </p:spPr>
      </p:pic>
      <p:sp>
        <p:nvSpPr>
          <p:cNvPr id="8" name="Прямоугольник 7"/>
          <p:cNvSpPr/>
          <p:nvPr/>
        </p:nvSpPr>
        <p:spPr>
          <a:xfrm>
            <a:off x="467544" y="3356991"/>
            <a:ext cx="3672408" cy="3170099"/>
          </a:xfrm>
          <a:prstGeom prst="rect">
            <a:avLst/>
          </a:prstGeom>
        </p:spPr>
        <p:txBody>
          <a:bodyPr wrap="square">
            <a:spAutoFit/>
          </a:bodyPr>
          <a:lstStyle/>
          <a:p>
            <a:r>
              <a:rPr lang="ru-RU" sz="2000" dirty="0"/>
              <a:t>Требования к излучающим устройствам можно рассмотреть с точки зрения защиты информации, электромагнитной совместимости и помехоустойчивости радиоэлектронных средств и влияния на биологические организмы.</a:t>
            </a:r>
          </a:p>
        </p:txBody>
      </p:sp>
    </p:spTree>
    <p:extLst>
      <p:ext uri="{BB962C8B-B14F-4D97-AF65-F5344CB8AC3E}">
        <p14:creationId xmlns:p14="http://schemas.microsoft.com/office/powerpoint/2010/main" val="163860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dirty="0"/>
              <a:t>Природные источники электромагнитного </a:t>
            </a:r>
            <a:r>
              <a:rPr lang="ru-RU" dirty="0" smtClean="0"/>
              <a:t>излучения</a:t>
            </a:r>
            <a:endParaRPr lang="ru-RU" dirty="0"/>
          </a:p>
        </p:txBody>
      </p:sp>
      <p:sp>
        <p:nvSpPr>
          <p:cNvPr id="3" name="Объект 2"/>
          <p:cNvSpPr>
            <a:spLocks noGrp="1"/>
          </p:cNvSpPr>
          <p:nvPr>
            <p:ph idx="1"/>
          </p:nvPr>
        </p:nvSpPr>
        <p:spPr/>
        <p:txBody>
          <a:bodyPr>
            <a:normAutofit fontScale="85000" lnSpcReduction="20000"/>
          </a:bodyPr>
          <a:lstStyle/>
          <a:p>
            <a:pPr marL="0" indent="0" algn="just">
              <a:buNone/>
            </a:pPr>
            <a:r>
              <a:rPr lang="ru-RU" dirty="0"/>
              <a:t>Природные источники ЭМИ делят на две группы. Первая - поле Земли: постоянное электрическое и постоянное магнитное поле. Вторая группа - радиоволны, генерируемые космическими источниками (Солнце, звезды и т.д.), атмосферные процессы - разряды молний и т.д. Естественное электрическое поле Земли создается избыточным отрицательным зарядом на поверхности; его напряженность обычно от 100 до 500 В/м. Грозовые облака могут увеличивать напряженность поля до десятков, а то и сотен </a:t>
            </a:r>
            <a:r>
              <a:rPr lang="ru-RU" dirty="0" err="1" smtClean="0"/>
              <a:t>кВ</a:t>
            </a:r>
            <a:r>
              <a:rPr lang="ru-RU" dirty="0" smtClean="0"/>
              <a:t>/м. </a:t>
            </a:r>
            <a:r>
              <a:rPr lang="ru-RU" dirty="0"/>
              <a:t>Вторая группа природных источников ЭМИ характеризуется широким диапазоном частот</a:t>
            </a:r>
            <a:r>
              <a:rPr lang="ru-RU" dirty="0" smtClean="0"/>
              <a:t>.</a:t>
            </a:r>
          </a:p>
          <a:p>
            <a:pPr marL="0" indent="0" algn="just">
              <a:buNone/>
            </a:pPr>
            <a:r>
              <a:rPr lang="ru-RU" dirty="0"/>
              <a:t>Во время солнечных вспышек и бурь на человеческий организм обрушивается комплексный поток ЭМП, резко отличающихся своими основными физическими характеристиками и временем действия. Многолетние исследования действия ЭМП на биологические структуры выявили разнообразные последствия этих воздействий, отличия которых можно объяснить не только различными энергетическими показателями, но и частотными характеристиками, определяющими механизмы действия каждой группы </a:t>
            </a:r>
            <a:r>
              <a:rPr lang="ru-RU" dirty="0" smtClean="0"/>
              <a:t>ЭМП.</a:t>
            </a:r>
            <a:endParaRPr lang="ru-RU" dirty="0"/>
          </a:p>
          <a:p>
            <a:pPr marL="0" indent="0" algn="just">
              <a:buNone/>
            </a:pPr>
            <a:endParaRPr lang="ru-RU" dirty="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17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6028332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48680"/>
            <a:ext cx="8229600" cy="2304256"/>
          </a:xfrm>
        </p:spPr>
        <p:txBody>
          <a:bodyPr>
            <a:normAutofit fontScale="85000" lnSpcReduction="10000"/>
          </a:bodyPr>
          <a:lstStyle/>
          <a:p>
            <a:pPr marL="0" indent="0">
              <a:buNone/>
            </a:pPr>
            <a:r>
              <a:rPr lang="ru-RU" dirty="0"/>
              <a:t>Рассмотрим характерный сценарий воздействия ЭМП при солнечной вспышке или буре. При образовании мощного протуберанца на Солнце к Земле устремляются потоки ЭМП и высокоэнергетических частиц. Электромагнитные поля достигают поверхности Земли примерно через 8 минут. </a:t>
            </a:r>
            <a:r>
              <a:rPr lang="ru-RU" dirty="0" smtClean="0"/>
              <a:t>Высокоэнергетические частицы достигают Земли примерно через 2 суток и задерживаются магнитосферой Земли, вызывая при этом возникновение магнитных бурь или геомагнитных возмущений. </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18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2040" y="2775325"/>
            <a:ext cx="4211960" cy="4082675"/>
          </a:xfrm>
          <a:prstGeom prst="rect">
            <a:avLst/>
          </a:prstGeom>
        </p:spPr>
      </p:pic>
      <p:sp>
        <p:nvSpPr>
          <p:cNvPr id="8" name="Прямоугольник 7"/>
          <p:cNvSpPr/>
          <p:nvPr/>
        </p:nvSpPr>
        <p:spPr>
          <a:xfrm>
            <a:off x="467544" y="2852936"/>
            <a:ext cx="4355976" cy="3785652"/>
          </a:xfrm>
          <a:prstGeom prst="rect">
            <a:avLst/>
          </a:prstGeom>
        </p:spPr>
        <p:txBody>
          <a:bodyPr wrap="square">
            <a:spAutoFit/>
          </a:bodyPr>
          <a:lstStyle/>
          <a:p>
            <a:r>
              <a:rPr lang="ru-RU" sz="2000" dirty="0"/>
              <a:t>После успокоения Солнца и разрушений протуберанцев поток ЭМП резко ослабевает до шумовых значений, а геомагнитное возмущение продолжает сохраняться в течении нескольких дней. Таким образом, влияние солнечной вспышки или бури можно разделить на три фазы или этапа, резко отличающихся по характеру воздействия.</a:t>
            </a:r>
          </a:p>
        </p:txBody>
      </p:sp>
    </p:spTree>
    <p:extLst>
      <p:ext uri="{BB962C8B-B14F-4D97-AF65-F5344CB8AC3E}">
        <p14:creationId xmlns:p14="http://schemas.microsoft.com/office/powerpoint/2010/main" val="35056053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3BD8B445-A5DE-4AFB-97A2-38F398769644}" type="slidenum">
              <a:rPr lang="ru-RU" smtClean="0"/>
              <a:pPr/>
              <a:t>19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692696"/>
            <a:ext cx="9143873" cy="5760640"/>
          </a:xfrm>
          <a:prstGeom prst="rect">
            <a:avLst/>
          </a:prstGeom>
        </p:spPr>
      </p:pic>
    </p:spTree>
    <p:extLst>
      <p:ext uri="{BB962C8B-B14F-4D97-AF65-F5344CB8AC3E}">
        <p14:creationId xmlns:p14="http://schemas.microsoft.com/office/powerpoint/2010/main" val="29533004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29600" cy="5328592"/>
          </a:xfrm>
        </p:spPr>
        <p:txBody>
          <a:bodyPr>
            <a:noAutofit/>
          </a:bodyPr>
          <a:lstStyle/>
          <a:p>
            <a:pPr marL="0" indent="0" algn="just">
              <a:buNone/>
            </a:pPr>
            <a:r>
              <a:rPr lang="ru-RU" sz="2000" dirty="0"/>
              <a:t>В течение </a:t>
            </a:r>
            <a:r>
              <a:rPr lang="ru-RU" sz="2000" b="1" dirty="0"/>
              <a:t>первой фазы </a:t>
            </a:r>
            <a:r>
              <a:rPr lang="ru-RU" sz="2000" dirty="0"/>
              <a:t>на человека действуют только ВЭМП, которые можно разделить на две группы по механизму взаимодействия без четкой границы между ними. Первая группа - сравнительно низкочастотные ВЭМП (300 МГц) и ниже. </a:t>
            </a:r>
            <a:r>
              <a:rPr lang="ru-RU" sz="2000" dirty="0" smtClean="0"/>
              <a:t>Они вызывают внутри организма появление электрических потенциалов, особенно при возникновении резонансных явлений в отдельных органах, где добротность может достигать 10</a:t>
            </a:r>
            <a:r>
              <a:rPr lang="ru-RU" sz="2000" baseline="30000" dirty="0" smtClean="0"/>
              <a:t>4</a:t>
            </a:r>
            <a:r>
              <a:rPr lang="ru-RU" sz="2000" dirty="0" smtClean="0"/>
              <a:t>. Эти потенциалы вызывают появление электрофоретических явлений. Вторая группа - ВЭМП, начиная примерно с 300 МГц, проявляют свое влияние на атомарном и молекулярном уровнях. </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10" name="Рисунок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3645024"/>
            <a:ext cx="4056843" cy="3042632"/>
          </a:xfrm>
          <a:prstGeom prst="rect">
            <a:avLst/>
          </a:prstGeom>
        </p:spPr>
      </p:pic>
      <p:sp>
        <p:nvSpPr>
          <p:cNvPr id="11" name="Прямоугольник 10"/>
          <p:cNvSpPr/>
          <p:nvPr/>
        </p:nvSpPr>
        <p:spPr>
          <a:xfrm>
            <a:off x="533357" y="3815368"/>
            <a:ext cx="4398683" cy="2246769"/>
          </a:xfrm>
          <a:prstGeom prst="rect">
            <a:avLst/>
          </a:prstGeom>
        </p:spPr>
        <p:txBody>
          <a:bodyPr wrap="square">
            <a:spAutoFit/>
          </a:bodyPr>
          <a:lstStyle/>
          <a:p>
            <a:r>
              <a:rPr lang="ru-RU" sz="2000" dirty="0"/>
              <a:t>Воздействие этих полей, благодаря явлениям аккумуляции, вызывает возбуждение, принудительные ионизацию и диссоциацию биологических молекул, несмотря на малые значения мощности ЭМП.</a:t>
            </a:r>
          </a:p>
        </p:txBody>
      </p:sp>
    </p:spTree>
    <p:extLst>
      <p:ext uri="{BB962C8B-B14F-4D97-AF65-F5344CB8AC3E}">
        <p14:creationId xmlns:p14="http://schemas.microsoft.com/office/powerpoint/2010/main" val="35056053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980728"/>
            <a:ext cx="8229600" cy="4876800"/>
          </a:xfrm>
        </p:spPr>
        <p:txBody>
          <a:bodyPr>
            <a:normAutofit fontScale="92500" lnSpcReduction="10000"/>
          </a:bodyPr>
          <a:lstStyle/>
          <a:p>
            <a:pPr marL="0" indent="0" algn="just">
              <a:buNone/>
            </a:pPr>
            <a:r>
              <a:rPr lang="ru-RU" dirty="0"/>
              <a:t>Во время </a:t>
            </a:r>
            <a:r>
              <a:rPr lang="ru-RU" b="1" dirty="0"/>
              <a:t>второй фазы</a:t>
            </a:r>
            <a:r>
              <a:rPr lang="ru-RU" dirty="0"/>
              <a:t> к действию ВЭМП добавляется действие возмущенного геомагнитного поля Земли, что вызывает существенное усиление воздействия солнечной вспышки на организм человека благодаря кооперативному действию низкочастотных ЭМП и ВЭМП. Появление низкочастотного магнитного поля приводит, во-первых, к возникновению явлений, обусловленных воздействием магнитного поля на макроструктуры и органы, обладающие магнитными свойствами. Во-вторых, магнитное поле вызывает принудительную ориентацию свободно взвешенных в жидкости молекул. Увеличение воздействия солнечной вспышки в этой фазе настолько возрастает, что некоторые исследования отмечают максимум смертей и сердечно-сосудистых кризисов в первый день геомагнитных возмущений</a:t>
            </a:r>
            <a:r>
              <a:rPr lang="ru-RU" dirty="0" smtClean="0"/>
              <a:t>.</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35056053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20688"/>
            <a:ext cx="8229600" cy="1656184"/>
          </a:xfrm>
        </p:spPr>
        <p:txBody>
          <a:bodyPr>
            <a:normAutofit/>
          </a:bodyPr>
          <a:lstStyle/>
          <a:p>
            <a:pPr marL="0" indent="0" algn="just">
              <a:buNone/>
            </a:pPr>
            <a:r>
              <a:rPr lang="ru-RU" sz="2000" b="1" dirty="0"/>
              <a:t>Третья фаза </a:t>
            </a:r>
            <a:r>
              <a:rPr lang="ru-RU" sz="2000" dirty="0"/>
              <a:t>характеризуется прекращением действия всех ВЭМП и действием </a:t>
            </a:r>
            <a:r>
              <a:rPr lang="ru-RU" sz="2000" dirty="0" smtClean="0"/>
              <a:t>только </a:t>
            </a:r>
            <a:r>
              <a:rPr lang="ru-RU" sz="2000" dirty="0"/>
              <a:t>низкочастотного магнитного поля. Магнитное поле продолжает действовать на макроструктуры человеческого организма и, в зависимости от толерантности организма, либо подчеркивает, либо ослабляет последствия воздействия</a:t>
            </a:r>
            <a:r>
              <a:rPr lang="ru-RU" sz="2000" dirty="0" smtClean="0"/>
              <a:t>.</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52178" y="2348881"/>
            <a:ext cx="5421842" cy="4509120"/>
          </a:xfrm>
          <a:prstGeom prst="rect">
            <a:avLst/>
          </a:prstGeom>
        </p:spPr>
      </p:pic>
      <p:sp>
        <p:nvSpPr>
          <p:cNvPr id="8" name="Прямоугольник 7"/>
          <p:cNvSpPr/>
          <p:nvPr/>
        </p:nvSpPr>
        <p:spPr>
          <a:xfrm>
            <a:off x="611560" y="2336422"/>
            <a:ext cx="3024336" cy="3477875"/>
          </a:xfrm>
          <a:prstGeom prst="rect">
            <a:avLst/>
          </a:prstGeom>
        </p:spPr>
        <p:txBody>
          <a:bodyPr wrap="square">
            <a:spAutoFit/>
          </a:bodyPr>
          <a:lstStyle/>
          <a:p>
            <a:r>
              <a:rPr lang="ru-RU" sz="2000" dirty="0"/>
              <a:t>Многочасовое или даже многодневное воздействие комплекса ЭМП вызывает появление продуктов “последействия”, которые вызывают различные нарушения функционирования отдельных органов и организма в целом.</a:t>
            </a:r>
          </a:p>
        </p:txBody>
      </p:sp>
    </p:spTree>
    <p:extLst>
      <p:ext uri="{BB962C8B-B14F-4D97-AF65-F5344CB8AC3E}">
        <p14:creationId xmlns:p14="http://schemas.microsoft.com/office/powerpoint/2010/main" val="34866533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533400"/>
            <a:ext cx="8229600" cy="1167408"/>
          </a:xfrm>
        </p:spPr>
        <p:txBody>
          <a:bodyPr>
            <a:normAutofit fontScale="90000"/>
          </a:bodyPr>
          <a:lstStyle/>
          <a:p>
            <a:r>
              <a:rPr lang="ru-RU" b="1" dirty="0"/>
              <a:t>Антропогенные источники электромагнитного </a:t>
            </a:r>
            <a:r>
              <a:rPr lang="ru-RU" b="1" dirty="0" smtClean="0"/>
              <a:t>излучения</a:t>
            </a:r>
            <a:br>
              <a:rPr lang="ru-RU" b="1" dirty="0" smtClean="0"/>
            </a:br>
            <a:r>
              <a:rPr lang="ru-RU" i="1" dirty="0" smtClean="0"/>
              <a:t>Электропроводка</a:t>
            </a:r>
            <a:endParaRPr lang="ru-RU" b="1" dirty="0"/>
          </a:p>
        </p:txBody>
      </p:sp>
      <p:sp>
        <p:nvSpPr>
          <p:cNvPr id="3" name="Объект 2"/>
          <p:cNvSpPr>
            <a:spLocks noGrp="1"/>
          </p:cNvSpPr>
          <p:nvPr>
            <p:ph idx="1"/>
          </p:nvPr>
        </p:nvSpPr>
        <p:spPr>
          <a:xfrm>
            <a:off x="457200" y="1916832"/>
            <a:ext cx="8229600" cy="4560168"/>
          </a:xfrm>
        </p:spPr>
        <p:txBody>
          <a:bodyPr>
            <a:normAutofit fontScale="92500" lnSpcReduction="10000"/>
          </a:bodyPr>
          <a:lstStyle/>
          <a:p>
            <a:pPr marL="0" indent="0" algn="just">
              <a:buNone/>
            </a:pPr>
            <a:r>
              <a:rPr lang="ru-RU" dirty="0"/>
              <a:t>Наибольший вклад в электромагнитную обстановку жилых помещений в диапазоне промышленной частоты 50 Гц вносит электротехническое оборудование здания, а именно кабельные линии, подводящие электричество ко всем квартирам и другим потребителям системы жизнеобеспечения здания, а также распределительные щиты и </a:t>
            </a:r>
            <a:r>
              <a:rPr lang="ru-RU" dirty="0" smtClean="0"/>
              <a:t>трансформаторы. </a:t>
            </a:r>
            <a:r>
              <a:rPr lang="ru-RU" dirty="0"/>
              <a:t>В помещениях, смежных с этими источниками, обычно повышен уровень магнитного поля промышленной частоты, вызываемый протекающим электротоком. Уровень электрического поля промышленной частоты при этом обычно не высокий и не превышает ПДУ для населения 500 В/м. Примеры распределения магнитного поля промышленной частоты в помещениях приведены на рис. </a:t>
            </a:r>
            <a:r>
              <a:rPr lang="ru-RU" dirty="0" smtClean="0"/>
              <a:t>1.2-1.4.</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8323703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7935" t="65465" r="11033" b="23370"/>
          <a:stretch/>
        </p:blipFill>
        <p:spPr>
          <a:xfrm>
            <a:off x="102831" y="5384800"/>
            <a:ext cx="9041169" cy="996528"/>
          </a:xfrm>
        </p:spPr>
      </p:pic>
      <p:sp>
        <p:nvSpPr>
          <p:cNvPr id="4" name="Номер слайда 3"/>
          <p:cNvSpPr>
            <a:spLocks noGrp="1"/>
          </p:cNvSpPr>
          <p:nvPr>
            <p:ph type="sldNum" sz="quarter" idx="12"/>
          </p:nvPr>
        </p:nvSpPr>
        <p:spPr/>
        <p:txBody>
          <a:bodyPr/>
          <a:lstStyle/>
          <a:p>
            <a:fld id="{3BD8B445-A5DE-4AFB-97A2-38F398769644}" type="slidenum">
              <a:rPr lang="ru-RU" smtClean="0"/>
              <a:pPr/>
              <a:t>24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3" name="Рисунок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664" y="582959"/>
            <a:ext cx="5832648" cy="4769555"/>
          </a:xfrm>
          <a:prstGeom prst="rect">
            <a:avLst/>
          </a:prstGeom>
        </p:spPr>
      </p:pic>
    </p:spTree>
    <p:extLst>
      <p:ext uri="{BB962C8B-B14F-4D97-AF65-F5344CB8AC3E}">
        <p14:creationId xmlns:p14="http://schemas.microsoft.com/office/powerpoint/2010/main" val="35427499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352" t="61139" r="6621" b="28218"/>
          <a:stretch/>
        </p:blipFill>
        <p:spPr>
          <a:xfrm>
            <a:off x="68479" y="5516216"/>
            <a:ext cx="9045501" cy="865111"/>
          </a:xfrm>
        </p:spPr>
      </p:pic>
      <p:sp>
        <p:nvSpPr>
          <p:cNvPr id="4" name="Номер слайда 3"/>
          <p:cNvSpPr>
            <a:spLocks noGrp="1"/>
          </p:cNvSpPr>
          <p:nvPr>
            <p:ph type="sldNum" sz="quarter" idx="12"/>
          </p:nvPr>
        </p:nvSpPr>
        <p:spPr/>
        <p:txBody>
          <a:bodyPr/>
          <a:lstStyle/>
          <a:p>
            <a:fld id="{3BD8B445-A5DE-4AFB-97A2-38F398769644}" type="slidenum">
              <a:rPr lang="ru-RU" smtClean="0"/>
              <a:pPr/>
              <a:t>25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7664" y="593305"/>
            <a:ext cx="6075653" cy="4765445"/>
          </a:xfrm>
          <a:prstGeom prst="rect">
            <a:avLst/>
          </a:prstGeom>
        </p:spPr>
      </p:pic>
    </p:spTree>
    <p:extLst>
      <p:ext uri="{BB962C8B-B14F-4D97-AF65-F5344CB8AC3E}">
        <p14:creationId xmlns:p14="http://schemas.microsoft.com/office/powerpoint/2010/main" val="24556841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9010" t="71136" r="11279" b="21747"/>
          <a:stretch/>
        </p:blipFill>
        <p:spPr>
          <a:xfrm>
            <a:off x="0" y="5373216"/>
            <a:ext cx="9021743" cy="644421"/>
          </a:xfrm>
        </p:spPr>
      </p:pic>
      <p:sp>
        <p:nvSpPr>
          <p:cNvPr id="4" name="Номер слайда 3"/>
          <p:cNvSpPr>
            <a:spLocks noGrp="1"/>
          </p:cNvSpPr>
          <p:nvPr>
            <p:ph type="sldNum" sz="quarter" idx="12"/>
          </p:nvPr>
        </p:nvSpPr>
        <p:spPr/>
        <p:txBody>
          <a:bodyPr/>
          <a:lstStyle/>
          <a:p>
            <a:fld id="{3BD8B445-A5DE-4AFB-97A2-38F398769644}" type="slidenum">
              <a:rPr lang="ru-RU" smtClean="0"/>
              <a:pPr/>
              <a:t>26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672" y="652938"/>
            <a:ext cx="6400746" cy="4608537"/>
          </a:xfrm>
          <a:prstGeom prst="rect">
            <a:avLst/>
          </a:prstGeom>
        </p:spPr>
      </p:pic>
    </p:spTree>
    <p:extLst>
      <p:ext uri="{BB962C8B-B14F-4D97-AF65-F5344CB8AC3E}">
        <p14:creationId xmlns:p14="http://schemas.microsoft.com/office/powerpoint/2010/main" val="24556841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29600" cy="5928320"/>
          </a:xfrm>
        </p:spPr>
        <p:txBody>
          <a:bodyPr>
            <a:normAutofit fontScale="85000" lnSpcReduction="20000"/>
          </a:bodyPr>
          <a:lstStyle/>
          <a:p>
            <a:pPr marL="0" indent="0" algn="just">
              <a:buNone/>
            </a:pPr>
            <a:r>
              <a:rPr lang="ru-RU" dirty="0" smtClean="0"/>
              <a:t>В </a:t>
            </a:r>
            <a:r>
              <a:rPr lang="ru-RU" dirty="0"/>
              <a:t>настоящее время результаты выполненных исследований не могут четко обосновать предельные величины или другие обязательные ограничения для продолжительного облучения населения низкочастотными магнитными полями малых </a:t>
            </a:r>
            <a:r>
              <a:rPr lang="ru-RU" dirty="0" smtClean="0"/>
              <a:t>уровней.</a:t>
            </a:r>
          </a:p>
          <a:p>
            <a:pPr marL="0" indent="0" algn="just">
              <a:buNone/>
            </a:pPr>
            <a:r>
              <a:rPr lang="ru-RU" dirty="0" smtClean="0"/>
              <a:t>Исследователи из университета Карнеги в </a:t>
            </a:r>
            <a:r>
              <a:rPr lang="ru-RU" dirty="0" err="1" smtClean="0"/>
              <a:t>Питсбурге</a:t>
            </a:r>
            <a:r>
              <a:rPr lang="ru-RU" dirty="0" smtClean="0"/>
              <a:t> (США) сформулировали подход к проблеме магнитного поля, который они назвали “благоразумное предотвращение”. Они считают, что пока наше знание относительно связи между здоровьем и последствием облучения остаются неполными, но существуют сильные подозрения относительно последствий для здоровья, необходимо предпринимать шаги по обеспечению безопасности, которые не несут тяжелые расходы или другие неудобства.</a:t>
            </a:r>
          </a:p>
          <a:p>
            <a:pPr marL="0" indent="0" algn="just">
              <a:buNone/>
            </a:pPr>
            <a:r>
              <a:rPr lang="ru-RU" dirty="0" smtClean="0"/>
              <a:t>Подобный подход был использован, например, в начальной стадии работ по проблеме биологического действия ионизирующего излучения: подозрение рисков ущерба для здоровья, основанное на твердых научных основаниях, должно само по себе составить достаточные основания для выполнения защитных мероприятий.</a:t>
            </a:r>
          </a:p>
          <a:p>
            <a:pPr marL="0" indent="0" algn="just">
              <a:buNone/>
            </a:pPr>
            <a:r>
              <a:rPr lang="ru-RU" dirty="0" smtClean="0"/>
              <a:t>В настоящее время многие специалисты считают предельно допустимой величину магнитной индукции равной 0,2-0,3 </a:t>
            </a:r>
            <a:r>
              <a:rPr lang="ru-RU" dirty="0" err="1" smtClean="0"/>
              <a:t>мкТл</a:t>
            </a:r>
            <a:r>
              <a:rPr lang="ru-RU" dirty="0" smtClean="0"/>
              <a:t>. При считается, что развитие заболеваний прежде всего лейкемии очень вероятно при продолжительном облучении человека полями более высоких уровней (несколько часов в день, особенно в ночные часы, в течении периода более года).</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5020226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Линии электропередач</a:t>
            </a:r>
          </a:p>
        </p:txBody>
      </p:sp>
      <p:sp>
        <p:nvSpPr>
          <p:cNvPr id="3" name="Объект 2"/>
          <p:cNvSpPr>
            <a:spLocks noGrp="1"/>
          </p:cNvSpPr>
          <p:nvPr>
            <p:ph idx="1"/>
          </p:nvPr>
        </p:nvSpPr>
        <p:spPr>
          <a:xfrm>
            <a:off x="457200" y="1600200"/>
            <a:ext cx="5554960" cy="4853136"/>
          </a:xfrm>
        </p:spPr>
        <p:txBody>
          <a:bodyPr>
            <a:normAutofit fontScale="85000" lnSpcReduction="10000"/>
          </a:bodyPr>
          <a:lstStyle/>
          <a:p>
            <a:pPr marL="0" indent="0">
              <a:buNone/>
            </a:pPr>
            <a:r>
              <a:rPr lang="ru-RU" dirty="0"/>
              <a:t>На сегодняшний день можно считать установленным фактом, что воздействие электромагнитных полей высоковольтных линий электропередачи и других систем распределения электроэнергии значительно повышает вероятность лейкоза, рака головного мозга и других грозных заболеваний. Особенно подвержены воздействию электромагнитных полей </a:t>
            </a:r>
            <a:r>
              <a:rPr lang="ru-RU" dirty="0" smtClean="0"/>
              <a:t>дети.</a:t>
            </a:r>
            <a:r>
              <a:rPr lang="ru-RU" dirty="0"/>
              <a:t> </a:t>
            </a:r>
            <a:endParaRPr lang="ru-RU" dirty="0" smtClean="0"/>
          </a:p>
          <a:p>
            <a:pPr marL="0" indent="0">
              <a:buNone/>
            </a:pPr>
            <a:r>
              <a:rPr lang="ru-RU" dirty="0" smtClean="0"/>
              <a:t>Провода </a:t>
            </a:r>
            <a:r>
              <a:rPr lang="ru-RU" dirty="0"/>
              <a:t>работающей линии электропередачи создают в прилегающем пространстве электрическое и магнитное поля промышленной частоты. Расстояние, на которое распространяются эти поля от проводов линии достигает десятков </a:t>
            </a:r>
            <a:r>
              <a:rPr lang="ru-RU" dirty="0" smtClean="0"/>
              <a:t>метров.</a:t>
            </a:r>
            <a:endParaRPr lang="ru-RU" dirty="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28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84743" y="1772816"/>
            <a:ext cx="2547975" cy="3312368"/>
          </a:xfrm>
          <a:prstGeom prst="rect">
            <a:avLst/>
          </a:prstGeom>
        </p:spPr>
      </p:pic>
    </p:spTree>
    <p:extLst>
      <p:ext uri="{BB962C8B-B14F-4D97-AF65-F5344CB8AC3E}">
        <p14:creationId xmlns:p14="http://schemas.microsoft.com/office/powerpoint/2010/main" val="35401312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48680"/>
            <a:ext cx="8280920" cy="2773836"/>
          </a:xfrm>
        </p:spPr>
        <p:txBody>
          <a:bodyPr>
            <a:normAutofit fontScale="92500" lnSpcReduction="10000"/>
          </a:bodyPr>
          <a:lstStyle/>
          <a:p>
            <a:pPr marL="0" indent="0">
              <a:buNone/>
            </a:pPr>
            <a:r>
              <a:rPr lang="ru-RU" sz="2000" dirty="0"/>
              <a:t>Дальность распространение электрического поля зависит от класса напряжения ЛЭП (цифра, обозначающая класс напряжения стоит в названии ЛЭГ1 - например ЛЭП 220 </a:t>
            </a:r>
            <a:r>
              <a:rPr lang="ru-RU" sz="2000" dirty="0" err="1"/>
              <a:t>кВ</a:t>
            </a:r>
            <a:r>
              <a:rPr lang="ru-RU" sz="2000" dirty="0"/>
              <a:t>), чем выше напряжение - тем больше зона повышенного уровня электрического поля, при этом размеры зоны не изменяются в течении времени работы ЛЭП.</a:t>
            </a:r>
          </a:p>
          <a:p>
            <a:pPr marL="0" indent="0">
              <a:buNone/>
            </a:pPr>
            <a:r>
              <a:rPr lang="ru-RU" sz="2000" dirty="0" smtClean="0"/>
              <a:t>Дальность </a:t>
            </a:r>
            <a:r>
              <a:rPr lang="ru-RU" sz="2000" dirty="0"/>
              <a:t>распространения магнитного поля зависит от величины протекающего тока или от нагрузки линии. Поскольку нагрузка ЛЭП может неоднократно изменяться как в течение суток, так и с изменением сезонов года, размеры зоны повышенного уровня магнитного поля также меняются</a:t>
            </a:r>
            <a:r>
              <a:rPr lang="ru-RU" sz="2000" dirty="0" smtClean="0"/>
              <a:t>.</a:t>
            </a:r>
          </a:p>
        </p:txBody>
      </p:sp>
      <p:sp>
        <p:nvSpPr>
          <p:cNvPr id="4" name="Номер слайда 3"/>
          <p:cNvSpPr>
            <a:spLocks noGrp="1"/>
          </p:cNvSpPr>
          <p:nvPr>
            <p:ph type="sldNum" sz="quarter" idx="12"/>
          </p:nvPr>
        </p:nvSpPr>
        <p:spPr/>
        <p:txBody>
          <a:bodyPr/>
          <a:lstStyle/>
          <a:p>
            <a:fld id="{3BD8B445-A5DE-4AFB-97A2-38F398769644}" type="slidenum">
              <a:rPr lang="ru-RU" smtClean="0"/>
              <a:pPr/>
              <a:t>29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09730" y="3322516"/>
            <a:ext cx="6016623" cy="3507489"/>
          </a:xfrm>
          <a:prstGeom prst="rect">
            <a:avLst/>
          </a:prstGeom>
        </p:spPr>
      </p:pic>
      <p:sp>
        <p:nvSpPr>
          <p:cNvPr id="8" name="Прямоугольник 7"/>
          <p:cNvSpPr/>
          <p:nvPr/>
        </p:nvSpPr>
        <p:spPr>
          <a:xfrm>
            <a:off x="578294" y="3322515"/>
            <a:ext cx="2498170" cy="3139321"/>
          </a:xfrm>
          <a:prstGeom prst="rect">
            <a:avLst/>
          </a:prstGeom>
        </p:spPr>
        <p:txBody>
          <a:bodyPr wrap="square">
            <a:spAutoFit/>
          </a:bodyPr>
          <a:lstStyle/>
          <a:p>
            <a:r>
              <a:rPr lang="ru-RU" dirty="0"/>
              <a:t>Электрические и магнитные поля являются очень сильными факторами влияния на состояние всех биологических объектов, попадающих в зону их </a:t>
            </a:r>
            <a:r>
              <a:rPr lang="ru-RU" dirty="0" smtClean="0"/>
              <a:t>воздействия</a:t>
            </a:r>
          </a:p>
          <a:p>
            <a:r>
              <a:rPr lang="ru-RU" dirty="0" smtClean="0"/>
              <a:t>(</a:t>
            </a:r>
            <a:r>
              <a:rPr lang="ru-RU" dirty="0"/>
              <a:t>табл. 1.2). </a:t>
            </a:r>
          </a:p>
        </p:txBody>
      </p:sp>
    </p:spTree>
    <p:extLst>
      <p:ext uri="{BB962C8B-B14F-4D97-AF65-F5344CB8AC3E}">
        <p14:creationId xmlns:p14="http://schemas.microsoft.com/office/powerpoint/2010/main" val="4903478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045" t="17527" r="5000" b="13791"/>
          <a:stretch/>
        </p:blipFill>
        <p:spPr>
          <a:xfrm>
            <a:off x="0" y="548680"/>
            <a:ext cx="9158902" cy="5472608"/>
          </a:xfrm>
        </p:spPr>
      </p:pic>
      <p:sp>
        <p:nvSpPr>
          <p:cNvPr id="4" name="Номер слайда 3"/>
          <p:cNvSpPr>
            <a:spLocks noGrp="1"/>
          </p:cNvSpPr>
          <p:nvPr>
            <p:ph type="sldNum" sz="quarter" idx="12"/>
          </p:nvPr>
        </p:nvSpPr>
        <p:spPr/>
        <p:txBody>
          <a:bodyPr/>
          <a:lstStyle/>
          <a:p>
            <a:fld id="{3BD8B445-A5DE-4AFB-97A2-38F398769644}" type="slidenum">
              <a:rPr lang="ru-RU" smtClean="0"/>
              <a:pPr/>
              <a:t>30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657301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91264" cy="5976664"/>
          </a:xfrm>
        </p:spPr>
        <p:txBody>
          <a:bodyPr>
            <a:noAutofit/>
          </a:bodyPr>
          <a:lstStyle/>
          <a:p>
            <a:pPr marL="0" indent="0">
              <a:buNone/>
            </a:pPr>
            <a:r>
              <a:rPr lang="ru-RU" sz="2000" dirty="0"/>
              <a:t>Например, в районе действия электрического поля ЛЭП у насекомых проявляются изменения в поведении: так у пчел фиксируется повышенная агрессивность, беспокойство, снижение работоспособности и продуктивности, склонность к потере маток; у жуков, комаров, бабочек и других летающих насекомых наблюдается изменение поведенческих реакций, в том числе изменение направления движения в сторону с меньшим уровнем поля У растений распространены аномалии развития - часто меняются формы и размеры цветков, листьев, стеблей, появляются лишние лепестки.</a:t>
            </a:r>
          </a:p>
          <a:p>
            <a:pPr marL="0" indent="0">
              <a:buNone/>
            </a:pPr>
            <a:r>
              <a:rPr lang="ru-RU" sz="2000" dirty="0" smtClean="0"/>
              <a:t>Здоровый </a:t>
            </a:r>
            <a:r>
              <a:rPr lang="ru-RU" sz="2000" dirty="0"/>
              <a:t>человек страдает от относительно длительного пребывания в поле ЛЭП. Кратковременное облучение (минуты) способно привести к негативной реакцией только у гиперчувствительных людей или у больных некоторыми видами аллергии</a:t>
            </a:r>
            <a:r>
              <a:rPr lang="ru-RU" sz="2000" dirty="0" smtClean="0"/>
              <a:t>.</a:t>
            </a:r>
          </a:p>
        </p:txBody>
      </p:sp>
      <p:sp>
        <p:nvSpPr>
          <p:cNvPr id="4" name="Номер слайда 3"/>
          <p:cNvSpPr>
            <a:spLocks noGrp="1"/>
          </p:cNvSpPr>
          <p:nvPr>
            <p:ph type="sldNum" sz="quarter" idx="12"/>
          </p:nvPr>
        </p:nvSpPr>
        <p:spPr/>
        <p:txBody>
          <a:bodyPr/>
          <a:lstStyle/>
          <a:p>
            <a:fld id="{3BD8B445-A5DE-4AFB-97A2-38F398769644}" type="slidenum">
              <a:rPr lang="ru-RU" smtClean="0"/>
              <a:pPr/>
              <a:t>31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0543975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48680"/>
            <a:ext cx="8352928" cy="2088232"/>
          </a:xfrm>
        </p:spPr>
        <p:txBody>
          <a:bodyPr>
            <a:noAutofit/>
          </a:bodyPr>
          <a:lstStyle/>
          <a:p>
            <a:pPr marL="0" indent="0">
              <a:buNone/>
            </a:pPr>
            <a:r>
              <a:rPr lang="ru-RU" sz="2000" dirty="0"/>
              <a:t>При продолжительном пребывании (месяцы - годы) людей в электромагнитном поле ЛЭП могут развиваться заболевания преимущественно сердечно-сосудистой и нервной систем организма человека. В последние годы в числе отдаленных последствий часто называются онкологические заболевания</a:t>
            </a:r>
            <a:r>
              <a:rPr lang="ru-RU" sz="2000" dirty="0" smtClean="0"/>
              <a:t>.</a:t>
            </a:r>
          </a:p>
        </p:txBody>
      </p:sp>
      <p:sp>
        <p:nvSpPr>
          <p:cNvPr id="4" name="Номер слайда 3"/>
          <p:cNvSpPr>
            <a:spLocks noGrp="1"/>
          </p:cNvSpPr>
          <p:nvPr>
            <p:ph type="sldNum" sz="quarter" idx="12"/>
          </p:nvPr>
        </p:nvSpPr>
        <p:spPr/>
        <p:txBody>
          <a:bodyPr/>
          <a:lstStyle/>
          <a:p>
            <a:fld id="{3BD8B445-A5DE-4AFB-97A2-38F398769644}" type="slidenum">
              <a:rPr lang="ru-RU" smtClean="0"/>
              <a:pPr/>
              <a:t>32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57802" y="2365107"/>
            <a:ext cx="4860032" cy="3236681"/>
          </a:xfrm>
          <a:prstGeom prst="rect">
            <a:avLst/>
          </a:prstGeom>
        </p:spPr>
      </p:pic>
      <p:sp>
        <p:nvSpPr>
          <p:cNvPr id="10" name="Прямоугольник 9"/>
          <p:cNvSpPr/>
          <p:nvPr/>
        </p:nvSpPr>
        <p:spPr>
          <a:xfrm>
            <a:off x="513386" y="2365107"/>
            <a:ext cx="3744416" cy="3477875"/>
          </a:xfrm>
          <a:prstGeom prst="rect">
            <a:avLst/>
          </a:prstGeom>
        </p:spPr>
        <p:txBody>
          <a:bodyPr wrap="square">
            <a:spAutoFit/>
          </a:bodyPr>
          <a:lstStyle/>
          <a:p>
            <a:r>
              <a:rPr lang="ru-RU" sz="2000" dirty="0"/>
              <a:t>То, что длительное воздействие интенсивных электромагнитных полей промышленной частоты может вызвать повышенную утомляемость, появление сердечных болей, нарушение функций центральной нервной и эндокринной систем было известно еще с предвоенных времен. </a:t>
            </a:r>
          </a:p>
        </p:txBody>
      </p:sp>
    </p:spTree>
    <p:extLst>
      <p:ext uri="{BB962C8B-B14F-4D97-AF65-F5344CB8AC3E}">
        <p14:creationId xmlns:p14="http://schemas.microsoft.com/office/powerpoint/2010/main" val="177883642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147248" cy="3725348"/>
          </a:xfrm>
        </p:spPr>
        <p:txBody>
          <a:bodyPr>
            <a:noAutofit/>
          </a:bodyPr>
          <a:lstStyle/>
          <a:p>
            <a:pPr marL="0" indent="0" algn="just">
              <a:buNone/>
            </a:pPr>
            <a:r>
              <a:rPr lang="ru-RU" sz="2000" dirty="0"/>
              <a:t>Однако лишь в 60-х годах, в ходе промышленного бума, когда линии электропередачи, контактная сеть железных дорог и метрополитена буквально опутали целые районы, стали появляться все более тревожные сведения.</a:t>
            </a:r>
          </a:p>
          <a:p>
            <a:pPr marL="0" indent="0" algn="just">
              <a:buNone/>
            </a:pPr>
            <a:r>
              <a:rPr lang="ru-RU" sz="2000" dirty="0" smtClean="0"/>
              <a:t>В </a:t>
            </a:r>
            <a:r>
              <a:rPr lang="ru-RU" sz="2000" dirty="0"/>
              <a:t>одной из первых работ была установлена связь между развитием лейкоза у детей в штате Колорадо (США) и воздействием электромагнитного излучения сетей промышленной частоты. Вслед за этим появилась информация об аналогичных исследованиях, проведенных в Швеции с 1958 по 1973 год для населения в возрасте 18 лет. </a:t>
            </a:r>
          </a:p>
        </p:txBody>
      </p:sp>
      <p:sp>
        <p:nvSpPr>
          <p:cNvPr id="4" name="Номер слайда 3"/>
          <p:cNvSpPr>
            <a:spLocks noGrp="1"/>
          </p:cNvSpPr>
          <p:nvPr>
            <p:ph type="sldNum" sz="quarter" idx="12"/>
          </p:nvPr>
        </p:nvSpPr>
        <p:spPr/>
        <p:txBody>
          <a:bodyPr/>
          <a:lstStyle/>
          <a:p>
            <a:fld id="{3BD8B445-A5DE-4AFB-97A2-38F398769644}" type="slidenum">
              <a:rPr lang="ru-RU" smtClean="0"/>
              <a:pPr/>
              <a:t>33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87642" y="3501008"/>
            <a:ext cx="4423159" cy="2232248"/>
          </a:xfrm>
          <a:prstGeom prst="rect">
            <a:avLst/>
          </a:prstGeom>
        </p:spPr>
      </p:pic>
      <p:sp>
        <p:nvSpPr>
          <p:cNvPr id="10" name="Прямоугольник 9"/>
          <p:cNvSpPr/>
          <p:nvPr/>
        </p:nvSpPr>
        <p:spPr>
          <a:xfrm>
            <a:off x="539552" y="3789040"/>
            <a:ext cx="4032448" cy="2246769"/>
          </a:xfrm>
          <a:prstGeom prst="rect">
            <a:avLst/>
          </a:prstGeom>
        </p:spPr>
        <p:txBody>
          <a:bodyPr wrap="square">
            <a:spAutoFit/>
          </a:bodyPr>
          <a:lstStyle/>
          <a:p>
            <a:pPr algn="just"/>
            <a:r>
              <a:rPr lang="ru-RU" sz="2000" dirty="0"/>
              <a:t>Измерения электромагнитных излучений проводились для построек, расположенных в пределах 150 метров от подстанций, трансформаторов, электрических линий железных дорог и ЛЭП. </a:t>
            </a:r>
          </a:p>
        </p:txBody>
      </p:sp>
    </p:spTree>
    <p:extLst>
      <p:ext uri="{BB962C8B-B14F-4D97-AF65-F5344CB8AC3E}">
        <p14:creationId xmlns:p14="http://schemas.microsoft.com/office/powerpoint/2010/main" val="17148156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2376264"/>
          </a:xfrm>
        </p:spPr>
        <p:txBody>
          <a:bodyPr>
            <a:noAutofit/>
          </a:bodyPr>
          <a:lstStyle/>
          <a:p>
            <a:pPr marL="0" indent="0">
              <a:buNone/>
            </a:pPr>
            <a:r>
              <a:rPr lang="ru-RU" sz="2000" dirty="0"/>
              <a:t>Вокруг 48 жилых домов индукция магнитного поля составляла более 0,3 </a:t>
            </a:r>
            <a:r>
              <a:rPr lang="ru-RU" sz="2000" dirty="0" err="1"/>
              <a:t>мкТл</a:t>
            </a:r>
            <a:r>
              <a:rPr lang="ru-RU" sz="2000" dirty="0"/>
              <a:t>, и именно в этой группе жителей опухоли и лейкозы встречались в два раза чаще. Для сравнения отметим, что индукция магнитного поля ЛЭП 200 </a:t>
            </a:r>
            <a:r>
              <a:rPr lang="ru-RU" sz="2000" dirty="0" err="1"/>
              <a:t>кВ</a:t>
            </a:r>
            <a:r>
              <a:rPr lang="ru-RU" sz="2000" dirty="0"/>
              <a:t> составляла около 0,2 </a:t>
            </a:r>
            <a:r>
              <a:rPr lang="ru-RU" sz="2000" dirty="0" err="1"/>
              <a:t>мкТл</a:t>
            </a:r>
            <a:r>
              <a:rPr lang="ru-RU" sz="2000" dirty="0"/>
              <a:t>.</a:t>
            </a:r>
          </a:p>
          <a:p>
            <a:pPr marL="0" indent="0">
              <a:buNone/>
            </a:pPr>
            <a:r>
              <a:rPr lang="ru-RU" sz="2000" dirty="0" smtClean="0"/>
              <a:t>Позднее </a:t>
            </a:r>
            <a:r>
              <a:rPr lang="ru-RU" sz="2000" dirty="0"/>
              <a:t>с целью проверки гипотезы о возможности развития опухолей у людей, проживающих вблизи воздушных линий электропередачи, в Швеции была проведена большая эпидемиологическая работа, которая закончилась в 1992 году. </a:t>
            </a:r>
          </a:p>
        </p:txBody>
      </p:sp>
      <p:sp>
        <p:nvSpPr>
          <p:cNvPr id="4" name="Номер слайда 3"/>
          <p:cNvSpPr>
            <a:spLocks noGrp="1"/>
          </p:cNvSpPr>
          <p:nvPr>
            <p:ph type="sldNum" sz="quarter" idx="12"/>
          </p:nvPr>
        </p:nvSpPr>
        <p:spPr/>
        <p:txBody>
          <a:bodyPr/>
          <a:lstStyle/>
          <a:p>
            <a:fld id="{3BD8B445-A5DE-4AFB-97A2-38F398769644}" type="slidenum">
              <a:rPr lang="ru-RU" smtClean="0"/>
              <a:pPr/>
              <a:t>34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06124" y="3573016"/>
            <a:ext cx="3744917" cy="2494069"/>
          </a:xfrm>
          <a:prstGeom prst="rect">
            <a:avLst/>
          </a:prstGeom>
        </p:spPr>
      </p:pic>
      <p:sp>
        <p:nvSpPr>
          <p:cNvPr id="9" name="Прямоугольник 8"/>
          <p:cNvSpPr/>
          <p:nvPr/>
        </p:nvSpPr>
        <p:spPr>
          <a:xfrm>
            <a:off x="539552" y="3265226"/>
            <a:ext cx="4572000" cy="1631216"/>
          </a:xfrm>
          <a:prstGeom prst="rect">
            <a:avLst/>
          </a:prstGeom>
        </p:spPr>
        <p:txBody>
          <a:bodyPr>
            <a:spAutoFit/>
          </a:bodyPr>
          <a:lstStyle/>
          <a:p>
            <a:r>
              <a:rPr lang="ru-RU" sz="2000" dirty="0"/>
              <a:t>Под наблюдением находилось более 500 тысяч человек, проживающих от одного года до 25 лет в 800-метровых коридорах вдоль трасс ЛЭП 200 </a:t>
            </a:r>
            <a:r>
              <a:rPr lang="ru-RU" sz="2000" dirty="0" err="1"/>
              <a:t>кВ</a:t>
            </a:r>
            <a:r>
              <a:rPr lang="ru-RU" sz="2000" dirty="0"/>
              <a:t> и 400 </a:t>
            </a:r>
            <a:r>
              <a:rPr lang="ru-RU" sz="2000" dirty="0" err="1"/>
              <a:t>кВ.</a:t>
            </a:r>
            <a:r>
              <a:rPr lang="ru-RU" sz="2000" dirty="0"/>
              <a:t> </a:t>
            </a:r>
          </a:p>
        </p:txBody>
      </p:sp>
    </p:spTree>
    <p:extLst>
      <p:ext uri="{BB962C8B-B14F-4D97-AF65-F5344CB8AC3E}">
        <p14:creationId xmlns:p14="http://schemas.microsoft.com/office/powerpoint/2010/main" val="28741813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48680"/>
            <a:ext cx="8229600" cy="5976664"/>
          </a:xfrm>
        </p:spPr>
        <p:txBody>
          <a:bodyPr>
            <a:noAutofit/>
          </a:bodyPr>
          <a:lstStyle/>
          <a:p>
            <a:pPr marL="0" indent="0" algn="just">
              <a:buNone/>
            </a:pPr>
            <a:r>
              <a:rPr lang="ru-RU" sz="1900" dirty="0"/>
              <a:t>Тщательная статистическая обработка данных показала, что существует корреляция между развитием рака, в особенности детской лейкемии, и воздействием поля ЛЭП. При повышении индукции поля выше 0,1 </a:t>
            </a:r>
            <a:r>
              <a:rPr lang="ru-RU" sz="1900" dirty="0" err="1"/>
              <a:t>мкТл</a:t>
            </a:r>
            <a:r>
              <a:rPr lang="ru-RU" sz="1900" dirty="0"/>
              <a:t> риск заболевания возрастает почти в </a:t>
            </a:r>
            <a:r>
              <a:rPr lang="ru-RU" sz="1900" b="1" dirty="0"/>
              <a:t>4 раза</a:t>
            </a:r>
            <a:r>
              <a:rPr lang="ru-RU" sz="1900" dirty="0"/>
              <a:t>.</a:t>
            </a:r>
          </a:p>
          <a:p>
            <a:pPr marL="0" indent="0" algn="just">
              <a:buNone/>
            </a:pPr>
            <a:r>
              <a:rPr lang="ru-RU" sz="1900" dirty="0" smtClean="0"/>
              <a:t>В </a:t>
            </a:r>
            <a:r>
              <a:rPr lang="ru-RU" sz="1900" dirty="0"/>
              <a:t>Дании было обследовано 1707 детей до 16 лет, проживающих вблизи ЛЭП, у которых развились опухоли мозга, злокачественная </a:t>
            </a:r>
            <a:r>
              <a:rPr lang="ru-RU" sz="1900" dirty="0" err="1"/>
              <a:t>лимфома</a:t>
            </a:r>
            <a:r>
              <a:rPr lang="ru-RU" sz="1900" dirty="0"/>
              <a:t> и лейкемия.</a:t>
            </a:r>
          </a:p>
          <a:p>
            <a:pPr marL="0" indent="0" algn="just">
              <a:buNone/>
            </a:pPr>
            <a:r>
              <a:rPr lang="ru-RU" sz="1900" dirty="0"/>
              <a:t>Устойчивая корреляция между развитием опухоли у детей и их проживанием вблизи ЛЭП была установлена при средних значениях магнитного поля 0,3-0,4 </a:t>
            </a:r>
            <a:r>
              <a:rPr lang="ru-RU" sz="1900" dirty="0" err="1"/>
              <a:t>мкТл</a:t>
            </a:r>
            <a:r>
              <a:rPr lang="ru-RU" sz="1900" dirty="0"/>
              <a:t> и выше. Менее выраженная связь наблюдается и при значениях индукции от 0,1 </a:t>
            </a:r>
            <a:r>
              <a:rPr lang="ru-RU" sz="1900" dirty="0" err="1"/>
              <a:t>мкТл</a:t>
            </a:r>
            <a:r>
              <a:rPr lang="ru-RU" sz="1900" dirty="0"/>
              <a:t>.</a:t>
            </a:r>
          </a:p>
          <a:p>
            <a:pPr marL="0" indent="0" algn="just">
              <a:buNone/>
            </a:pPr>
            <a:r>
              <a:rPr lang="ru-RU" sz="1900" dirty="0" smtClean="0"/>
              <a:t>Напряжение </a:t>
            </a:r>
            <a:r>
              <a:rPr lang="ru-RU" sz="1900" dirty="0"/>
              <a:t>на проводах высоковольтных воздушных ЛЭП близко к порогу коронного разряда в воздухе. При ненастной погоде возникающий коронный разряд сбрасывает в атмосферу облака ионов разного знака, заряды которых не компенсируют друг друга. Даже вдали от ЛЭП электрическое поле, создаваемое ионным облаком на земной поверхности, может превышать не только естественное электрическое поле Земли, но и предельно допустимые </a:t>
            </a:r>
            <a:r>
              <a:rPr lang="ru-RU" sz="1900" dirty="0" smtClean="0"/>
              <a:t>уровни.</a:t>
            </a:r>
            <a:endParaRPr lang="ru-RU" sz="19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35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4710606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Бытовые приборы</a:t>
            </a:r>
          </a:p>
        </p:txBody>
      </p:sp>
      <p:sp>
        <p:nvSpPr>
          <p:cNvPr id="3" name="Объект 2"/>
          <p:cNvSpPr>
            <a:spLocks noGrp="1"/>
          </p:cNvSpPr>
          <p:nvPr>
            <p:ph idx="1"/>
          </p:nvPr>
        </p:nvSpPr>
        <p:spPr>
          <a:xfrm>
            <a:off x="517646" y="1412776"/>
            <a:ext cx="8435280" cy="3816424"/>
          </a:xfrm>
        </p:spPr>
        <p:txBody>
          <a:bodyPr>
            <a:normAutofit fontScale="77500" lnSpcReduction="20000"/>
          </a:bodyPr>
          <a:lstStyle/>
          <a:p>
            <a:pPr marL="0" indent="0">
              <a:buNone/>
            </a:pPr>
            <a:r>
              <a:rPr lang="ru-RU" dirty="0"/>
              <a:t>Источником электромагнитного поля в жилых помещениях является разнообразная электротехника - холодильники, утюги, пылесосы, электропечи, телевизоры, и т.д. На электромагнитную обстановку квартиры влияют электротехническое оборудование здания, трансформаторы, кабельные линии. Электрическое поле в жилых домах находится в пределах 1-10 В/м. Однако могут встретиться точки повышенного уровня, например, незаземленный монитор </a:t>
            </a:r>
            <a:r>
              <a:rPr lang="ru-RU" dirty="0" smtClean="0"/>
              <a:t>компьютера.</a:t>
            </a:r>
          </a:p>
          <a:p>
            <a:pPr marL="0" indent="0">
              <a:buNone/>
            </a:pPr>
            <a:endParaRPr lang="ru-RU" dirty="0" smtClean="0"/>
          </a:p>
          <a:p>
            <a:pPr marL="0" indent="0">
              <a:buNone/>
            </a:pPr>
            <a:r>
              <a:rPr lang="ru-RU" dirty="0"/>
              <a:t>Замеры напряженности магнитных полей от бытовых электроприборов показали, что их кратковременное воздействие может оказаться даже более сильным, чем долговременное пребывание человека рядом с линией электропередачи. Если отечественные нормы допустимых значений напряженности магнитного поля для населения от воздействия линии электропередачи составляют 1000 </a:t>
            </a:r>
            <a:r>
              <a:rPr lang="ru-RU" dirty="0" err="1"/>
              <a:t>мГс</a:t>
            </a:r>
            <a:r>
              <a:rPr lang="ru-RU" dirty="0"/>
              <a:t>, то бытовые электроприборы существенно превосходят эту величину .</a:t>
            </a:r>
          </a:p>
          <a:p>
            <a:pPr marL="0" indent="0">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36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rotWithShape="1">
          <a:blip r:embed="rId2" cstate="print">
            <a:extLst>
              <a:ext uri="{28A0092B-C50C-407E-A947-70E740481C1C}">
                <a14:useLocalDpi xmlns:a14="http://schemas.microsoft.com/office/drawing/2010/main" val="0"/>
              </a:ext>
            </a:extLst>
          </a:blip>
          <a:srcRect l="-13" t="24736" r="-1" b="51583"/>
          <a:stretch/>
        </p:blipFill>
        <p:spPr>
          <a:xfrm>
            <a:off x="21703" y="5288430"/>
            <a:ext cx="9153533" cy="1560443"/>
          </a:xfrm>
          <a:prstGeom prst="rect">
            <a:avLst/>
          </a:prstGeom>
        </p:spPr>
      </p:pic>
    </p:spTree>
    <p:extLst>
      <p:ext uri="{BB962C8B-B14F-4D97-AF65-F5344CB8AC3E}">
        <p14:creationId xmlns:p14="http://schemas.microsoft.com/office/powerpoint/2010/main" val="35401312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55576" y="332656"/>
            <a:ext cx="8229600" cy="663352"/>
          </a:xfrm>
        </p:spPr>
        <p:txBody>
          <a:bodyPr>
            <a:normAutofit/>
          </a:bodyPr>
          <a:lstStyle/>
          <a:p>
            <a:r>
              <a:rPr lang="ru-RU" sz="3200" dirty="0"/>
              <a:t>Источники электромагнитного излучения</a:t>
            </a:r>
          </a:p>
        </p:txBody>
      </p:sp>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3196" b="2147"/>
          <a:stretch/>
        </p:blipFill>
        <p:spPr>
          <a:xfrm>
            <a:off x="899592" y="1033670"/>
            <a:ext cx="7344816" cy="5695122"/>
          </a:xfrm>
        </p:spPr>
      </p:pic>
      <p:sp>
        <p:nvSpPr>
          <p:cNvPr id="4" name="Номер слайда 3"/>
          <p:cNvSpPr>
            <a:spLocks noGrp="1"/>
          </p:cNvSpPr>
          <p:nvPr>
            <p:ph type="sldNum" sz="quarter" idx="12"/>
          </p:nvPr>
        </p:nvSpPr>
        <p:spPr/>
        <p:txBody>
          <a:bodyPr/>
          <a:lstStyle/>
          <a:p>
            <a:fld id="{3BD8B445-A5DE-4AFB-97A2-38F398769644}" type="slidenum">
              <a:rPr lang="ru-RU" smtClean="0"/>
              <a:pPr/>
              <a:t>37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13613692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92696"/>
            <a:ext cx="8229600" cy="4876800"/>
          </a:xfrm>
        </p:spPr>
        <p:txBody>
          <a:bodyPr>
            <a:normAutofit/>
          </a:bodyPr>
          <a:lstStyle/>
          <a:p>
            <a:pPr marL="0" indent="0" algn="just">
              <a:buNone/>
            </a:pPr>
            <a:r>
              <a:rPr lang="ru-RU" sz="2000" dirty="0"/>
              <a:t>Реально создаваемое ЭМИ в зависимости от конкретной модели и режима работы может сильно различаться среди оборудования одного типа (рис. 1.5). </a:t>
            </a:r>
            <a:r>
              <a:rPr lang="ru-RU" sz="2000" dirty="0" smtClean="0"/>
              <a:t>Все </a:t>
            </a:r>
            <a:r>
              <a:rPr lang="ru-RU" sz="2000" dirty="0"/>
              <a:t>ниже приведенные данные относятся к магнитному полю промышленной частоты 50 Гц</a:t>
            </a:r>
            <a:r>
              <a:rPr lang="ru-RU" sz="2000" dirty="0" smtClean="0"/>
              <a:t>.</a:t>
            </a:r>
          </a:p>
          <a:p>
            <a:pPr marL="0" indent="0" algn="just">
              <a:buNone/>
            </a:pPr>
            <a:r>
              <a:rPr lang="ru-RU" sz="2000" dirty="0" smtClean="0"/>
              <a:t>Значения </a:t>
            </a:r>
            <a:r>
              <a:rPr lang="ru-RU" sz="2000" dirty="0"/>
              <a:t>магнитного поля тесно связаны с мощностью прибора - чем она выше, тем выше магнитное поле при его работе. Значения электрического поля промышленной частоты практически всех электробытовых приборов не превышают нескольких десятков В/м на расстоянии 0,5 м, что значительно меньше ПДУ 500 В/м</a:t>
            </a:r>
            <a:r>
              <a:rPr lang="ru-RU" sz="2000" dirty="0" smtClean="0"/>
              <a:t>.</a:t>
            </a:r>
          </a:p>
          <a:p>
            <a:pPr marL="0" indent="0" algn="just">
              <a:buNone/>
            </a:pPr>
            <a:r>
              <a:rPr lang="ru-RU" sz="2000" dirty="0"/>
              <a:t>В </a:t>
            </a:r>
            <a:r>
              <a:rPr lang="ru-RU" sz="2000" dirty="0" smtClean="0"/>
              <a:t>следующей таблице представлены </a:t>
            </a:r>
            <a:r>
              <a:rPr lang="ru-RU" sz="2000" dirty="0"/>
              <a:t>данные о расстоянии, на котором фиксируется магнитное поле промышленной частоты (50 Гц) величиной 0,2 </a:t>
            </a:r>
            <a:r>
              <a:rPr lang="ru-RU" sz="2000" dirty="0" err="1"/>
              <a:t>мкТл</a:t>
            </a:r>
            <a:r>
              <a:rPr lang="ru-RU" sz="2000" dirty="0"/>
              <a:t> при работе ряда бытовых приборов</a:t>
            </a:r>
            <a:r>
              <a:rPr lang="ru-RU" sz="2000" dirty="0" smtClean="0"/>
              <a:t>.</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38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rotWithShape="1">
          <a:blip r:embed="rId2" cstate="print">
            <a:extLst>
              <a:ext uri="{28A0092B-C50C-407E-A947-70E740481C1C}">
                <a14:useLocalDpi xmlns:a14="http://schemas.microsoft.com/office/drawing/2010/main" val="0"/>
              </a:ext>
            </a:extLst>
          </a:blip>
          <a:srcRect l="327" r="-341" b="76319"/>
          <a:stretch/>
        </p:blipFill>
        <p:spPr>
          <a:xfrm>
            <a:off x="21703" y="5288430"/>
            <a:ext cx="9153533" cy="1560443"/>
          </a:xfrm>
          <a:prstGeom prst="rect">
            <a:avLst/>
          </a:prstGeom>
        </p:spPr>
      </p:pic>
    </p:spTree>
    <p:extLst>
      <p:ext uri="{BB962C8B-B14F-4D97-AF65-F5344CB8AC3E}">
        <p14:creationId xmlns:p14="http://schemas.microsoft.com/office/powerpoint/2010/main" val="41942569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8424" t="70326" r="10381" b="21536"/>
          <a:stretch/>
        </p:blipFill>
        <p:spPr>
          <a:xfrm>
            <a:off x="100170" y="5297556"/>
            <a:ext cx="9025980" cy="723731"/>
          </a:xfrm>
        </p:spPr>
      </p:pic>
      <p:sp>
        <p:nvSpPr>
          <p:cNvPr id="4" name="Номер слайда 3"/>
          <p:cNvSpPr>
            <a:spLocks noGrp="1"/>
          </p:cNvSpPr>
          <p:nvPr>
            <p:ph type="sldNum" sz="quarter" idx="12"/>
          </p:nvPr>
        </p:nvSpPr>
        <p:spPr/>
        <p:txBody>
          <a:bodyPr/>
          <a:lstStyle/>
          <a:p>
            <a:fld id="{3BD8B445-A5DE-4AFB-97A2-38F398769644}" type="slidenum">
              <a:rPr lang="ru-RU" smtClean="0"/>
              <a:pPr/>
              <a:t>39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7624" y="476672"/>
            <a:ext cx="6624736" cy="4653088"/>
          </a:xfrm>
          <a:prstGeom prst="rect">
            <a:avLst/>
          </a:prstGeom>
        </p:spPr>
      </p:pic>
    </p:spTree>
    <p:extLst>
      <p:ext uri="{BB962C8B-B14F-4D97-AF65-F5344CB8AC3E}">
        <p14:creationId xmlns:p14="http://schemas.microsoft.com/office/powerpoint/2010/main" val="33047028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3492"/>
          <a:stretch/>
        </p:blipFill>
        <p:spPr>
          <a:xfrm>
            <a:off x="0" y="1196752"/>
            <a:ext cx="9108504" cy="4396004"/>
          </a:xfrm>
        </p:spPr>
      </p:pic>
      <p:sp>
        <p:nvSpPr>
          <p:cNvPr id="4" name="Номер слайда 3"/>
          <p:cNvSpPr>
            <a:spLocks noGrp="1"/>
          </p:cNvSpPr>
          <p:nvPr>
            <p:ph type="sldNum" sz="quarter" idx="12"/>
          </p:nvPr>
        </p:nvSpPr>
        <p:spPr/>
        <p:txBody>
          <a:bodyPr/>
          <a:lstStyle/>
          <a:p>
            <a:fld id="{3BD8B445-A5DE-4AFB-97A2-38F398769644}" type="slidenum">
              <a:rPr lang="ru-RU" smtClean="0"/>
              <a:pPr/>
              <a:t>40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1676330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3416" t="32951" r="4619" b="11843"/>
          <a:stretch/>
        </p:blipFill>
        <p:spPr>
          <a:xfrm>
            <a:off x="7302" y="1124744"/>
            <a:ext cx="8996951" cy="4320480"/>
          </a:xfrm>
        </p:spPr>
      </p:pic>
      <p:sp>
        <p:nvSpPr>
          <p:cNvPr id="4" name="Номер слайда 3"/>
          <p:cNvSpPr>
            <a:spLocks noGrp="1"/>
          </p:cNvSpPr>
          <p:nvPr>
            <p:ph type="sldNum" sz="quarter" idx="12"/>
          </p:nvPr>
        </p:nvSpPr>
        <p:spPr/>
        <p:txBody>
          <a:bodyPr/>
          <a:lstStyle/>
          <a:p>
            <a:fld id="{3BD8B445-A5DE-4AFB-97A2-38F398769644}" type="slidenum">
              <a:rPr lang="ru-RU" smtClean="0"/>
              <a:pPr/>
              <a:t>41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19996496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Теле- и радиостанции</a:t>
            </a:r>
          </a:p>
        </p:txBody>
      </p:sp>
      <p:sp>
        <p:nvSpPr>
          <p:cNvPr id="3" name="Объект 2"/>
          <p:cNvSpPr>
            <a:spLocks noGrp="1"/>
          </p:cNvSpPr>
          <p:nvPr>
            <p:ph idx="1"/>
          </p:nvPr>
        </p:nvSpPr>
        <p:spPr>
          <a:xfrm>
            <a:off x="467544" y="1412776"/>
            <a:ext cx="8208912" cy="1656184"/>
          </a:xfrm>
        </p:spPr>
        <p:txBody>
          <a:bodyPr>
            <a:normAutofit fontScale="85000" lnSpcReduction="20000"/>
          </a:bodyPr>
          <a:lstStyle/>
          <a:p>
            <a:pPr marL="0" indent="0" algn="just">
              <a:buNone/>
            </a:pPr>
            <a:r>
              <a:rPr lang="ru-RU" dirty="0"/>
              <a:t>Передающие радиоцентры (ПРЦ) размещаются в специально отведенных для них зонах и могут занимать довольно большие территории (до 1000 га). </a:t>
            </a:r>
            <a:r>
              <a:rPr lang="ru-RU" dirty="0" smtClean="0"/>
              <a:t>По своей структуре они включают в себя одно или несколько технических зданий, где находятся радиопередатчики, и антенные поля, на которых располагаются до нескольких десятков АФС. </a:t>
            </a:r>
          </a:p>
        </p:txBody>
      </p:sp>
      <p:sp>
        <p:nvSpPr>
          <p:cNvPr id="4" name="Номер слайда 3"/>
          <p:cNvSpPr>
            <a:spLocks noGrp="1"/>
          </p:cNvSpPr>
          <p:nvPr>
            <p:ph type="sldNum" sz="quarter" idx="12"/>
          </p:nvPr>
        </p:nvSpPr>
        <p:spPr/>
        <p:txBody>
          <a:bodyPr/>
          <a:lstStyle/>
          <a:p>
            <a:fld id="{3BD8B445-A5DE-4AFB-97A2-38F398769644}" type="slidenum">
              <a:rPr lang="ru-RU" smtClean="0"/>
              <a:pPr/>
              <a:t>42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
        <p:nvSpPr>
          <p:cNvPr id="7" name="Прямоугольник 6"/>
          <p:cNvSpPr/>
          <p:nvPr/>
        </p:nvSpPr>
        <p:spPr>
          <a:xfrm>
            <a:off x="467544" y="2924944"/>
            <a:ext cx="5349485" cy="3785652"/>
          </a:xfrm>
          <a:prstGeom prst="rect">
            <a:avLst/>
          </a:prstGeom>
        </p:spPr>
        <p:txBody>
          <a:bodyPr wrap="square">
            <a:spAutoFit/>
          </a:bodyPr>
          <a:lstStyle/>
          <a:p>
            <a:pPr algn="just"/>
            <a:r>
              <a:rPr lang="ru-RU" sz="2000" dirty="0"/>
              <a:t>Антенно-фидерная система (АФС) включает в себя антенну, служащую для излучения радиоволн, и фидерную линию, подводящую к ней высокочастотную энергию, генерируемую передатчиком. Зону возможного неблагоприятного действия ЭМИ, создаваемых ПРЦ, можно условно разделить на две части.</a:t>
            </a:r>
          </a:p>
          <a:p>
            <a:pPr algn="just"/>
            <a:r>
              <a:rPr lang="ru-RU" sz="2000" dirty="0"/>
              <a:t>Первая часть зоны - это собственно территория ПРЦ, где размещены все службы, обеспечивающие работу радиопередатчиков и АФС. </a:t>
            </a:r>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9475" y="2924944"/>
            <a:ext cx="3044525" cy="3933056"/>
          </a:xfrm>
          <a:prstGeom prst="rect">
            <a:avLst/>
          </a:prstGeom>
        </p:spPr>
      </p:pic>
    </p:spTree>
    <p:extLst>
      <p:ext uri="{BB962C8B-B14F-4D97-AF65-F5344CB8AC3E}">
        <p14:creationId xmlns:p14="http://schemas.microsoft.com/office/powerpoint/2010/main" val="395102627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20688"/>
            <a:ext cx="8229600" cy="2052228"/>
          </a:xfrm>
        </p:spPr>
        <p:txBody>
          <a:bodyPr>
            <a:noAutofit/>
          </a:bodyPr>
          <a:lstStyle/>
          <a:p>
            <a:pPr marL="0" indent="0" algn="just">
              <a:buNone/>
            </a:pPr>
            <a:r>
              <a:rPr lang="ru-RU" sz="2000" dirty="0" smtClean="0"/>
              <a:t>Это территория охраняется, и на нее допускаются только лица, профессионально связанные с обслуживанием передатчиков, коммутаторов и АФС. Вторая часть зоны - это прилегающие к ПРЦ территории, доступ на которые не ограничен и где могут размещаться жилые различные постройки, в этом случае возникает угроза облучения населения, находящегося в этой части зоны.</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43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63888" y="2672916"/>
            <a:ext cx="5580112" cy="4185084"/>
          </a:xfrm>
          <a:prstGeom prst="rect">
            <a:avLst/>
          </a:prstGeom>
        </p:spPr>
      </p:pic>
      <p:sp>
        <p:nvSpPr>
          <p:cNvPr id="9" name="Прямоугольник 8"/>
          <p:cNvSpPr/>
          <p:nvPr/>
        </p:nvSpPr>
        <p:spPr>
          <a:xfrm>
            <a:off x="539552" y="2780928"/>
            <a:ext cx="2880320" cy="3477875"/>
          </a:xfrm>
          <a:prstGeom prst="rect">
            <a:avLst/>
          </a:prstGeom>
        </p:spPr>
        <p:txBody>
          <a:bodyPr wrap="square">
            <a:spAutoFit/>
          </a:bodyPr>
          <a:lstStyle/>
          <a:p>
            <a:r>
              <a:rPr lang="ru-RU" sz="2000" dirty="0"/>
              <a:t>Высокие уровни ЭМИ наблюдаются на территориях, а нередко и за пределами размещения передающих радиоцентров низкой, средней и высокой частоты (ПРЦ НЧ, СЧ и ВЧ). </a:t>
            </a:r>
          </a:p>
        </p:txBody>
      </p:sp>
    </p:spTree>
    <p:extLst>
      <p:ext uri="{BB962C8B-B14F-4D97-AF65-F5344CB8AC3E}">
        <p14:creationId xmlns:p14="http://schemas.microsoft.com/office/powerpoint/2010/main" val="425562604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92696"/>
            <a:ext cx="8229600" cy="5861248"/>
          </a:xfrm>
        </p:spPr>
        <p:txBody>
          <a:bodyPr>
            <a:normAutofit fontScale="92500" lnSpcReduction="20000"/>
          </a:bodyPr>
          <a:lstStyle/>
          <a:p>
            <a:pPr marL="0" indent="0" algn="just">
              <a:buNone/>
            </a:pPr>
            <a:r>
              <a:rPr lang="ru-RU" dirty="0" smtClean="0"/>
              <a:t>Детальный анализ электромагнитной обстановки на территориях ПРЦ свидетельствует о ее крайней сложности, связанной с индивидуальным характером интенсивности и распределения ЭМИ для каждого радиоцентра. В связи с этим специальные исследования такого рода проводятся для каждого отдельного ПРЦ.</a:t>
            </a:r>
          </a:p>
          <a:p>
            <a:pPr marL="0" indent="0" algn="just">
              <a:buNone/>
            </a:pPr>
            <a:endParaRPr lang="ru-RU" dirty="0" smtClean="0"/>
          </a:p>
          <a:p>
            <a:pPr marL="0" indent="0" algn="just">
              <a:buNone/>
            </a:pPr>
            <a:r>
              <a:rPr lang="ru-RU" dirty="0" smtClean="0"/>
              <a:t>Широко </a:t>
            </a:r>
            <a:r>
              <a:rPr lang="ru-RU" dirty="0"/>
              <a:t>распространенными источниками ЭМИ в населенных местах в настоящее время являются радиотехнические передающие центры (РТПЦ), излучающие в окружающую среду ультракороткие волны ОВЧ и УВЧ- </a:t>
            </a:r>
            <a:r>
              <a:rPr lang="ru-RU" dirty="0" smtClean="0"/>
              <a:t>диапазонов.</a:t>
            </a:r>
          </a:p>
          <a:p>
            <a:pPr marL="0" indent="0" algn="just">
              <a:buNone/>
            </a:pPr>
            <a:endParaRPr lang="ru-RU" dirty="0" smtClean="0"/>
          </a:p>
          <a:p>
            <a:pPr marL="0" indent="0" algn="just">
              <a:buNone/>
            </a:pPr>
            <a:r>
              <a:rPr lang="ru-RU" dirty="0"/>
              <a:t>Сравнительный анализ СЗЗ и зон ограничения застройки в зоне действия таких объектов показал, что наибольшие уровни облучения людей и окружающей среды наблюдаются в районе размещения РТПЦ «старой постройки» с высотой антенной опоры не более 180 м. Наибольший вклад в суммарную интенсивность воздействия вносят «уголковые» трех- и шестиэтажные антенны ОВЧ ЧМ- </a:t>
            </a:r>
            <a:r>
              <a:rPr lang="ru-RU" dirty="0" smtClean="0"/>
              <a:t>вещания.</a:t>
            </a:r>
            <a:endParaRPr lang="ru-RU" dirty="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44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13256835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92696"/>
            <a:ext cx="8229600" cy="5861248"/>
          </a:xfrm>
        </p:spPr>
        <p:txBody>
          <a:bodyPr>
            <a:normAutofit fontScale="85000" lnSpcReduction="10000"/>
          </a:bodyPr>
          <a:lstStyle/>
          <a:p>
            <a:pPr marL="0" indent="0">
              <a:buNone/>
            </a:pPr>
            <a:r>
              <a:rPr lang="ru-RU" b="1" i="1" dirty="0" err="1"/>
              <a:t>Радиостаниии</a:t>
            </a:r>
            <a:r>
              <a:rPr lang="ru-RU" b="1" i="1" dirty="0"/>
              <a:t> Л В (частоты 30-300 </a:t>
            </a:r>
            <a:r>
              <a:rPr lang="ru-RU" b="1" i="1" dirty="0" err="1"/>
              <a:t>кГи</a:t>
            </a:r>
            <a:r>
              <a:rPr lang="ru-RU" b="1" i="1" dirty="0"/>
              <a:t>).</a:t>
            </a:r>
          </a:p>
          <a:p>
            <a:pPr marL="0" indent="0">
              <a:buNone/>
            </a:pPr>
            <a:r>
              <a:rPr lang="ru-RU" dirty="0"/>
              <a:t>В этом диапазоне длина волн относительно большая (например, 2000 м для частоты 150 кГц</a:t>
            </a:r>
            <a:r>
              <a:rPr lang="ru-RU" dirty="0" smtClean="0"/>
              <a:t>). </a:t>
            </a:r>
            <a:r>
              <a:rPr lang="ru-RU" dirty="0"/>
              <a:t>На расстоянии одной длины волны или меньше от антенны поле может быть достаточно большим, например, на расстоянии 30 м от антенны передатчика мощностью 500 кВт, работающего на частоте 145 кГц, электрическое поле может быть выше 630 В/м, а магнитное - выше 1,2 </a:t>
            </a:r>
            <a:r>
              <a:rPr lang="ru-RU" dirty="0" smtClean="0"/>
              <a:t>А/м.</a:t>
            </a:r>
            <a:endParaRPr lang="ru-RU" dirty="0"/>
          </a:p>
          <a:p>
            <a:pPr marL="0" indent="0">
              <a:buNone/>
            </a:pPr>
            <a:r>
              <a:rPr lang="ru-RU" b="1" i="1" dirty="0" err="1"/>
              <a:t>Радиостаниии</a:t>
            </a:r>
            <a:r>
              <a:rPr lang="ru-RU" b="1" i="1" dirty="0"/>
              <a:t> СВ (частоты 300 кГи-3 </a:t>
            </a:r>
            <a:r>
              <a:rPr lang="ru-RU" b="1" i="1" dirty="0" err="1"/>
              <a:t>МГи</a:t>
            </a:r>
            <a:r>
              <a:rPr lang="ru-RU" b="1" i="1" dirty="0"/>
              <a:t>).</a:t>
            </a:r>
          </a:p>
          <a:p>
            <a:pPr marL="0" indent="0">
              <a:buNone/>
            </a:pPr>
            <a:r>
              <a:rPr lang="ru-RU" dirty="0"/>
              <a:t>Данные для радиостанций этого типа говорят, что напряженность электрического поля на расстоянии 200 м может достигать 10 В/м, на расстоянии 100 м - 25 В/м, на расстоянии 30 м - 275 В/м (приведены данные для передатчика мощностью 50 кВт</a:t>
            </a:r>
            <a:r>
              <a:rPr lang="ru-RU" dirty="0" smtClean="0"/>
              <a:t>).</a:t>
            </a:r>
          </a:p>
          <a:p>
            <a:pPr marL="0" indent="0">
              <a:buNone/>
            </a:pPr>
            <a:r>
              <a:rPr lang="ru-RU" b="1" i="1" dirty="0" err="1"/>
              <a:t>Радиостаниии</a:t>
            </a:r>
            <a:r>
              <a:rPr lang="ru-RU" b="1" i="1" dirty="0"/>
              <a:t> КВ (частоты 3-30 МГц).</a:t>
            </a:r>
          </a:p>
          <a:p>
            <a:pPr marL="0" indent="0">
              <a:buNone/>
            </a:pPr>
            <a:r>
              <a:rPr lang="ru-RU" dirty="0"/>
              <a:t>Передатчики радиостанций КВ имеют обычно меньшую мощность. Однако они чаще размещаются в городах, могут быть размещены даже на крышах жилых зданий на высоте 10-100 м. Передатчик мощностью 100 кВт на расстоянии 100 м </a:t>
            </a:r>
            <a:r>
              <a:rPr lang="ru-RU" dirty="0" smtClean="0"/>
              <a:t>может </a:t>
            </a:r>
            <a:r>
              <a:rPr lang="ru-RU" dirty="0"/>
              <a:t>создавать напряженность электрического поля 44 В/м и магнитного поля 0,12 А/м.</a:t>
            </a:r>
          </a:p>
          <a:p>
            <a:pPr marL="0" indent="0">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45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24008191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Объект 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39552" y="836712"/>
            <a:ext cx="8021493" cy="5472608"/>
          </a:xfrm>
        </p:spPr>
      </p:pic>
      <p:sp>
        <p:nvSpPr>
          <p:cNvPr id="4" name="Номер слайда 3"/>
          <p:cNvSpPr>
            <a:spLocks noGrp="1"/>
          </p:cNvSpPr>
          <p:nvPr>
            <p:ph type="sldNum" sz="quarter" idx="12"/>
          </p:nvPr>
        </p:nvSpPr>
        <p:spPr/>
        <p:txBody>
          <a:bodyPr/>
          <a:lstStyle/>
          <a:p>
            <a:fld id="{3BD8B445-A5DE-4AFB-97A2-38F398769644}" type="slidenum">
              <a:rPr lang="ru-RU" smtClean="0"/>
              <a:pPr/>
              <a:t>46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9760895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620688"/>
            <a:ext cx="5110707" cy="5976664"/>
          </a:xfrm>
        </p:spPr>
        <p:txBody>
          <a:bodyPr>
            <a:normAutofit/>
          </a:bodyPr>
          <a:lstStyle/>
          <a:p>
            <a:pPr marL="0" indent="0" algn="just">
              <a:buNone/>
            </a:pPr>
            <a:r>
              <a:rPr lang="ru-RU" sz="2000" b="1" i="1" dirty="0"/>
              <a:t>Телевизионные передатчики.</a:t>
            </a:r>
          </a:p>
          <a:p>
            <a:pPr marL="0" indent="0" algn="just">
              <a:buNone/>
            </a:pPr>
            <a:r>
              <a:rPr lang="ru-RU" sz="2000" dirty="0"/>
              <a:t>Телевизионные передатчики располагаются, как правило, в городах. Передающие антенны размещаются обычно на высоте выше </a:t>
            </a:r>
            <a:r>
              <a:rPr lang="ru-RU" sz="2000" dirty="0" smtClean="0"/>
              <a:t>110м</a:t>
            </a:r>
            <a:r>
              <a:rPr lang="ru-RU" sz="2000" dirty="0"/>
              <a:t>. С точки зрения оценки влияния на здоровье интерес представляют уровни поля на расстоянии от нескольких десятков метров до нескольких </a:t>
            </a:r>
            <a:r>
              <a:rPr lang="ru-RU" sz="2000" dirty="0" smtClean="0"/>
              <a:t>километров. </a:t>
            </a:r>
            <a:r>
              <a:rPr lang="ru-RU" sz="2000" dirty="0"/>
              <a:t>Типичные значения напряженности электрического поля могут достигать 15 В/м на расстоянии 1 км от передатчика мощностью 1 МВт. В настоящее время проблема оценки уровня ЭМИ телевизионных передатчиков особенно актуальна в связи с резким ростом числа телевизионных каналов и передающих </a:t>
            </a:r>
            <a:r>
              <a:rPr lang="ru-RU" sz="2000" dirty="0" smtClean="0"/>
              <a:t>станций.</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47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9" name="Рисунок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6243" y="1556792"/>
            <a:ext cx="3466544" cy="4834540"/>
          </a:xfrm>
          <a:prstGeom prst="rect">
            <a:avLst/>
          </a:prstGeom>
        </p:spPr>
      </p:pic>
    </p:spTree>
    <p:extLst>
      <p:ext uri="{BB962C8B-B14F-4D97-AF65-F5344CB8AC3E}">
        <p14:creationId xmlns:p14="http://schemas.microsoft.com/office/powerpoint/2010/main" val="7657371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Электротранспорт</a:t>
            </a:r>
          </a:p>
        </p:txBody>
      </p:sp>
      <p:sp>
        <p:nvSpPr>
          <p:cNvPr id="3" name="Объект 2"/>
          <p:cNvSpPr>
            <a:spLocks noGrp="1"/>
          </p:cNvSpPr>
          <p:nvPr>
            <p:ph idx="1"/>
          </p:nvPr>
        </p:nvSpPr>
        <p:spPr>
          <a:xfrm>
            <a:off x="457200" y="1600200"/>
            <a:ext cx="8229600" cy="2692896"/>
          </a:xfrm>
        </p:spPr>
        <p:txBody>
          <a:bodyPr>
            <a:noAutofit/>
          </a:bodyPr>
          <a:lstStyle/>
          <a:p>
            <a:pPr marL="0" indent="0" algn="just">
              <a:buNone/>
            </a:pPr>
            <a:r>
              <a:rPr lang="ru-RU" sz="2000" dirty="0" smtClean="0"/>
              <a:t>Транспорт </a:t>
            </a:r>
            <a:r>
              <a:rPr lang="ru-RU" sz="2000" dirty="0"/>
              <a:t>на электрической тяге - электропоезда (в том числе поезда метрополитена), троллейбусы, трамваи и т.п. - является относительно мощным источником магнитного поля в диапазоне частот от 0 до 1000 </a:t>
            </a:r>
            <a:r>
              <a:rPr lang="ru-RU" sz="2000" dirty="0" smtClean="0"/>
              <a:t>Гц.</a:t>
            </a:r>
          </a:p>
          <a:p>
            <a:pPr marL="0" indent="0" algn="just">
              <a:buNone/>
            </a:pPr>
            <a:r>
              <a:rPr lang="ru-RU" sz="2000" dirty="0"/>
              <a:t>По данным (</a:t>
            </a:r>
            <a:r>
              <a:rPr lang="en-US" sz="2000" dirty="0" err="1"/>
              <a:t>Stenzel</a:t>
            </a:r>
            <a:r>
              <a:rPr lang="en-US" sz="2000" dirty="0"/>
              <a:t> et al</a:t>
            </a:r>
            <a:r>
              <a:rPr lang="ru-RU" sz="2000" dirty="0"/>
              <a:t>., 1996), максимальные значения плотности потока магнитной индукции (В) в пригородных "электричках" достигают 75 </a:t>
            </a:r>
            <a:r>
              <a:rPr lang="ru-RU" sz="2000" dirty="0" err="1"/>
              <a:t>мкТл</a:t>
            </a:r>
            <a:r>
              <a:rPr lang="ru-RU" sz="2000" dirty="0"/>
              <a:t> при среднем значении 20 </a:t>
            </a:r>
            <a:r>
              <a:rPr lang="ru-RU" sz="2000" dirty="0" err="1"/>
              <a:t>мкТл</a:t>
            </a:r>
            <a:r>
              <a:rPr lang="ru-RU" sz="2000" dirty="0"/>
              <a:t>. </a:t>
            </a:r>
            <a:endParaRPr lang="ru-RU" sz="2000" dirty="0" smtClean="0"/>
          </a:p>
        </p:txBody>
      </p:sp>
      <p:sp>
        <p:nvSpPr>
          <p:cNvPr id="4" name="Номер слайда 3"/>
          <p:cNvSpPr>
            <a:spLocks noGrp="1"/>
          </p:cNvSpPr>
          <p:nvPr>
            <p:ph type="sldNum" sz="quarter" idx="12"/>
          </p:nvPr>
        </p:nvSpPr>
        <p:spPr/>
        <p:txBody>
          <a:bodyPr/>
          <a:lstStyle/>
          <a:p>
            <a:fld id="{3BD8B445-A5DE-4AFB-97A2-38F398769644}" type="slidenum">
              <a:rPr lang="ru-RU" smtClean="0"/>
              <a:pPr/>
              <a:t>48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rotWithShape="1">
          <a:blip r:embed="rId2" cstate="print">
            <a:extLst>
              <a:ext uri="{28A0092B-C50C-407E-A947-70E740481C1C}">
                <a14:useLocalDpi xmlns:a14="http://schemas.microsoft.com/office/drawing/2010/main" val="0"/>
              </a:ext>
            </a:extLst>
          </a:blip>
          <a:srcRect t="18681" b="14900"/>
          <a:stretch/>
        </p:blipFill>
        <p:spPr>
          <a:xfrm>
            <a:off x="3419872" y="3955896"/>
            <a:ext cx="5364088" cy="2672081"/>
          </a:xfrm>
          <a:prstGeom prst="rect">
            <a:avLst/>
          </a:prstGeom>
        </p:spPr>
      </p:pic>
      <p:sp>
        <p:nvSpPr>
          <p:cNvPr id="9" name="Прямоугольник 8"/>
          <p:cNvSpPr/>
          <p:nvPr/>
        </p:nvSpPr>
        <p:spPr>
          <a:xfrm>
            <a:off x="539552" y="3933056"/>
            <a:ext cx="2664296" cy="2246769"/>
          </a:xfrm>
          <a:prstGeom prst="rect">
            <a:avLst/>
          </a:prstGeom>
        </p:spPr>
        <p:txBody>
          <a:bodyPr wrap="square">
            <a:spAutoFit/>
          </a:bodyPr>
          <a:lstStyle/>
          <a:p>
            <a:r>
              <a:rPr lang="ru-RU" sz="2000" dirty="0"/>
              <a:t>Среднее значение (В) на транспорте с электроприводом постоянного тока зафиксировано на уровне 29 </a:t>
            </a:r>
            <a:r>
              <a:rPr lang="ru-RU" sz="2000" dirty="0" err="1"/>
              <a:t>мкТл</a:t>
            </a:r>
            <a:r>
              <a:rPr lang="ru-RU" sz="2000" dirty="0"/>
              <a:t>.</a:t>
            </a:r>
          </a:p>
          <a:p>
            <a:endParaRPr lang="ru-RU" sz="2000" dirty="0"/>
          </a:p>
        </p:txBody>
      </p:sp>
    </p:spTree>
    <p:extLst>
      <p:ext uri="{BB962C8B-B14F-4D97-AF65-F5344CB8AC3E}">
        <p14:creationId xmlns:p14="http://schemas.microsoft.com/office/powerpoint/2010/main" val="150239905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7504" y="1052736"/>
            <a:ext cx="8976433" cy="5052063"/>
          </a:xfrm>
        </p:spPr>
      </p:pic>
      <p:sp>
        <p:nvSpPr>
          <p:cNvPr id="4" name="Номер слайда 3"/>
          <p:cNvSpPr>
            <a:spLocks noGrp="1"/>
          </p:cNvSpPr>
          <p:nvPr>
            <p:ph type="sldNum" sz="quarter" idx="12"/>
          </p:nvPr>
        </p:nvSpPr>
        <p:spPr/>
        <p:txBody>
          <a:bodyPr/>
          <a:lstStyle/>
          <a:p>
            <a:fld id="{3BD8B445-A5DE-4AFB-97A2-38F398769644}" type="slidenum">
              <a:rPr lang="ru-RU" smtClean="0"/>
              <a:pPr/>
              <a:t>49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64092020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Спутниковая связь</a:t>
            </a:r>
          </a:p>
        </p:txBody>
      </p:sp>
      <p:sp>
        <p:nvSpPr>
          <p:cNvPr id="3" name="Объект 2"/>
          <p:cNvSpPr>
            <a:spLocks noGrp="1"/>
          </p:cNvSpPr>
          <p:nvPr>
            <p:ph idx="1"/>
          </p:nvPr>
        </p:nvSpPr>
        <p:spPr/>
        <p:txBody>
          <a:bodyPr>
            <a:normAutofit fontScale="85000" lnSpcReduction="20000"/>
          </a:bodyPr>
          <a:lstStyle/>
          <a:p>
            <a:pPr marL="0" indent="0" algn="just">
              <a:buNone/>
            </a:pPr>
            <a:r>
              <a:rPr lang="ru-RU" dirty="0"/>
              <a:t>Системы спутниковой связи состоят из прием о передающей станции на Земле и спутника, находящегося на орбите. Диаграмма направленности антенны станций спутниковой связи имеет ярко выраженной узконаправленный основной луч - главный лепесток. Плотность потока энергии в главном лепестке диаграммы направленности может достигать нескольких сотен Вт/м</a:t>
            </a:r>
            <a:r>
              <a:rPr lang="ru-RU" baseline="30000" dirty="0"/>
              <a:t>2</a:t>
            </a:r>
            <a:r>
              <a:rPr lang="ru-RU" dirty="0"/>
              <a:t> вблизи антенны, создавая также значительные уровни поля на большом удалении. Например, станция мощностью 225 кВт, работающая на частоте 2,38 ГГц, создает на расстоянии 100 км ПГ1Э равное 2,8 Вт/м</a:t>
            </a:r>
            <a:r>
              <a:rPr lang="ru-RU" baseline="30000" dirty="0"/>
              <a:t>2</a:t>
            </a:r>
            <a:r>
              <a:rPr lang="ru-RU" dirty="0"/>
              <a:t>. Однако рассеяние энергии от основного луча очень небольшое и происходит больше всего в районе размещения </a:t>
            </a:r>
            <a:r>
              <a:rPr lang="ru-RU" dirty="0" smtClean="0"/>
              <a:t>антенны. </a:t>
            </a:r>
          </a:p>
          <a:p>
            <a:pPr marL="0" indent="0" algn="just">
              <a:buNone/>
            </a:pPr>
            <a:r>
              <a:rPr lang="ru-RU" dirty="0" smtClean="0"/>
              <a:t>Типичный </a:t>
            </a:r>
            <a:r>
              <a:rPr lang="ru-RU" dirty="0"/>
              <a:t>расчетный график распределения ППЭ на высоте 2 м от поверхности земли в районе размещения антенны спутниковой связи приведен </a:t>
            </a:r>
            <a:r>
              <a:rPr lang="ru-RU" dirty="0" smtClean="0"/>
              <a:t>на следующем рисунке. </a:t>
            </a:r>
          </a:p>
          <a:p>
            <a:pPr marL="0" indent="0" algn="just">
              <a:buNone/>
            </a:pPr>
            <a:r>
              <a:rPr lang="ru-RU" dirty="0"/>
              <a:t>Существуют два возможных опасных случая облучения:</a:t>
            </a:r>
          </a:p>
          <a:p>
            <a:pPr lvl="0" algn="just"/>
            <a:r>
              <a:rPr lang="ru-RU" dirty="0"/>
              <a:t>непосредственно в районе размещения антенны;</a:t>
            </a:r>
          </a:p>
          <a:p>
            <a:pPr algn="just"/>
            <a:r>
              <a:rPr lang="ru-RU" dirty="0"/>
              <a:t>при приближении к оси главного луча на всем его протяжении. </a:t>
            </a:r>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50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0306984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22115" t="26198" r="25111" b="29151"/>
          <a:stretch/>
        </p:blipFill>
        <p:spPr>
          <a:xfrm>
            <a:off x="1259631" y="476672"/>
            <a:ext cx="6489549" cy="4392488"/>
          </a:xfrm>
        </p:spPr>
      </p:pic>
      <p:sp>
        <p:nvSpPr>
          <p:cNvPr id="4" name="Номер слайда 3"/>
          <p:cNvSpPr>
            <a:spLocks noGrp="1"/>
          </p:cNvSpPr>
          <p:nvPr>
            <p:ph type="sldNum" sz="quarter" idx="12"/>
          </p:nvPr>
        </p:nvSpPr>
        <p:spPr/>
        <p:txBody>
          <a:bodyPr/>
          <a:lstStyle/>
          <a:p>
            <a:fld id="{3BD8B445-A5DE-4AFB-97A2-38F398769644}" type="slidenum">
              <a:rPr lang="ru-RU" smtClean="0"/>
              <a:pPr/>
              <a:t>51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Объект 5"/>
          <p:cNvPicPr>
            <a:picLocks noChangeAspect="1"/>
          </p:cNvPicPr>
          <p:nvPr/>
        </p:nvPicPr>
        <p:blipFill rotWithShape="1">
          <a:blip r:embed="rId4" cstate="print">
            <a:extLst>
              <a:ext uri="{28A0092B-C50C-407E-A947-70E740481C1C}">
                <a14:useLocalDpi xmlns:a14="http://schemas.microsoft.com/office/drawing/2010/main" val="0"/>
              </a:ext>
            </a:extLst>
          </a:blip>
          <a:srcRect l="10070" t="47461" r="7558" b="26269"/>
          <a:stretch/>
        </p:blipFill>
        <p:spPr>
          <a:xfrm>
            <a:off x="899592" y="5009119"/>
            <a:ext cx="7338263" cy="1872208"/>
          </a:xfrm>
          <a:prstGeom prst="rect">
            <a:avLst/>
          </a:prstGeom>
        </p:spPr>
      </p:pic>
    </p:spTree>
    <p:extLst>
      <p:ext uri="{BB962C8B-B14F-4D97-AF65-F5344CB8AC3E}">
        <p14:creationId xmlns:p14="http://schemas.microsoft.com/office/powerpoint/2010/main" val="3766947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Радиолокационные системы</a:t>
            </a:r>
          </a:p>
        </p:txBody>
      </p:sp>
      <p:sp>
        <p:nvSpPr>
          <p:cNvPr id="3" name="Объект 2"/>
          <p:cNvSpPr>
            <a:spLocks noGrp="1"/>
          </p:cNvSpPr>
          <p:nvPr>
            <p:ph idx="1"/>
          </p:nvPr>
        </p:nvSpPr>
        <p:spPr>
          <a:xfrm>
            <a:off x="467544" y="1412776"/>
            <a:ext cx="8229600" cy="1720038"/>
          </a:xfrm>
        </p:spPr>
        <p:txBody>
          <a:bodyPr>
            <a:normAutofit fontScale="85000" lnSpcReduction="20000"/>
          </a:bodyPr>
          <a:lstStyle/>
          <a:p>
            <a:pPr marL="0" indent="0" algn="just">
              <a:buNone/>
            </a:pPr>
            <a:r>
              <a:rPr lang="ru-RU" dirty="0"/>
              <a:t>Радиолокационные станции оснащены, как правило, антеннами зеркального типа и имеют узконаправленную диаграмму излучения в виде луча, направленного вдоль оптической </a:t>
            </a:r>
            <a:r>
              <a:rPr lang="ru-RU" dirty="0" smtClean="0"/>
              <a:t>оси.</a:t>
            </a:r>
          </a:p>
          <a:p>
            <a:pPr marL="0" indent="0" algn="just">
              <a:buNone/>
            </a:pPr>
            <a:r>
              <a:rPr lang="ru-RU" dirty="0" smtClean="0"/>
              <a:t>Радиолокационные системы работают на частотах от 500 МГц до 15 ГГц, однако, отдельные системы могут работать на частотах до 100 ГГц. </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52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7168" y="2977136"/>
            <a:ext cx="3622634" cy="3725186"/>
          </a:xfrm>
          <a:prstGeom prst="rect">
            <a:avLst/>
          </a:prstGeom>
        </p:spPr>
      </p:pic>
      <p:sp>
        <p:nvSpPr>
          <p:cNvPr id="8" name="Прямоугольник 7"/>
          <p:cNvSpPr/>
          <p:nvPr/>
        </p:nvSpPr>
        <p:spPr>
          <a:xfrm>
            <a:off x="611560" y="2996952"/>
            <a:ext cx="4788024" cy="3170099"/>
          </a:xfrm>
          <a:prstGeom prst="rect">
            <a:avLst/>
          </a:prstGeom>
        </p:spPr>
        <p:txBody>
          <a:bodyPr wrap="square">
            <a:spAutoFit/>
          </a:bodyPr>
          <a:lstStyle/>
          <a:p>
            <a:r>
              <a:rPr lang="ru-RU" sz="2000" dirty="0"/>
              <a:t>Создаваемый ими электромагнитный сигнал принципиально отличается от излучения иных источников. Связано это с тем, что периодическое перемещение антенны в пространстве приводит к пространственной прерывистости облучения. Временная прерывистость облучения обусловлена цикличностью работы радиолокатора на излучение. </a:t>
            </a:r>
          </a:p>
        </p:txBody>
      </p:sp>
    </p:spTree>
    <p:extLst>
      <p:ext uri="{BB962C8B-B14F-4D97-AF65-F5344CB8AC3E}">
        <p14:creationId xmlns:p14="http://schemas.microsoft.com/office/powerpoint/2010/main" val="298268929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6048672"/>
          </a:xfrm>
        </p:spPr>
        <p:txBody>
          <a:bodyPr>
            <a:normAutofit lnSpcReduction="10000"/>
          </a:bodyPr>
          <a:lstStyle/>
          <a:p>
            <a:pPr marL="0" indent="0" algn="just">
              <a:buNone/>
            </a:pPr>
            <a:r>
              <a:rPr lang="ru-RU" dirty="0"/>
              <a:t>Время наработки в различных режимах работы радиотехнических средств может исчисляться от нескольких часов до суток. Так у метеорологических радиолокаторов с временной прерывистостью 30 мин излучение, 30 мин пауза суммарная наработка не превышает 12 ч, в то время как радиолокационные станции аэропортов в большинстве случаев работают круглосуточно. </a:t>
            </a:r>
          </a:p>
          <a:p>
            <a:pPr marL="0" indent="0" algn="just">
              <a:buNone/>
            </a:pPr>
            <a:r>
              <a:rPr lang="ru-RU" dirty="0" smtClean="0"/>
              <a:t>Ширина </a:t>
            </a:r>
            <a:r>
              <a:rPr lang="ru-RU" dirty="0"/>
              <a:t>диаграммы направленности в горизонтальной плоскости обычно составляет несколько градусов, а длительность облучения за период обзора составляет десятки миллисекунд</a:t>
            </a:r>
            <a:r>
              <a:rPr lang="ru-RU" dirty="0" smtClean="0"/>
              <a:t>.</a:t>
            </a:r>
          </a:p>
          <a:p>
            <a:pPr marL="0" indent="0" algn="just">
              <a:buNone/>
            </a:pPr>
            <a:r>
              <a:rPr lang="ru-RU" dirty="0" smtClean="0"/>
              <a:t>Радары метрологические могут создавать на удалении 1 км ППЭ около 100 Вт/м</a:t>
            </a:r>
            <a:r>
              <a:rPr lang="ru-RU" baseline="30000" dirty="0" smtClean="0"/>
              <a:t>2</a:t>
            </a:r>
            <a:r>
              <a:rPr lang="ru-RU" dirty="0" smtClean="0"/>
              <a:t> за каждый цикл облучения. Радиолокационные станции аэропортов создают ППЭ около 0,5 Вт/м</a:t>
            </a:r>
            <a:r>
              <a:rPr lang="ru-RU" baseline="30000" dirty="0" smtClean="0"/>
              <a:t>2</a:t>
            </a:r>
            <a:r>
              <a:rPr lang="ru-RU" dirty="0"/>
              <a:t> на расстоянии 60 м. </a:t>
            </a:r>
          </a:p>
        </p:txBody>
      </p:sp>
      <p:sp>
        <p:nvSpPr>
          <p:cNvPr id="4" name="Номер слайда 3"/>
          <p:cNvSpPr>
            <a:spLocks noGrp="1"/>
          </p:cNvSpPr>
          <p:nvPr>
            <p:ph type="sldNum" sz="quarter" idx="12"/>
          </p:nvPr>
        </p:nvSpPr>
        <p:spPr/>
        <p:txBody>
          <a:bodyPr/>
          <a:lstStyle/>
          <a:p>
            <a:fld id="{3BD8B445-A5DE-4AFB-97A2-38F398769644}" type="slidenum">
              <a:rPr lang="ru-RU" smtClean="0"/>
              <a:pPr/>
              <a:t>53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39061868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6048672"/>
          </a:xfrm>
        </p:spPr>
        <p:txBody>
          <a:bodyPr>
            <a:normAutofit/>
          </a:bodyPr>
          <a:lstStyle/>
          <a:p>
            <a:pPr marL="0" indent="0" algn="just">
              <a:buNone/>
            </a:pPr>
            <a:r>
              <a:rPr lang="ru-RU" dirty="0"/>
              <a:t>Морское радиолокационное оборудование устанавливается на всех кораблях, обычно оно имеет мощность передатчика на порядок меньшую, чем у аэродромных радаров, поэтому в обычном режиме сканирование ППЭ, создаваемое на расстоянии нескольких метров, не превышает 10 Вт/м2. Сравнение уровней создаваемых радарами полей с другими источниками СВЧ диапазона приведено на рисунке</a:t>
            </a:r>
            <a:r>
              <a:rPr lang="ru-RU" dirty="0" smtClean="0"/>
              <a:t>.</a:t>
            </a:r>
          </a:p>
          <a:p>
            <a:pPr marL="0" indent="0" algn="just">
              <a:buNone/>
            </a:pPr>
            <a:endParaRPr lang="ru-RU" dirty="0"/>
          </a:p>
          <a:p>
            <a:pPr marL="0" indent="0" algn="just">
              <a:buNone/>
            </a:pPr>
            <a:r>
              <a:rPr lang="ru-RU" dirty="0"/>
              <a:t>Возрастание мощности радиолокаторов различного назначения и использование остронаправленных антенн кругового обзора приводит к значительному увеличению интенсивности ЭМИ СВЧ диапазона и создает на местности зоны большой протяженности с высокой плотностью потока энергии.</a:t>
            </a:r>
          </a:p>
        </p:txBody>
      </p:sp>
      <p:sp>
        <p:nvSpPr>
          <p:cNvPr id="4" name="Номер слайда 3"/>
          <p:cNvSpPr>
            <a:spLocks noGrp="1"/>
          </p:cNvSpPr>
          <p:nvPr>
            <p:ph type="sldNum" sz="quarter" idx="12"/>
          </p:nvPr>
        </p:nvSpPr>
        <p:spPr/>
        <p:txBody>
          <a:bodyPr/>
          <a:lstStyle/>
          <a:p>
            <a:fld id="{3BD8B445-A5DE-4AFB-97A2-38F398769644}" type="slidenum">
              <a:rPr lang="ru-RU" smtClean="0"/>
              <a:pPr/>
              <a:t>54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397643780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4294" t="87065" r="6142" b="9103"/>
          <a:stretch/>
        </p:blipFill>
        <p:spPr>
          <a:xfrm>
            <a:off x="221905" y="5983357"/>
            <a:ext cx="8892480" cy="342674"/>
          </a:xfrm>
        </p:spPr>
      </p:pic>
      <p:sp>
        <p:nvSpPr>
          <p:cNvPr id="4" name="Номер слайда 3"/>
          <p:cNvSpPr>
            <a:spLocks noGrp="1"/>
          </p:cNvSpPr>
          <p:nvPr>
            <p:ph type="sldNum" sz="quarter" idx="12"/>
          </p:nvPr>
        </p:nvSpPr>
        <p:spPr/>
        <p:txBody>
          <a:bodyPr/>
          <a:lstStyle/>
          <a:p>
            <a:fld id="{3BD8B445-A5DE-4AFB-97A2-38F398769644}" type="slidenum">
              <a:rPr lang="ru-RU" smtClean="0"/>
              <a:pPr/>
              <a:t>55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86811" y="470382"/>
            <a:ext cx="5400600" cy="5491792"/>
          </a:xfrm>
          <a:prstGeom prst="rect">
            <a:avLst/>
          </a:prstGeom>
        </p:spPr>
      </p:pic>
    </p:spTree>
    <p:extLst>
      <p:ext uri="{BB962C8B-B14F-4D97-AF65-F5344CB8AC3E}">
        <p14:creationId xmlns:p14="http://schemas.microsoft.com/office/powerpoint/2010/main" val="12082464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lvl="0"/>
            <a:r>
              <a:rPr lang="ru-RU" i="1" dirty="0"/>
              <a:t>Электромагнитное оружие</a:t>
            </a:r>
          </a:p>
        </p:txBody>
      </p:sp>
      <p:sp>
        <p:nvSpPr>
          <p:cNvPr id="3" name="Объект 2"/>
          <p:cNvSpPr>
            <a:spLocks noGrp="1"/>
          </p:cNvSpPr>
          <p:nvPr>
            <p:ph idx="1"/>
          </p:nvPr>
        </p:nvSpPr>
        <p:spPr>
          <a:xfrm>
            <a:off x="481218" y="1456184"/>
            <a:ext cx="8291264" cy="1252736"/>
          </a:xfrm>
        </p:spPr>
        <p:txBody>
          <a:bodyPr>
            <a:normAutofit lnSpcReduction="10000"/>
          </a:bodyPr>
          <a:lstStyle/>
          <a:p>
            <a:pPr marL="0" indent="0" algn="just">
              <a:buNone/>
            </a:pPr>
            <a:r>
              <a:rPr lang="ru-RU" sz="2000" dirty="0" smtClean="0"/>
              <a:t>Разработка </a:t>
            </a:r>
            <a:r>
              <a:rPr lang="ru-RU" sz="2000" dirty="0"/>
              <a:t>оружия происходит в направлениях не только совершенствования огнестрельного оружия в виде высокоточных средств поражения традиционного типа, но и внедрения оружия на новых физических принципах - оружия направленной энергии</a:t>
            </a:r>
            <a:r>
              <a:rPr lang="ru-RU" sz="2000" dirty="0" smtClean="0"/>
              <a:t>.</a:t>
            </a:r>
          </a:p>
        </p:txBody>
      </p:sp>
      <p:sp>
        <p:nvSpPr>
          <p:cNvPr id="4" name="Номер слайда 3"/>
          <p:cNvSpPr>
            <a:spLocks noGrp="1"/>
          </p:cNvSpPr>
          <p:nvPr>
            <p:ph type="sldNum" sz="quarter" idx="12"/>
          </p:nvPr>
        </p:nvSpPr>
        <p:spPr/>
        <p:txBody>
          <a:bodyPr/>
          <a:lstStyle/>
          <a:p>
            <a:fld id="{3BD8B445-A5DE-4AFB-97A2-38F398769644}" type="slidenum">
              <a:rPr lang="ru-RU" smtClean="0"/>
              <a:pPr/>
              <a:t>56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10" name="Рисунок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9364" y="2830421"/>
            <a:ext cx="4713744" cy="3573017"/>
          </a:xfrm>
          <a:prstGeom prst="rect">
            <a:avLst/>
          </a:prstGeom>
        </p:spPr>
      </p:pic>
      <p:sp>
        <p:nvSpPr>
          <p:cNvPr id="7" name="Объект 2"/>
          <p:cNvSpPr txBox="1">
            <a:spLocks/>
          </p:cNvSpPr>
          <p:nvPr/>
        </p:nvSpPr>
        <p:spPr>
          <a:xfrm>
            <a:off x="502922" y="2708920"/>
            <a:ext cx="3927335" cy="3240360"/>
          </a:xfrm>
          <a:prstGeom prst="rect">
            <a:avLst/>
          </a:prstGeom>
        </p:spPr>
        <p:txBody>
          <a:bodyPr vert="horz" lIns="91440" tIns="45720" rIns="91440" bIns="45720" rtlCol="0">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ru-RU" sz="1900" dirty="0" smtClean="0"/>
              <a:t>Электронные системы вооружения развиваются в направлениях обеспечения не только борьбы оружия с оружием, но и информационной борьбы с подавлением информационно-управляющих	систем противника. Это позволяет вести "бескровную", не летальную борьбу, не давая возможности применять обычные оружейные системы.</a:t>
            </a:r>
          </a:p>
        </p:txBody>
      </p:sp>
    </p:spTree>
    <p:extLst>
      <p:ext uri="{BB962C8B-B14F-4D97-AF65-F5344CB8AC3E}">
        <p14:creationId xmlns:p14="http://schemas.microsoft.com/office/powerpoint/2010/main" val="321769940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32420"/>
            <a:ext cx="8208912" cy="1600436"/>
          </a:xfrm>
        </p:spPr>
        <p:txBody>
          <a:bodyPr>
            <a:normAutofit fontScale="85000" lnSpcReduction="10000"/>
          </a:bodyPr>
          <a:lstStyle/>
          <a:p>
            <a:pPr marL="0" indent="0" algn="just">
              <a:buNone/>
            </a:pPr>
            <a:r>
              <a:rPr lang="ru-RU" dirty="0" smtClean="0"/>
              <a:t>Разработана так называемая "электромагнитная бомба", взрыв которой порождает электромагнитный импульс, уничтожающий всевозможные электронные системы. Основным элементом является цилиндрический резонатор из материала с хорошей электропроводностью, обложенный взрывчаткой. </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57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Объект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91759" y="2265844"/>
            <a:ext cx="5460761" cy="4248472"/>
          </a:xfrm>
          <a:prstGeom prst="rect">
            <a:avLst/>
          </a:prstGeom>
        </p:spPr>
      </p:pic>
      <p:sp>
        <p:nvSpPr>
          <p:cNvPr id="8" name="Прямоугольник 7"/>
          <p:cNvSpPr/>
          <p:nvPr/>
        </p:nvSpPr>
        <p:spPr>
          <a:xfrm>
            <a:off x="541663" y="2241706"/>
            <a:ext cx="3150096" cy="4093428"/>
          </a:xfrm>
          <a:prstGeom prst="rect">
            <a:avLst/>
          </a:prstGeom>
        </p:spPr>
        <p:txBody>
          <a:bodyPr wrap="square">
            <a:spAutoFit/>
          </a:bodyPr>
          <a:lstStyle/>
          <a:p>
            <a:r>
              <a:rPr lang="ru-RU" sz="2000" dirty="0" smtClean="0"/>
              <a:t>Специальный </a:t>
            </a:r>
            <a:r>
              <a:rPr lang="ru-RU" sz="2000" dirty="0"/>
              <a:t>источник, даже маломощный, установленный на самой бомбе или на самолете, который ее доставляет, инициирует в резонаторе стоячую электромагнитную волну. Ее можно либо поддерживать во времени, либо создавать за несколько мгновений до взрыва. </a:t>
            </a:r>
          </a:p>
        </p:txBody>
      </p:sp>
    </p:spTree>
    <p:extLst>
      <p:ext uri="{BB962C8B-B14F-4D97-AF65-F5344CB8AC3E}">
        <p14:creationId xmlns:p14="http://schemas.microsoft.com/office/powerpoint/2010/main" val="26816483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5978" t="74654" r="8587" b="14198"/>
          <a:stretch/>
        </p:blipFill>
        <p:spPr>
          <a:xfrm>
            <a:off x="251520" y="5635486"/>
            <a:ext cx="8524679" cy="889857"/>
          </a:xfrm>
        </p:spPr>
      </p:pic>
      <p:sp>
        <p:nvSpPr>
          <p:cNvPr id="4" name="Номер слайда 3"/>
          <p:cNvSpPr>
            <a:spLocks noGrp="1"/>
          </p:cNvSpPr>
          <p:nvPr>
            <p:ph type="sldNum" sz="quarter" idx="12"/>
          </p:nvPr>
        </p:nvSpPr>
        <p:spPr/>
        <p:txBody>
          <a:bodyPr/>
          <a:lstStyle/>
          <a:p>
            <a:fld id="{3BD8B445-A5DE-4AFB-97A2-38F398769644}" type="slidenum">
              <a:rPr lang="ru-RU" smtClean="0"/>
              <a:pPr/>
              <a:t>58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
        <p:nvSpPr>
          <p:cNvPr id="8" name="TextBox 7"/>
          <p:cNvSpPr txBox="1"/>
          <p:nvPr/>
        </p:nvSpPr>
        <p:spPr>
          <a:xfrm>
            <a:off x="323528" y="620688"/>
            <a:ext cx="3384376" cy="3477875"/>
          </a:xfrm>
          <a:prstGeom prst="rect">
            <a:avLst/>
          </a:prstGeom>
          <a:noFill/>
        </p:spPr>
        <p:txBody>
          <a:bodyPr wrap="square" rtlCol="0">
            <a:spAutoFit/>
          </a:bodyPr>
          <a:lstStyle/>
          <a:p>
            <a:r>
              <a:rPr lang="ru-RU" sz="2000" dirty="0"/>
              <a:t>Обычно при взрыве развивается мощность в несколько тысяч гигаватт, а давление - более сотни атмосфер. Оно сжимает резонатор. В зависимости от конструкции бомбы сжатие происходит либо равномерно по всей боковой поверхности, либо с торца</a:t>
            </a:r>
            <a:r>
              <a:rPr lang="ru-RU" sz="2000" dirty="0" smtClean="0"/>
              <a:t>.</a:t>
            </a:r>
            <a:endParaRPr lang="ru-RU" sz="2000" dirty="0"/>
          </a:p>
        </p:txBody>
      </p:sp>
      <p:pic>
        <p:nvPicPr>
          <p:cNvPr id="2" name="Рисунок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23928" y="1628800"/>
            <a:ext cx="4968552" cy="3908594"/>
          </a:xfrm>
          <a:prstGeom prst="rect">
            <a:avLst/>
          </a:prstGeom>
        </p:spPr>
      </p:pic>
    </p:spTree>
    <p:extLst>
      <p:ext uri="{BB962C8B-B14F-4D97-AF65-F5344CB8AC3E}">
        <p14:creationId xmlns:p14="http://schemas.microsoft.com/office/powerpoint/2010/main" val="166786237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51520" y="476672"/>
            <a:ext cx="8496944" cy="1872208"/>
          </a:xfrm>
        </p:spPr>
        <p:txBody>
          <a:bodyPr>
            <a:noAutofit/>
          </a:bodyPr>
          <a:lstStyle/>
          <a:p>
            <a:pPr marL="0" indent="0">
              <a:buNone/>
            </a:pPr>
            <a:r>
              <a:rPr lang="ru-RU" sz="2000" dirty="0" smtClean="0"/>
              <a:t>Почти мгновенно диаметр цилиндра уменьшается в десятки раз. Электромагнитное поле, не способное выйти за пределы резонатора, резко сжимается и, как следствие, повышается частота его колебаний. Так часть энергии переходит в энергию электромагнитных колебаний. По сравнению с первоначальной их мощность возрастает в тысячи раз. </a:t>
            </a:r>
            <a:br>
              <a:rPr lang="ru-RU" sz="2000" dirty="0" smtClean="0"/>
            </a:b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59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9460" y="2348880"/>
            <a:ext cx="5033607" cy="3982143"/>
          </a:xfrm>
          <a:prstGeom prst="rect">
            <a:avLst/>
          </a:prstGeom>
        </p:spPr>
      </p:pic>
      <p:sp>
        <p:nvSpPr>
          <p:cNvPr id="8" name="Объект 2"/>
          <p:cNvSpPr txBox="1">
            <a:spLocks/>
          </p:cNvSpPr>
          <p:nvPr/>
        </p:nvSpPr>
        <p:spPr>
          <a:xfrm>
            <a:off x="323528" y="2420888"/>
            <a:ext cx="3786864" cy="4032448"/>
          </a:xfrm>
          <a:prstGeom prst="rect">
            <a:avLst/>
          </a:prstGeom>
        </p:spPr>
        <p:txBody>
          <a:bodyPr vert="horz" lIns="91440" tIns="45720" rIns="91440" bIns="45720" rtlCol="0">
            <a:no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ru-RU" sz="2000" dirty="0" smtClean="0"/>
              <a:t>В этот момент и происходит взрыв - один из торцов резонатора разрушается, например, пиропатроном, и стоячая волна превращается в бегущую волну мощностью около </a:t>
            </a:r>
            <a:r>
              <a:rPr lang="en-US" sz="2000" dirty="0" smtClean="0"/>
              <a:t>10 </a:t>
            </a:r>
            <a:r>
              <a:rPr lang="ru-RU" sz="2000" dirty="0" smtClean="0"/>
              <a:t>ГВт. Она уничтожает всю встречающуюся на пути электронику. Радиус поражения составляет порядка 200 м.</a:t>
            </a:r>
            <a:r>
              <a:rPr lang="en-US" sz="2000" dirty="0" smtClean="0"/>
              <a:t> </a:t>
            </a:r>
          </a:p>
          <a:p>
            <a:pPr marL="0" indent="0">
              <a:buFont typeface="Arial" pitchFamily="34" charset="0"/>
              <a:buNone/>
            </a:pPr>
            <a:r>
              <a:rPr lang="ru-RU" sz="2000" dirty="0" smtClean="0"/>
              <a:t/>
            </a:r>
            <a:br>
              <a:rPr lang="ru-RU" sz="2000" dirty="0" smtClean="0"/>
            </a:br>
            <a:endParaRPr lang="ru-RU" sz="2000" dirty="0"/>
          </a:p>
        </p:txBody>
      </p:sp>
    </p:spTree>
    <p:extLst>
      <p:ext uri="{BB962C8B-B14F-4D97-AF65-F5344CB8AC3E}">
        <p14:creationId xmlns:p14="http://schemas.microsoft.com/office/powerpoint/2010/main" val="165460654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51520" y="476672"/>
            <a:ext cx="8712968" cy="2482104"/>
          </a:xfrm>
        </p:spPr>
        <p:txBody>
          <a:bodyPr>
            <a:normAutofit fontScale="92500" lnSpcReduction="20000"/>
          </a:bodyPr>
          <a:lstStyle/>
          <a:p>
            <a:pPr marL="0" indent="0">
              <a:buNone/>
            </a:pPr>
            <a:r>
              <a:rPr lang="ru-RU" dirty="0" smtClean="0"/>
              <a:t>Основная особенность данного вида оружия в том, что, по утверждению разработчиков, оно, не воздействуя на личный состав противника, выводит из строя компьютеры, телекоммуникации и прочее электронное оборудование. Электромагнитный импульс может вывести из строя даже те электронные системы, которые находятся глубоко под землей - в этом случае разрушающее действие передается через телефонные линии и электрические кабели.</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1959" y="2958776"/>
            <a:ext cx="4928795" cy="3899224"/>
          </a:xfrm>
          <a:prstGeom prst="rect">
            <a:avLst/>
          </a:prstGeom>
        </p:spPr>
      </p:pic>
      <p:pic>
        <p:nvPicPr>
          <p:cNvPr id="9" name="Рисунок 8"/>
          <p:cNvPicPr>
            <a:picLocks noChangeAspect="1"/>
          </p:cNvPicPr>
          <p:nvPr/>
        </p:nvPicPr>
        <p:blipFill rotWithShape="1">
          <a:blip r:embed="rId3" cstate="print">
            <a:extLst>
              <a:ext uri="{28A0092B-C50C-407E-A947-70E740481C1C}">
                <a14:useLocalDpi xmlns:a14="http://schemas.microsoft.com/office/drawing/2010/main" val="0"/>
              </a:ext>
            </a:extLst>
          </a:blip>
          <a:srcRect b="12127"/>
          <a:stretch/>
        </p:blipFill>
        <p:spPr>
          <a:xfrm>
            <a:off x="-1826" y="3068960"/>
            <a:ext cx="4285746" cy="3456385"/>
          </a:xfrm>
          <a:prstGeom prst="rect">
            <a:avLst/>
          </a:prstGeom>
        </p:spPr>
      </p:pic>
    </p:spTree>
    <p:extLst>
      <p:ext uri="{BB962C8B-B14F-4D97-AF65-F5344CB8AC3E}">
        <p14:creationId xmlns:p14="http://schemas.microsoft.com/office/powerpoint/2010/main" val="401640437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92696"/>
            <a:ext cx="8229600" cy="5688632"/>
          </a:xfrm>
        </p:spPr>
        <p:txBody>
          <a:bodyPr>
            <a:normAutofit fontScale="85000" lnSpcReduction="20000"/>
          </a:bodyPr>
          <a:lstStyle/>
          <a:p>
            <a:pPr marL="0" indent="0" algn="just">
              <a:buNone/>
            </a:pPr>
            <a:r>
              <a:rPr lang="ru-RU" dirty="0" smtClean="0"/>
              <a:t>В ходе последних боевых действий в Ираке вооруженными силами США был применен такой вид оружия в Багдаде. В результате чего на длительное время был выведен из строя телевизионный центр. Однако электромагнитная энергия такой мощности вызывает нарушение и в работе человеческого мозга на незначительный промежуток времени, последствия такого влияния на человеческий организм окончательно не выяснены.</a:t>
            </a:r>
            <a:endParaRPr lang="en-US" dirty="0" smtClean="0"/>
          </a:p>
          <a:p>
            <a:pPr marL="0" indent="0" algn="just">
              <a:buNone/>
            </a:pPr>
            <a:r>
              <a:rPr lang="ru-RU" dirty="0"/>
              <a:t>Терроризм в последнее время не считается новым явлением. Опаснейшей его разновидностью является электромагнитный </a:t>
            </a:r>
            <a:r>
              <a:rPr lang="ru-RU" dirty="0" smtClean="0"/>
              <a:t>терроризм. </a:t>
            </a:r>
            <a:r>
              <a:rPr lang="ru-RU" dirty="0"/>
              <a:t>Его проявление заключается в создании мощного электромагнитного импульса, воздействующего на электронные компоненты аппаратуры разнообразного назначения с целью выведения ее из строя. Уникальностью данного воздействия является отсутствие его следов, оно не требует от террористов защиты и маскировки, может осуществляться по большому числу целей, дистанционно и с использованием мобильных средств. Последствия электромагнитного терроризма по своим масштабам сопоставимы с последствиями взрыва жилого многоквартирного дома. Возможно полное нарушение в работе систем управления вооружением, жизнеобеспечением, теле- и радиотрансляционных центров, систем связи, навигации и т.п. Следствиями такой атаки вполне могут стать пожар или экологическая катастрофа</a:t>
            </a:r>
            <a:r>
              <a:rPr lang="ru-RU" dirty="0" smtClean="0"/>
              <a:t>.</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399650926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dirty="0" smtClean="0"/>
              <a:t>Защита от электромагнитных полей</a:t>
            </a:r>
            <a:endParaRPr lang="ru-RU" dirty="0"/>
          </a:p>
        </p:txBody>
      </p:sp>
      <p:sp>
        <p:nvSpPr>
          <p:cNvPr id="3" name="Объект 2"/>
          <p:cNvSpPr>
            <a:spLocks noGrp="1"/>
          </p:cNvSpPr>
          <p:nvPr>
            <p:ph idx="1"/>
          </p:nvPr>
        </p:nvSpPr>
        <p:spPr>
          <a:xfrm>
            <a:off x="457200" y="1600200"/>
            <a:ext cx="8229600" cy="5141168"/>
          </a:xfrm>
        </p:spPr>
        <p:txBody>
          <a:bodyPr>
            <a:normAutofit/>
          </a:bodyPr>
          <a:lstStyle/>
          <a:p>
            <a:pPr marL="0" indent="0" algn="just">
              <a:buNone/>
            </a:pPr>
            <a:r>
              <a:rPr lang="ru-RU" dirty="0" smtClean="0"/>
              <a:t>Как </a:t>
            </a:r>
            <a:r>
              <a:rPr lang="ru-RU" dirty="0"/>
              <a:t>отмечалось выше, реакция организма на ЭМП зависит от интенсивности поля, его частоты и других характеристик (например, параметров импульсной модуляции и др.). Поэтому трудно установить однозначное соответствие между реакцией организма и параметрами поля.</a:t>
            </a:r>
          </a:p>
          <a:p>
            <a:pPr marL="0" indent="0" algn="just">
              <a:buNone/>
            </a:pPr>
            <a:r>
              <a:rPr lang="ru-RU" dirty="0"/>
              <a:t>В зависимости от рабочего диапазона частот, характеристики выполняемых работ и интенсивности поля для защиты персонала применяются методы и средства, которые условно можно разделить на инженерно-технические, организационные и лечебно-профилактические.</a:t>
            </a:r>
          </a:p>
        </p:txBody>
      </p:sp>
      <p:sp>
        <p:nvSpPr>
          <p:cNvPr id="4" name="Номер слайда 3"/>
          <p:cNvSpPr>
            <a:spLocks noGrp="1"/>
          </p:cNvSpPr>
          <p:nvPr>
            <p:ph type="sldNum" sz="quarter" idx="12"/>
          </p:nvPr>
        </p:nvSpPr>
        <p:spPr/>
        <p:txBody>
          <a:bodyPr/>
          <a:lstStyle/>
          <a:p>
            <a:fld id="{3BD8B445-A5DE-4AFB-97A2-38F398769644}" type="slidenum">
              <a:rPr lang="ru-RU" smtClean="0"/>
              <a:pPr/>
              <a:t>62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0364974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i="1" dirty="0" smtClean="0"/>
              <a:t>Инженерно-технические </a:t>
            </a:r>
            <a:r>
              <a:rPr lang="ru-RU" i="1" dirty="0"/>
              <a:t>методы и средства</a:t>
            </a:r>
          </a:p>
        </p:txBody>
      </p:sp>
      <p:sp>
        <p:nvSpPr>
          <p:cNvPr id="3" name="Объект 2"/>
          <p:cNvSpPr>
            <a:spLocks noGrp="1"/>
          </p:cNvSpPr>
          <p:nvPr>
            <p:ph idx="1"/>
          </p:nvPr>
        </p:nvSpPr>
        <p:spPr/>
        <p:txBody>
          <a:bodyPr>
            <a:normAutofit fontScale="85000" lnSpcReduction="20000"/>
          </a:bodyPr>
          <a:lstStyle/>
          <a:p>
            <a:pPr marL="0" indent="0" algn="just">
              <a:buNone/>
            </a:pPr>
            <a:r>
              <a:rPr lang="ru-RU" dirty="0"/>
              <a:t>Наиболее радикальным средством борьбы с помехами является их уничтожение или ослабление в месте возникновения, что достигается использованием экранирования, уменьшением паразитного излучения, применением направленных антенн, совершенствованием конструкций излучателей электромагнитных волн и </a:t>
            </a:r>
            <a:r>
              <a:rPr lang="ru-RU" dirty="0" smtClean="0"/>
              <a:t>т.д.</a:t>
            </a:r>
            <a:endParaRPr lang="ru-RU" dirty="0"/>
          </a:p>
          <a:p>
            <a:pPr marL="0" indent="0" algn="just">
              <a:buNone/>
            </a:pPr>
            <a:r>
              <a:rPr lang="ru-RU" dirty="0"/>
              <a:t>Для защиты от электрических и магнитных полей различных диапазонов применяют комплекс инженерно-технических мер. При защите от электростатического поля (ЭСП) основными мерами уменьшения напряженности ЭСП в рабочей зоне являются:</a:t>
            </a:r>
          </a:p>
          <a:p>
            <a:pPr algn="just"/>
            <a:r>
              <a:rPr lang="ru-RU" dirty="0"/>
              <a:t>экранирование источников поля или рабочего места; применение нейтрализаторов статического электричества; применение антистатических препаратов или увлажнение электризующихся материалов;</a:t>
            </a:r>
          </a:p>
          <a:p>
            <a:pPr algn="just"/>
            <a:r>
              <a:rPr lang="ru-RU" dirty="0"/>
              <a:t>замена, по возможности, легко электризующихся материалов и изделий на не электризующиеся</a:t>
            </a:r>
            <a:r>
              <a:rPr lang="ru-RU" dirty="0" smtClean="0"/>
              <a:t>;</a:t>
            </a:r>
          </a:p>
          <a:p>
            <a:pPr algn="just"/>
            <a:r>
              <a:rPr lang="ru-RU" dirty="0" smtClean="0"/>
              <a:t>подбор контактирующих поверхностей, исходя из условий наименьшей электризации;</a:t>
            </a:r>
          </a:p>
        </p:txBody>
      </p:sp>
      <p:sp>
        <p:nvSpPr>
          <p:cNvPr id="4" name="Номер слайда 3"/>
          <p:cNvSpPr>
            <a:spLocks noGrp="1"/>
          </p:cNvSpPr>
          <p:nvPr>
            <p:ph type="sldNum" sz="quarter" idx="12"/>
          </p:nvPr>
        </p:nvSpPr>
        <p:spPr/>
        <p:txBody>
          <a:bodyPr/>
          <a:lstStyle/>
          <a:p>
            <a:fld id="{3BD8B445-A5DE-4AFB-97A2-38F398769644}" type="slidenum">
              <a:rPr lang="ru-RU" smtClean="0"/>
              <a:pPr/>
              <a:t>63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50381822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1728192"/>
          </a:xfrm>
        </p:spPr>
        <p:txBody>
          <a:bodyPr>
            <a:normAutofit/>
          </a:bodyPr>
          <a:lstStyle/>
          <a:p>
            <a:pPr algn="just"/>
            <a:r>
              <a:rPr lang="ru-RU" sz="1900" dirty="0"/>
              <a:t>уменьшение скорости переработки и транспортировки материалов; поддержание оптимальной относительной влажности (не ниже </a:t>
            </a:r>
            <a:r>
              <a:rPr lang="ru-RU" sz="1900" dirty="0" smtClean="0"/>
              <a:t>60%), </a:t>
            </a:r>
            <a:r>
              <a:rPr lang="ru-RU" sz="1900" dirty="0"/>
              <a:t>ионного состава воздуха рабочих помещений;</a:t>
            </a:r>
          </a:p>
          <a:p>
            <a:pPr algn="just"/>
            <a:r>
              <a:rPr lang="ru-RU" sz="1900" dirty="0"/>
              <a:t>удаление зон пребывания обслуживающего персонала от источников электростатических полей</a:t>
            </a:r>
            <a:r>
              <a:rPr lang="ru-RU" sz="1900" dirty="0" smtClean="0"/>
              <a:t>.</a:t>
            </a:r>
            <a:endParaRPr lang="ru-RU" sz="19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8" name="Рисунок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0307" y="2060848"/>
            <a:ext cx="2720225" cy="1341733"/>
          </a:xfrm>
          <a:prstGeom prst="rect">
            <a:avLst/>
          </a:prstGeom>
        </p:spPr>
      </p:pic>
      <p:sp>
        <p:nvSpPr>
          <p:cNvPr id="9" name="Прямоугольник 8"/>
          <p:cNvSpPr/>
          <p:nvPr/>
        </p:nvSpPr>
        <p:spPr>
          <a:xfrm>
            <a:off x="446651" y="2276872"/>
            <a:ext cx="5184576" cy="4185761"/>
          </a:xfrm>
          <a:prstGeom prst="rect">
            <a:avLst/>
          </a:prstGeom>
        </p:spPr>
        <p:txBody>
          <a:bodyPr wrap="square">
            <a:spAutoFit/>
          </a:bodyPr>
          <a:lstStyle/>
          <a:p>
            <a:r>
              <a:rPr lang="ru-RU" sz="1900" dirty="0"/>
              <a:t>В качестве индивидуальных средств защиты следует применять антистатические обувь, халаты и другие средства, обеспечивающие заземление тела человека.</a:t>
            </a:r>
            <a:r>
              <a:rPr lang="en-US" sz="1900" dirty="0"/>
              <a:t> </a:t>
            </a:r>
            <a:r>
              <a:rPr lang="ru-RU" sz="1900" dirty="0"/>
              <a:t>Для индивидуальной защиты от электрического поля промышленной частоты необходимо применять индивидуальные экранирующие комплекты, состоящие из электропроводящих куртки (или халата) с капюшоном, рукавиц (перчаток) и ботинок (сапог). Качество спецодежды контролируется с помощью специальных установок и "клетки Фарадея".</a:t>
            </a:r>
          </a:p>
        </p:txBody>
      </p:sp>
      <p:pic>
        <p:nvPicPr>
          <p:cNvPr id="10" name="Рисунок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5825" y="3561941"/>
            <a:ext cx="3059832" cy="3311953"/>
          </a:xfrm>
          <a:prstGeom prst="rect">
            <a:avLst/>
          </a:prstGeom>
        </p:spPr>
      </p:pic>
    </p:spTree>
    <p:extLst>
      <p:ext uri="{BB962C8B-B14F-4D97-AF65-F5344CB8AC3E}">
        <p14:creationId xmlns:p14="http://schemas.microsoft.com/office/powerpoint/2010/main" val="25846545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620687"/>
            <a:ext cx="6326389" cy="6061323"/>
          </a:xfrm>
        </p:spPr>
        <p:txBody>
          <a:bodyPr>
            <a:normAutofit fontScale="85000" lnSpcReduction="20000"/>
          </a:bodyPr>
          <a:lstStyle/>
          <a:p>
            <a:pPr marL="0" indent="0" algn="just">
              <a:buNone/>
            </a:pPr>
            <a:r>
              <a:rPr lang="ru-RU" dirty="0"/>
              <a:t>Инженерные меры защиты от электромагнитного поля радиочастоты и СВЧ включают в себя экранирование, применение средств индивидуальной защиты, уменьшение напряженности и плотности потока энергии в рабочей зоне за счет уменьшения мощности самого источника (если позволяют технические условия) и посредством использования согласованных нагрузок и поглотителей мощности.</a:t>
            </a:r>
          </a:p>
          <a:p>
            <a:pPr marL="0" indent="0" algn="just">
              <a:buNone/>
            </a:pPr>
            <a:r>
              <a:rPr lang="ru-RU" dirty="0" smtClean="0"/>
              <a:t>В настоящее время для защиты от ЭМИ применяются средства индивидуальной защиты (СИЗ) - радиозащитные костюмы, халаты, комбинезоны, защитные маски, фартуки, очки и др. Ввиду того, что СИЗ стесняют движения работающего и несколько ухудшают гигиенические условия, их используют лишь в особых случаях, например, при ремонтных работах в аварийных ситуациях, во время кратковременных настроечных и измерительных работах с радиотехническим оборудованием и в антенном поле радиотехнических станций. Они изготавливаются из хлопчатобумажной ткани с </a:t>
            </a:r>
            <a:r>
              <a:rPr lang="ru-RU" dirty="0" err="1" smtClean="0"/>
              <a:t>микропроводом</a:t>
            </a:r>
            <a:r>
              <a:rPr lang="ru-RU" dirty="0" smtClean="0"/>
              <a:t> и, в принципе, представляют собой сетчатые экраны.</a:t>
            </a:r>
            <a:endParaRPr lang="en-US" dirty="0" smtClean="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21925" y="692696"/>
            <a:ext cx="2422075" cy="5989315"/>
          </a:xfrm>
          <a:prstGeom prst="rect">
            <a:avLst/>
          </a:prstGeom>
        </p:spPr>
      </p:pic>
    </p:spTree>
    <p:extLst>
      <p:ext uri="{BB962C8B-B14F-4D97-AF65-F5344CB8AC3E}">
        <p14:creationId xmlns:p14="http://schemas.microsoft.com/office/powerpoint/2010/main" val="258465459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620688"/>
            <a:ext cx="8229600" cy="1296144"/>
          </a:xfrm>
        </p:spPr>
        <p:txBody>
          <a:bodyPr>
            <a:noAutofit/>
          </a:bodyPr>
          <a:lstStyle/>
          <a:p>
            <a:pPr marL="0" indent="0" algn="just">
              <a:buNone/>
            </a:pPr>
            <a:r>
              <a:rPr lang="ru-RU" sz="2000" dirty="0"/>
              <a:t>В помещениях при защите от внешних излучений применяется оклеивание стен специальными металлизированными обоями, </a:t>
            </a:r>
            <a:r>
              <a:rPr lang="ru-RU" sz="2000" dirty="0" err="1"/>
              <a:t>засетчивание</a:t>
            </a:r>
            <a:r>
              <a:rPr lang="ru-RU" sz="2000" dirty="0"/>
              <a:t> окон, применение специальных металлизированных штор и т.п</a:t>
            </a:r>
            <a:r>
              <a:rPr lang="ru-RU" sz="2000" dirty="0" smtClean="0"/>
              <a:t>.</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6" name="Рисунок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71592" y="1772815"/>
            <a:ext cx="3672408" cy="2746961"/>
          </a:xfrm>
          <a:prstGeom prst="rect">
            <a:avLst/>
          </a:prstGeom>
        </p:spPr>
      </p:pic>
      <p:pic>
        <p:nvPicPr>
          <p:cNvPr id="2" name="Рисунок 1"/>
          <p:cNvPicPr>
            <a:picLocks noChangeAspect="1"/>
          </p:cNvPicPr>
          <p:nvPr/>
        </p:nvPicPr>
        <p:blipFill rotWithShape="1">
          <a:blip r:embed="rId3" cstate="print">
            <a:extLst>
              <a:ext uri="{28A0092B-C50C-407E-A947-70E740481C1C}">
                <a14:useLocalDpi xmlns:a14="http://schemas.microsoft.com/office/drawing/2010/main" val="0"/>
              </a:ext>
            </a:extLst>
          </a:blip>
          <a:srcRect r="42439" b="12421"/>
          <a:stretch/>
        </p:blipFill>
        <p:spPr>
          <a:xfrm>
            <a:off x="6066723" y="4586308"/>
            <a:ext cx="2482146" cy="2160240"/>
          </a:xfrm>
          <a:prstGeom prst="rect">
            <a:avLst/>
          </a:prstGeom>
        </p:spPr>
      </p:pic>
      <p:sp>
        <p:nvSpPr>
          <p:cNvPr id="7" name="Прямоугольник 6"/>
          <p:cNvSpPr/>
          <p:nvPr/>
        </p:nvSpPr>
        <p:spPr>
          <a:xfrm>
            <a:off x="467544" y="1916833"/>
            <a:ext cx="4896544" cy="4478149"/>
          </a:xfrm>
          <a:prstGeom prst="rect">
            <a:avLst/>
          </a:prstGeom>
        </p:spPr>
        <p:txBody>
          <a:bodyPr wrap="square">
            <a:spAutoFit/>
          </a:bodyPr>
          <a:lstStyle/>
          <a:p>
            <a:r>
              <a:rPr lang="ru-RU" sz="1900" dirty="0"/>
              <a:t>В помещениях при защите от внешних излучений применяется оклеивание стен специальными металлизированными обоями, </a:t>
            </a:r>
            <a:r>
              <a:rPr lang="ru-RU" sz="1900" dirty="0" err="1"/>
              <a:t>засетчивание</a:t>
            </a:r>
            <a:r>
              <a:rPr lang="ru-RU" sz="1900" dirty="0"/>
              <a:t> окон, применение специальных металлизированных штор и т.п.</a:t>
            </a:r>
          </a:p>
          <a:p>
            <a:r>
              <a:rPr lang="ru-RU" sz="1900" dirty="0" smtClean="0"/>
              <a:t>Снижение </a:t>
            </a:r>
            <a:r>
              <a:rPr lang="ru-RU" sz="1900" dirty="0"/>
              <a:t>напряженности электромагнитных полей ВЧ и УВЧ на радио- и телестанциях, узлах электро- и радиосвязи достигается экранировкой действующих передатчиков и рациональным размещением отдельных ВЧ и УВЧ блоков в рабочих помещениях либо организацией дистанционного управления передатчиками.</a:t>
            </a:r>
          </a:p>
        </p:txBody>
      </p:sp>
    </p:spTree>
    <p:extLst>
      <p:ext uri="{BB962C8B-B14F-4D97-AF65-F5344CB8AC3E}">
        <p14:creationId xmlns:p14="http://schemas.microsoft.com/office/powerpoint/2010/main" val="417289909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29600" cy="5928320"/>
          </a:xfrm>
        </p:spPr>
        <p:txBody>
          <a:bodyPr>
            <a:normAutofit fontScale="77500" lnSpcReduction="20000"/>
          </a:bodyPr>
          <a:lstStyle/>
          <a:p>
            <a:pPr marL="0" indent="0" algn="just">
              <a:buNone/>
            </a:pPr>
            <a:r>
              <a:rPr lang="ru-RU" dirty="0" smtClean="0"/>
              <a:t>Для </a:t>
            </a:r>
            <a:r>
              <a:rPr lang="ru-RU" dirty="0"/>
              <a:t>снижения уровня ЭМП на рабочих местах и в залах передатчиков необходимо:</a:t>
            </a:r>
          </a:p>
          <a:p>
            <a:pPr algn="just"/>
            <a:r>
              <a:rPr lang="ru-RU" dirty="0"/>
              <a:t>улучшить экранировку шкафов передатчиков, </a:t>
            </a:r>
            <a:r>
              <a:rPr lang="ru-RU" dirty="0" err="1"/>
              <a:t>жалюзей</a:t>
            </a:r>
            <a:r>
              <a:rPr lang="ru-RU" dirty="0"/>
              <a:t> и смотровых окон, устранить щели в металлическом корпусе;</a:t>
            </a:r>
          </a:p>
          <a:p>
            <a:pPr algn="just"/>
            <a:r>
              <a:rPr lang="ru-RU" dirty="0"/>
              <a:t>контролировать экранирование фидеров в помещениях и на антенных полях; осуществлять коммутацию электромагнитной энергии с помощью общих антенных коммутаторов, вынесенных в отдельные экранированные помещения. Подключение передатчиков к коммутаторам должно исключать прохождение неэкранированных фидеров в рабочих помещениях;</a:t>
            </a:r>
          </a:p>
          <a:p>
            <a:pPr algn="just"/>
            <a:r>
              <a:rPr lang="ru-RU" dirty="0"/>
              <a:t>обеспечить создание надежного электрического контакта в металлических соединениях устройств схем сложения и разделительных фильтров, и заземление фидерных линий, по которым не происходит передача энергии, для устранения паразитных наводок на них</a:t>
            </a:r>
            <a:r>
              <a:rPr lang="ru-RU" dirty="0" smtClean="0"/>
              <a:t>.</a:t>
            </a:r>
          </a:p>
          <a:p>
            <a:pPr marL="0" indent="0" algn="just">
              <a:buNone/>
            </a:pPr>
            <a:r>
              <a:rPr lang="ru-RU" dirty="0"/>
              <a:t>Для исключения паразитных наводок на провода осветительной сети, отопительные приборы и водопроводные трубы необходимо:</a:t>
            </a:r>
          </a:p>
          <a:p>
            <a:pPr marL="0" indent="0" algn="just">
              <a:buNone/>
            </a:pPr>
            <a:r>
              <a:rPr lang="ru-RU" dirty="0"/>
              <a:t>а)	устанавливать фильтры на диапазон частот работающих станций у мест ввода проводов осветительной сети в помещение;</a:t>
            </a:r>
          </a:p>
          <a:p>
            <a:pPr marL="0" indent="0" algn="just">
              <a:buNone/>
            </a:pPr>
            <a:r>
              <a:rPr lang="ru-RU" dirty="0"/>
              <a:t>б)	производить электропроводку экранированным проводом с заземленным экраном;</a:t>
            </a:r>
          </a:p>
          <a:p>
            <a:pPr marL="0" indent="0" algn="just">
              <a:buNone/>
            </a:pPr>
            <a:r>
              <a:rPr lang="ru-RU" dirty="0"/>
              <a:t>в)	дополнительно заземлять отопительные приборы и водопроводные трубы на обособленное от установки заземление.</a:t>
            </a:r>
            <a:endParaRPr lang="en-US" dirty="0"/>
          </a:p>
          <a:p>
            <a:pPr marL="0" indent="0" algn="just">
              <a:buNone/>
            </a:pPr>
            <a:endParaRPr lang="ru-RU" dirty="0"/>
          </a:p>
          <a:p>
            <a:pPr marL="0" indent="0" algn="just">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58465459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1124744"/>
            <a:ext cx="8229600" cy="4876800"/>
          </a:xfrm>
        </p:spPr>
        <p:txBody>
          <a:bodyPr>
            <a:normAutofit fontScale="92500" lnSpcReduction="20000"/>
          </a:bodyPr>
          <a:lstStyle/>
          <a:p>
            <a:pPr marL="0" indent="0" algn="just">
              <a:buNone/>
            </a:pPr>
            <a:r>
              <a:rPr lang="ru-RU" dirty="0"/>
              <a:t>Еще одним конструктивным приемом уменьшения паразитных высокочастотных излучений является применение различных дроссельных устройств, через которые необходимо обеспечивать настройку аппаратуры, находящейся в экранируемом пространстве</a:t>
            </a:r>
            <a:r>
              <a:rPr lang="ru-RU" dirty="0" smtClean="0"/>
              <a:t>.</a:t>
            </a:r>
          </a:p>
          <a:p>
            <a:pPr marL="0" indent="0" algn="just">
              <a:buNone/>
            </a:pPr>
            <a:endParaRPr lang="ru-RU" dirty="0"/>
          </a:p>
          <a:p>
            <a:pPr marL="0" indent="0" algn="just">
              <a:buNone/>
            </a:pPr>
            <a:r>
              <a:rPr lang="ru-RU" dirty="0"/>
              <a:t>Принцип действия дросселей заключается в том, что благодаря определенному конструктивному выполнению механического привода электрический контакт размещается в узле стоячей волны тока, при этом требования к качеству контакта значительно снижаются. В длинноволновой части СВЧ диапазона дроссели конструктивно выполняются на сосредоточенных </a:t>
            </a:r>
            <a:r>
              <a:rPr lang="en-US" dirty="0"/>
              <a:t>LC </a:t>
            </a:r>
            <a:r>
              <a:rPr lang="ru-RU" dirty="0"/>
              <a:t>элементах и представляют обычные заграждающие фильтры, методы расчета параметров которых хорошо известны. Достижимое значение экранного затухания при наличии дросселей составляет примерно 30-40 дБ.</a:t>
            </a:r>
          </a:p>
        </p:txBody>
      </p:sp>
      <p:sp>
        <p:nvSpPr>
          <p:cNvPr id="4" name="Номер слайда 3"/>
          <p:cNvSpPr>
            <a:spLocks noGrp="1"/>
          </p:cNvSpPr>
          <p:nvPr>
            <p:ph type="sldNum" sz="quarter" idx="12"/>
          </p:nvPr>
        </p:nvSpPr>
        <p:spPr/>
        <p:txBody>
          <a:bodyPr/>
          <a:lstStyle/>
          <a:p>
            <a:fld id="{3BD8B445-A5DE-4AFB-97A2-38F398769644}" type="slidenum">
              <a:rPr lang="ru-RU" smtClean="0"/>
              <a:pPr/>
              <a:t>68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08745328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548680"/>
            <a:ext cx="8229600" cy="3756620"/>
          </a:xfrm>
        </p:spPr>
        <p:txBody>
          <a:bodyPr>
            <a:normAutofit fontScale="85000" lnSpcReduction="10000"/>
          </a:bodyPr>
          <a:lstStyle/>
          <a:p>
            <a:pPr marL="0" indent="0" algn="just">
              <a:buNone/>
            </a:pPr>
            <a:r>
              <a:rPr lang="ru-RU" dirty="0"/>
              <a:t>Экранирование излучателей, помещений и рабочего места является одним из основных способов защиты от ЭМП. При этом используются такие свойства различных материалов, как поглощение и отражение электромагнитной энергии. Поглощение обусловлено тепловыми потерями в толщине материала, а отражение - в основном, различием электромагнитных свойств воздуха и материала экрана. В результате отражения и поглощения электромагнитная энергия частично отражается от поверхности экрана, частично затухает в материале экрана и частично проходит сквозь экран. Отражение и прохождение энергии определяются через коэффициенты отражения </a:t>
            </a:r>
            <a:r>
              <a:rPr lang="ru-RU" dirty="0" err="1"/>
              <a:t>К</a:t>
            </a:r>
            <a:r>
              <a:rPr lang="ru-RU" baseline="-25000" dirty="0" err="1"/>
              <a:t>отр</a:t>
            </a:r>
            <a:r>
              <a:rPr lang="ru-RU" dirty="0"/>
              <a:t> и прохождения </a:t>
            </a:r>
            <a:r>
              <a:rPr lang="ru-RU" dirty="0" err="1" smtClean="0"/>
              <a:t>К</a:t>
            </a:r>
            <a:r>
              <a:rPr lang="ru-RU" baseline="-25000" dirty="0" err="1" smtClean="0"/>
              <a:t>прох</a:t>
            </a:r>
            <a:r>
              <a:rPr lang="ru-RU" dirty="0" smtClean="0"/>
              <a:t>, </a:t>
            </a:r>
            <a:r>
              <a:rPr lang="ru-RU" dirty="0"/>
              <a:t>выражающиеся отношением соответственно отраженной и прошедшей энергии к падающей</a:t>
            </a:r>
            <a:r>
              <a:rPr lang="ru-RU" dirty="0" smtClean="0"/>
              <a:t>.</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69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5100" y="4042340"/>
            <a:ext cx="2628900" cy="2552700"/>
          </a:xfrm>
          <a:prstGeom prst="rect">
            <a:avLst/>
          </a:prstGeom>
        </p:spPr>
      </p:pic>
      <p:sp>
        <p:nvSpPr>
          <p:cNvPr id="8" name="Прямоугольник 7"/>
          <p:cNvSpPr/>
          <p:nvPr/>
        </p:nvSpPr>
        <p:spPr>
          <a:xfrm>
            <a:off x="556692" y="4305300"/>
            <a:ext cx="5958408" cy="2289740"/>
          </a:xfrm>
          <a:prstGeom prst="rect">
            <a:avLst/>
          </a:prstGeom>
        </p:spPr>
        <p:txBody>
          <a:bodyPr wrap="square">
            <a:spAutoFit/>
          </a:bodyPr>
          <a:lstStyle/>
          <a:p>
            <a:pPr algn="just"/>
            <a:r>
              <a:rPr lang="ru-RU" dirty="0"/>
              <a:t>При попадании ЭМП на границу раздела сред, характеризующихся различными свойствами (например, различное волновое сопротивление в металле и в воздухе), электромагнитная энергия частично проходит через нее, продолжая распространяться в новой среде, и частично отражается, причем коэффициент отражения зависит от соотношения волновых сопротивлений сред.</a:t>
            </a:r>
          </a:p>
        </p:txBody>
      </p:sp>
    </p:spTree>
    <p:extLst>
      <p:ext uri="{BB962C8B-B14F-4D97-AF65-F5344CB8AC3E}">
        <p14:creationId xmlns:p14="http://schemas.microsoft.com/office/powerpoint/2010/main" val="425956294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92696"/>
            <a:ext cx="8229600" cy="5784304"/>
          </a:xfrm>
        </p:spPr>
        <p:txBody>
          <a:bodyPr>
            <a:normAutofit fontScale="85000" lnSpcReduction="10000"/>
          </a:bodyPr>
          <a:lstStyle/>
          <a:p>
            <a:pPr marL="0" indent="0" algn="just">
              <a:buNone/>
            </a:pPr>
            <a:r>
              <a:rPr lang="ru-RU" dirty="0"/>
              <a:t>Большая отражательная способность металлов в ряде случаев может оказаться нежелательной. Поэтому в зависимости от практической целесообразности материалы для экранирования изготовляются либо с большим коэффициентом отражения (металлические листы, сетки), либо с малым коэффициентом отражения (различные радиопоглощающие материалы).</a:t>
            </a:r>
          </a:p>
          <a:p>
            <a:pPr marL="0" indent="0" algn="just">
              <a:buNone/>
            </a:pPr>
            <a:r>
              <a:rPr lang="ru-RU" dirty="0"/>
              <a:t>В тех случаях, когда имеются только паразитные излучения волн (утечки из щелей в линиях передачи СВЧ энергии, из катодных выводов магнетрона и т.п.) и отражения ЭМИ от стенок экранирующего устройства не оказывают влияния на технологический процесс и режим работы излучателя, экранирование может быть сделано без поглощающих покрытий.</a:t>
            </a:r>
          </a:p>
          <a:p>
            <a:pPr marL="0" indent="0" algn="just">
              <a:buNone/>
            </a:pPr>
            <a:r>
              <a:rPr lang="ru-RU" dirty="0"/>
              <a:t>Если же производственный процесс основан на непосредственном излучении энергии в пространство (например, при испытании антенных устройств), полное или частичное экранирование источника металлическими экранами может привести к нарушению технологического процесса (изменение режима работы, пробой генераторных ламп передатчиков, изменение его рабочей частоты и т.д.). </a:t>
            </a:r>
          </a:p>
        </p:txBody>
      </p:sp>
      <p:sp>
        <p:nvSpPr>
          <p:cNvPr id="4" name="Номер слайда 3"/>
          <p:cNvSpPr>
            <a:spLocks noGrp="1"/>
          </p:cNvSpPr>
          <p:nvPr>
            <p:ph type="sldNum" sz="quarter" idx="12"/>
          </p:nvPr>
        </p:nvSpPr>
        <p:spPr/>
        <p:txBody>
          <a:bodyPr/>
          <a:lstStyle/>
          <a:p>
            <a:fld id="{3BD8B445-A5DE-4AFB-97A2-38F398769644}" type="slidenum">
              <a:rPr lang="ru-RU" smtClean="0"/>
              <a:pPr/>
              <a:t>70</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425956294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620688"/>
            <a:ext cx="8229600" cy="1656184"/>
          </a:xfrm>
        </p:spPr>
        <p:txBody>
          <a:bodyPr>
            <a:noAutofit/>
          </a:bodyPr>
          <a:lstStyle/>
          <a:p>
            <a:pPr marL="0" indent="0" algn="just">
              <a:buNone/>
            </a:pPr>
            <a:r>
              <a:rPr lang="ru-RU" sz="2000" dirty="0" smtClean="0"/>
              <a:t>Кроме того, большая отражательная способность металлических экранов при их применении для экранирования помещения может привести к увеличению интенсивности поля в рабочей зоне. В подобных случаях рационально было бы использовать поглощающие экраны и покрытия.</a:t>
            </a:r>
          </a:p>
          <a:p>
            <a:pPr marL="0" indent="0" algn="just">
              <a:buNone/>
            </a:pPr>
            <a:endParaRPr lang="ru-RU" sz="2000" dirty="0" smtClean="0"/>
          </a:p>
        </p:txBody>
      </p:sp>
      <p:sp>
        <p:nvSpPr>
          <p:cNvPr id="4" name="Номер слайда 3"/>
          <p:cNvSpPr>
            <a:spLocks noGrp="1"/>
          </p:cNvSpPr>
          <p:nvPr>
            <p:ph type="sldNum" sz="quarter" idx="12"/>
          </p:nvPr>
        </p:nvSpPr>
        <p:spPr/>
        <p:txBody>
          <a:bodyPr/>
          <a:lstStyle/>
          <a:p>
            <a:fld id="{3BD8B445-A5DE-4AFB-97A2-38F398769644}" type="slidenum">
              <a:rPr lang="ru-RU" smtClean="0"/>
              <a:pPr/>
              <a:t>71</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10" name="Рисунок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76056" y="2204864"/>
            <a:ext cx="3977655" cy="2906460"/>
          </a:xfrm>
          <a:prstGeom prst="rect">
            <a:avLst/>
          </a:prstGeom>
        </p:spPr>
      </p:pic>
      <p:sp>
        <p:nvSpPr>
          <p:cNvPr id="11" name="Прямоугольник 10"/>
          <p:cNvSpPr/>
          <p:nvPr/>
        </p:nvSpPr>
        <p:spPr>
          <a:xfrm>
            <a:off x="504056" y="2348880"/>
            <a:ext cx="4572000" cy="3785652"/>
          </a:xfrm>
          <a:prstGeom prst="rect">
            <a:avLst/>
          </a:prstGeom>
        </p:spPr>
        <p:txBody>
          <a:bodyPr>
            <a:spAutoFit/>
          </a:bodyPr>
          <a:lstStyle/>
          <a:p>
            <a:r>
              <a:rPr lang="ru-RU" sz="2000" dirty="0"/>
              <a:t>При разработке радиопоглощающих материалов, подбирая специальные вещества с градиентом электромагнитных характеристик  по толщине материала, добиваются обеспечения наиболее плавного перехода от волновых характеристик воздуха к характеристикам материала экрана (с целью уменьшения отражения) и наиболее полного поглощения электромагнитной энергии в экране. </a:t>
            </a:r>
          </a:p>
        </p:txBody>
      </p:sp>
    </p:spTree>
    <p:extLst>
      <p:ext uri="{BB962C8B-B14F-4D97-AF65-F5344CB8AC3E}">
        <p14:creationId xmlns:p14="http://schemas.microsoft.com/office/powerpoint/2010/main" val="23136063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20688"/>
            <a:ext cx="8219256" cy="2850788"/>
          </a:xfrm>
        </p:spPr>
        <p:txBody>
          <a:bodyPr>
            <a:noAutofit/>
          </a:bodyPr>
          <a:lstStyle/>
          <a:p>
            <a:pPr marL="0" indent="0" algn="just">
              <a:buNone/>
            </a:pPr>
            <a:r>
              <a:rPr lang="ru-RU" sz="2000" dirty="0"/>
              <a:t>Уменьшение отражения ЭМП от поверхности радиопоглощающих материалов добиваются, например, тем, что материалу придается структура или форма, увеличивающая его активную поверхность, обращенную к излучению. Материал делается волокнистым или пористым, со сложной, покрытой пирамидами или конусами поверхностью. Падая на такую поверхность, электромагнитная волна многократно отражается и теряет значительно больше энергии, чем при падении на ровную поверхность. </a:t>
            </a:r>
          </a:p>
          <a:p>
            <a:pPr marL="0" indent="0" algn="just">
              <a:buNone/>
            </a:pPr>
            <a:r>
              <a:rPr lang="ru-RU" sz="2000" dirty="0" smtClean="0"/>
              <a:t>Подобного эффекта добиваются, когда слои поглощающего</a:t>
            </a:r>
            <a:endParaRPr lang="ru-RU" sz="2000"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72</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1513" y="3471476"/>
            <a:ext cx="4192487" cy="3386524"/>
          </a:xfrm>
          <a:prstGeom prst="rect">
            <a:avLst/>
          </a:prstGeom>
        </p:spPr>
      </p:pic>
      <p:sp>
        <p:nvSpPr>
          <p:cNvPr id="8" name="Прямоугольник 7"/>
          <p:cNvSpPr/>
          <p:nvPr/>
        </p:nvSpPr>
        <p:spPr>
          <a:xfrm>
            <a:off x="467544" y="3478215"/>
            <a:ext cx="4248472" cy="3016210"/>
          </a:xfrm>
          <a:prstGeom prst="rect">
            <a:avLst/>
          </a:prstGeom>
        </p:spPr>
        <p:txBody>
          <a:bodyPr wrap="square">
            <a:spAutoFit/>
          </a:bodyPr>
          <a:lstStyle/>
          <a:p>
            <a:r>
              <a:rPr lang="ru-RU" sz="1900" dirty="0"/>
              <a:t>материала (активированный уголь, сажа, порошок карбонильного железа и т.п.) располагают в порядке возрастания плотности по мере удаления от внешней поверхности экрана, либо постепенно увеличивая концентрацию проводящих добавок по мере удаления от поверхности материала. </a:t>
            </a:r>
          </a:p>
        </p:txBody>
      </p:sp>
    </p:spTree>
    <p:extLst>
      <p:ext uri="{BB962C8B-B14F-4D97-AF65-F5344CB8AC3E}">
        <p14:creationId xmlns:p14="http://schemas.microsoft.com/office/powerpoint/2010/main" val="231360638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764704"/>
            <a:ext cx="8229600" cy="5184576"/>
          </a:xfrm>
        </p:spPr>
        <p:txBody>
          <a:bodyPr>
            <a:normAutofit fontScale="92500" lnSpcReduction="20000"/>
          </a:bodyPr>
          <a:lstStyle/>
          <a:p>
            <a:pPr marL="0" indent="0" algn="just">
              <a:buNone/>
            </a:pPr>
            <a:r>
              <a:rPr lang="ru-RU" dirty="0"/>
              <a:t>Экраны, выполненные из таких материалов, поглощают электромагнитную энергию в широком диапазоне частот и являются широкополосными.</a:t>
            </a:r>
          </a:p>
          <a:p>
            <a:pPr marL="0" indent="0" algn="just">
              <a:buNone/>
            </a:pPr>
            <a:r>
              <a:rPr lang="ru-RU" dirty="0"/>
              <a:t>В связи с тем, что большинство радиопоглощающих материалов имеет значительный вес (их толщина пропорциональна длине волны), высокую стоимость, а также некоторые недостатки (чувствительность к воде, пыли, подверженность быстрой эрозии и т.п.), их широкое применения в технике защиты от ЭМП ограничено.</a:t>
            </a:r>
          </a:p>
          <a:p>
            <a:pPr marL="0" indent="0" algn="just">
              <a:buNone/>
            </a:pPr>
            <a:r>
              <a:rPr lang="ru-RU" dirty="0" smtClean="0"/>
              <a:t>Для </a:t>
            </a:r>
            <a:r>
              <a:rPr lang="ru-RU" dirty="0"/>
              <a:t>защиты информации, обрабатываемой ПЭВМ и циркулирующей в ЛВС, разработаны некоторые специфические методы и средства. Информативный сигнал в сети электропитания имеет достаточную для перехвата злоумышленником мощность и широкий частотный диапазон, что усложняет задачу защиты информации. Таким образом, при соблюдении определенных энергетических и временных условий может возникнуть электромагнитный канал утечки конфиденциальной информации</a:t>
            </a:r>
            <a:r>
              <a:rPr lang="ru-RU" dirty="0" smtClean="0"/>
              <a:t>.</a:t>
            </a:r>
          </a:p>
        </p:txBody>
      </p:sp>
      <p:sp>
        <p:nvSpPr>
          <p:cNvPr id="4" name="Номер слайда 3"/>
          <p:cNvSpPr>
            <a:spLocks noGrp="1"/>
          </p:cNvSpPr>
          <p:nvPr>
            <p:ph type="sldNum" sz="quarter" idx="12"/>
          </p:nvPr>
        </p:nvSpPr>
        <p:spPr/>
        <p:txBody>
          <a:bodyPr/>
          <a:lstStyle/>
          <a:p>
            <a:fld id="{3BD8B445-A5DE-4AFB-97A2-38F398769644}" type="slidenum">
              <a:rPr lang="ru-RU" smtClean="0"/>
              <a:pPr/>
              <a:t>73</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231360638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764704"/>
            <a:ext cx="8424936" cy="2664296"/>
          </a:xfrm>
        </p:spPr>
        <p:txBody>
          <a:bodyPr>
            <a:normAutofit fontScale="85000" lnSpcReduction="10000"/>
          </a:bodyPr>
          <a:lstStyle/>
          <a:p>
            <a:pPr marL="0" indent="0">
              <a:buNone/>
            </a:pPr>
            <a:r>
              <a:rPr lang="ru-RU" dirty="0" smtClean="0"/>
              <a:t>Для </a:t>
            </a:r>
            <a:r>
              <a:rPr lang="ru-RU" dirty="0"/>
              <a:t>минимизации паразитных связей внутри ПЭВМ используются разные схемотехнические решения: применение </a:t>
            </a:r>
            <a:r>
              <a:rPr lang="ru-RU" dirty="0" err="1"/>
              <a:t>радиоэкранирующих</a:t>
            </a:r>
            <a:r>
              <a:rPr lang="ru-RU" dirty="0"/>
              <a:t> и радиопоглощающих материалов; экранирование корпусов элементов и оптимальное построение системы электропитания ПЭВМ; установка помехоподавляющих фильтров в цепях электропитания, в сигнальных цепях интерфейсов и на печатных платах </a:t>
            </a:r>
            <a:r>
              <a:rPr lang="ru-RU" dirty="0" smtClean="0"/>
              <a:t>ПЭВМ. </a:t>
            </a:r>
            <a:r>
              <a:rPr lang="ru-RU" dirty="0"/>
              <a:t>Для предотвращения паразитной связи через электромагнитное поле совместно пролегающие кабели ЛВС и системы электропитания разносятся на безопасное расстояние. </a:t>
            </a:r>
          </a:p>
        </p:txBody>
      </p:sp>
      <p:sp>
        <p:nvSpPr>
          <p:cNvPr id="4" name="Номер слайда 3"/>
          <p:cNvSpPr>
            <a:spLocks noGrp="1"/>
          </p:cNvSpPr>
          <p:nvPr>
            <p:ph type="sldNum" sz="quarter" idx="12"/>
          </p:nvPr>
        </p:nvSpPr>
        <p:spPr/>
        <p:txBody>
          <a:bodyPr/>
          <a:lstStyle/>
          <a:p>
            <a:fld id="{3BD8B445-A5DE-4AFB-97A2-38F398769644}" type="slidenum">
              <a:rPr lang="ru-RU" smtClean="0"/>
              <a:pPr/>
              <a:t>74</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4589" y="3619500"/>
            <a:ext cx="3810000" cy="3238500"/>
          </a:xfrm>
          <a:prstGeom prst="rect">
            <a:avLst/>
          </a:prstGeom>
        </p:spPr>
      </p:pic>
      <p:sp>
        <p:nvSpPr>
          <p:cNvPr id="2" name="Прямоугольник 1"/>
          <p:cNvSpPr/>
          <p:nvPr/>
        </p:nvSpPr>
        <p:spPr>
          <a:xfrm>
            <a:off x="611560" y="3619500"/>
            <a:ext cx="3960440" cy="1938992"/>
          </a:xfrm>
          <a:prstGeom prst="rect">
            <a:avLst/>
          </a:prstGeom>
        </p:spPr>
        <p:txBody>
          <a:bodyPr wrap="square">
            <a:spAutoFit/>
          </a:bodyPr>
          <a:lstStyle/>
          <a:p>
            <a:r>
              <a:rPr lang="ru-RU" sz="2000" dirty="0"/>
              <a:t>Также применяется фильтрация, прокладка цепей электропитания в экранирующих конструкциях, скрутка проводов электропитания и др.</a:t>
            </a:r>
          </a:p>
        </p:txBody>
      </p:sp>
    </p:spTree>
    <p:extLst>
      <p:ext uri="{BB962C8B-B14F-4D97-AF65-F5344CB8AC3E}">
        <p14:creationId xmlns:p14="http://schemas.microsoft.com/office/powerpoint/2010/main" val="212490436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548680"/>
            <a:ext cx="8229600" cy="3024336"/>
          </a:xfrm>
        </p:spPr>
        <p:txBody>
          <a:bodyPr>
            <a:normAutofit fontScale="85000" lnSpcReduction="10000"/>
          </a:bodyPr>
          <a:lstStyle/>
          <a:p>
            <a:pPr marL="0" indent="0">
              <a:buNone/>
            </a:pPr>
            <a:r>
              <a:rPr lang="ru-RU" dirty="0"/>
              <a:t>Использование активных средств защиты информации (шумовых генераторов) не всегда возможно из-за требований электромагнитной совместимости; кроме того, проведение защитных мероприятий нередко требует приобретения значительного количества средств защиты (как пассивных, так и активных), что зачастую ограничено финансовыми средствами</a:t>
            </a:r>
            <a:r>
              <a:rPr lang="ru-RU" dirty="0" smtClean="0"/>
              <a:t>.</a:t>
            </a:r>
          </a:p>
          <a:p>
            <a:pPr marL="0" indent="0">
              <a:buNone/>
            </a:pPr>
            <a:r>
              <a:rPr lang="ru-RU" dirty="0"/>
              <a:t>При построении кабельных систем большое внимание уделяется применяемым кабелям. Общее экранирование кабеля снижает уровень излучения и повышает невосприимчивость к шумовым помехам, но не улучшает рабочие характеристики между парами. </a:t>
            </a:r>
          </a:p>
        </p:txBody>
      </p:sp>
      <p:sp>
        <p:nvSpPr>
          <p:cNvPr id="4" name="Номер слайда 3"/>
          <p:cNvSpPr>
            <a:spLocks noGrp="1"/>
          </p:cNvSpPr>
          <p:nvPr>
            <p:ph type="sldNum" sz="quarter" idx="12"/>
          </p:nvPr>
        </p:nvSpPr>
        <p:spPr/>
        <p:txBody>
          <a:bodyPr/>
          <a:lstStyle/>
          <a:p>
            <a:fld id="{3BD8B445-A5DE-4AFB-97A2-38F398769644}" type="slidenum">
              <a:rPr lang="ru-RU" smtClean="0"/>
              <a:pPr/>
              <a:t>75</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2" name="Рисунок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42970" y="3623320"/>
            <a:ext cx="4901030" cy="3234680"/>
          </a:xfrm>
          <a:prstGeom prst="rect">
            <a:avLst/>
          </a:prstGeom>
        </p:spPr>
      </p:pic>
      <p:sp>
        <p:nvSpPr>
          <p:cNvPr id="6" name="Прямоугольник 5"/>
          <p:cNvSpPr/>
          <p:nvPr/>
        </p:nvSpPr>
        <p:spPr>
          <a:xfrm>
            <a:off x="467544" y="3501008"/>
            <a:ext cx="3960440" cy="2862322"/>
          </a:xfrm>
          <a:prstGeom prst="rect">
            <a:avLst/>
          </a:prstGeom>
        </p:spPr>
        <p:txBody>
          <a:bodyPr wrap="square">
            <a:spAutoFit/>
          </a:bodyPr>
          <a:lstStyle/>
          <a:p>
            <a:r>
              <a:rPr lang="ru-RU" sz="2000" dirty="0"/>
              <a:t>Недостатком кабелей, экранированных оболочкой из фольги, является то, что они подвержены низкочастотным электромагнитным помехам. Кроме того, экранирование в общем случае ухудшает характеристики кабеля по затуханию сигнала. </a:t>
            </a:r>
          </a:p>
        </p:txBody>
      </p:sp>
    </p:spTree>
    <p:extLst>
      <p:ext uri="{BB962C8B-B14F-4D97-AF65-F5344CB8AC3E}">
        <p14:creationId xmlns:p14="http://schemas.microsoft.com/office/powerpoint/2010/main" val="163594113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3BD8B445-A5DE-4AFB-97A2-38F398769644}" type="slidenum">
              <a:rPr lang="ru-RU" smtClean="0"/>
              <a:pPr/>
              <a:t>76</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pic>
        <p:nvPicPr>
          <p:cNvPr id="7" name="Объект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131840" y="2063303"/>
            <a:ext cx="6012160" cy="4794697"/>
          </a:xfrm>
        </p:spPr>
      </p:pic>
      <p:sp>
        <p:nvSpPr>
          <p:cNvPr id="8" name="Прямоугольник 7"/>
          <p:cNvSpPr/>
          <p:nvPr/>
        </p:nvSpPr>
        <p:spPr>
          <a:xfrm>
            <a:off x="179512" y="548681"/>
            <a:ext cx="8640960" cy="1323439"/>
          </a:xfrm>
          <a:prstGeom prst="rect">
            <a:avLst/>
          </a:prstGeom>
        </p:spPr>
        <p:txBody>
          <a:bodyPr wrap="square">
            <a:spAutoFit/>
          </a:bodyPr>
          <a:lstStyle/>
          <a:p>
            <a:r>
              <a:rPr lang="ru-RU" sz="2000" dirty="0"/>
              <a:t>Это повышенное значение затухания является следствием добавочной емкости между экраном и витыми парами. Наиболее приемлемым материалом для изготовления экранов является сталь листовая. </a:t>
            </a:r>
          </a:p>
        </p:txBody>
      </p:sp>
      <p:sp>
        <p:nvSpPr>
          <p:cNvPr id="9" name="Прямоугольник 8"/>
          <p:cNvSpPr/>
          <p:nvPr/>
        </p:nvSpPr>
        <p:spPr>
          <a:xfrm>
            <a:off x="205476" y="1872120"/>
            <a:ext cx="2926364" cy="4801314"/>
          </a:xfrm>
          <a:prstGeom prst="rect">
            <a:avLst/>
          </a:prstGeom>
        </p:spPr>
        <p:txBody>
          <a:bodyPr wrap="square">
            <a:spAutoFit/>
          </a:bodyPr>
          <a:lstStyle/>
          <a:p>
            <a:r>
              <a:rPr lang="ru-RU" dirty="0"/>
              <a:t>Конструкция швов экрана должна обеспечивать надежный электрический контакт с низким переходным сопротивлением высокочастотным токам по периметру соединяемых деталей экрана. Для обеспечения этого требования соединение листов экрана должно производиться герметичным швом электродуговой сварки в среде защитного газа.</a:t>
            </a:r>
          </a:p>
        </p:txBody>
      </p:sp>
    </p:spTree>
    <p:extLst>
      <p:ext uri="{BB962C8B-B14F-4D97-AF65-F5344CB8AC3E}">
        <p14:creationId xmlns:p14="http://schemas.microsoft.com/office/powerpoint/2010/main" val="334163804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lvl="0"/>
            <a:r>
              <a:rPr lang="ru-RU" i="1" dirty="0" smtClean="0"/>
              <a:t>Организационные </a:t>
            </a:r>
            <a:r>
              <a:rPr lang="ru-RU" i="1" dirty="0"/>
              <a:t>и лечебно-профилактические мероприятия</a:t>
            </a:r>
          </a:p>
        </p:txBody>
      </p:sp>
      <p:sp>
        <p:nvSpPr>
          <p:cNvPr id="3" name="Объект 2"/>
          <p:cNvSpPr>
            <a:spLocks noGrp="1"/>
          </p:cNvSpPr>
          <p:nvPr>
            <p:ph idx="1"/>
          </p:nvPr>
        </p:nvSpPr>
        <p:spPr/>
        <p:txBody>
          <a:bodyPr>
            <a:normAutofit fontScale="85000" lnSpcReduction="20000"/>
          </a:bodyPr>
          <a:lstStyle/>
          <a:p>
            <a:pPr marL="0" indent="0">
              <a:buNone/>
            </a:pPr>
            <a:r>
              <a:rPr lang="ru-RU" dirty="0"/>
              <a:t>К организационным мероприятиям относятся: рациональное размещение в рабочем помещении оборудования, излучающего электромагнитную энергию, и рабочих мест; удаление рабочего места от источника ЭМП; установление </a:t>
            </a:r>
            <a:r>
              <a:rPr lang="ru-RU" dirty="0" smtClean="0"/>
              <a:t>рациональных </a:t>
            </a:r>
            <a:r>
              <a:rPr lang="ru-RU" dirty="0"/>
              <a:t>режимов работы оборудования и обслуживающего персонала; ограничение работы оборудования во времени (за счет уменьшения времени наладочных и ремонтных работ); применение средств предупреждающей сигнализации (световая, звуковая и т.п.), а также проведение инструктажа о правилах техники безопасности при работе в радиочастотном </a:t>
            </a:r>
            <a:r>
              <a:rPr lang="ru-RU" dirty="0" smtClean="0"/>
              <a:t>поле.</a:t>
            </a:r>
          </a:p>
          <a:p>
            <a:pPr marL="0" indent="0">
              <a:buNone/>
            </a:pPr>
            <a:r>
              <a:rPr lang="ru-RU" dirty="0"/>
              <a:t>Лечебно-профилактические мероприятия направлены на предупреждение заболевания, которое может быть вызвано воздействием ЭМП, а также на лечение работающих при обнаружении профессионального заболевания. Лица, не достигшие 18-летнего возраста, к работам с источниками ЭМП радиочастот не допускаются</a:t>
            </a:r>
            <a:r>
              <a:rPr lang="ru-RU" dirty="0" smtClean="0"/>
              <a:t>.</a:t>
            </a:r>
            <a:r>
              <a:rPr lang="ru-RU" dirty="0"/>
              <a:t> Обязателен предварительный и периодический медицинский контроль лиц, работающих на участках с повышенным уровнем излучений. </a:t>
            </a:r>
          </a:p>
        </p:txBody>
      </p:sp>
      <p:sp>
        <p:nvSpPr>
          <p:cNvPr id="4" name="Номер слайда 3"/>
          <p:cNvSpPr>
            <a:spLocks noGrp="1"/>
          </p:cNvSpPr>
          <p:nvPr>
            <p:ph type="sldNum" sz="quarter" idx="12"/>
          </p:nvPr>
        </p:nvSpPr>
        <p:spPr/>
        <p:txBody>
          <a:bodyPr/>
          <a:lstStyle/>
          <a:p>
            <a:fld id="{3BD8B445-A5DE-4AFB-97A2-38F398769644}" type="slidenum">
              <a:rPr lang="ru-RU" smtClean="0"/>
              <a:pPr/>
              <a:t>77</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163594113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95536" y="620688"/>
            <a:ext cx="8229600" cy="5784304"/>
          </a:xfrm>
        </p:spPr>
        <p:txBody>
          <a:bodyPr>
            <a:normAutofit fontScale="92500" lnSpcReduction="10000"/>
          </a:bodyPr>
          <a:lstStyle/>
          <a:p>
            <a:pPr marL="0" indent="0">
              <a:buNone/>
            </a:pPr>
            <a:r>
              <a:rPr lang="ru-RU" dirty="0" smtClean="0"/>
              <a:t>Для </a:t>
            </a:r>
            <a:r>
              <a:rPr lang="ru-RU" dirty="0"/>
              <a:t>повышения устойчивости организма разрабатывают специальные диеты, комплексы физических упражнений, способы рациональной организации и планирования работы.</a:t>
            </a:r>
          </a:p>
          <a:p>
            <a:pPr marL="0" indent="0">
              <a:buNone/>
            </a:pPr>
            <a:r>
              <a:rPr lang="ru-RU" dirty="0"/>
              <a:t>Согласно санитарным нормам и правилам, площадки для размещения передающих длинноволновых, средневолновых и коротковолновых радиостанций, телецентров, телевизионных ретрансляторов, радиолокационных станций, радиорелейных линий связи необходимо выбирать с учетом мощности объекта и конструктивных особенностей антенн с таким условием, чтобы уровень электромагнитной энергии на территории жилой застройки не превышал норму</a:t>
            </a:r>
            <a:r>
              <a:rPr lang="ru-RU" dirty="0" smtClean="0"/>
              <a:t>.</a:t>
            </a:r>
          </a:p>
          <a:p>
            <a:pPr marL="0" indent="0">
              <a:buNone/>
            </a:pPr>
            <a:r>
              <a:rPr lang="ru-RU" dirty="0"/>
              <a:t>Передающие радиоцентры, радиостанции, телецентры при мощности одного передатчика или суммарной мощности нескольких передатчиков более 100 кВт, а также обзорные радиолокационные станции следует размещать за пределами населенных мест с выполнением условий, обеспечивающих соблюдение установленных предельно допустимых уровней электромагнитной энергии.</a:t>
            </a:r>
          </a:p>
          <a:p>
            <a:pPr marL="0" indent="0">
              <a:buNone/>
            </a:pP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78</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65019009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7544" y="620688"/>
            <a:ext cx="8229600" cy="5832648"/>
          </a:xfrm>
        </p:spPr>
        <p:txBody>
          <a:bodyPr>
            <a:normAutofit fontScale="85000" lnSpcReduction="20000"/>
          </a:bodyPr>
          <a:lstStyle/>
          <a:p>
            <a:pPr marL="0" indent="0">
              <a:buNone/>
            </a:pPr>
            <a:r>
              <a:rPr lang="ru-RU" dirty="0" smtClean="0"/>
              <a:t>При </a:t>
            </a:r>
            <a:r>
              <a:rPr lang="ru-RU" dirty="0"/>
              <a:t>покупке и эксплуатации бытовой техники необходимо придерживаться следующих правил:</a:t>
            </a:r>
          </a:p>
          <a:p>
            <a:r>
              <a:rPr lang="ru-RU" dirty="0"/>
              <a:t>Приобретая бытовую технику, проверяйте в Гигиеническом заключении (сертификате) отметку о соответствии изделия требованиям "Межгосударственных санитарных норм допустимых уровней физических факторов при применении товаров народного потребления в бытовых условиях", </a:t>
            </a:r>
            <a:r>
              <a:rPr lang="ru-RU" dirty="0" err="1"/>
              <a:t>МСанПиН</a:t>
            </a:r>
            <a:r>
              <a:rPr lang="ru-RU" dirty="0"/>
              <a:t> 001-96</a:t>
            </a:r>
            <a:r>
              <a:rPr lang="ru-RU" dirty="0" smtClean="0"/>
              <a:t>;</a:t>
            </a:r>
          </a:p>
          <a:p>
            <a:r>
              <a:rPr lang="ru-RU" dirty="0" smtClean="0"/>
              <a:t>Используйте технику с меньшей потребляемой мощностью: магнитные поля промышленной частоты будут меньше при прочих равных условиях;</a:t>
            </a:r>
          </a:p>
          <a:p>
            <a:r>
              <a:rPr lang="ru-RU" dirty="0"/>
              <a:t>К потенциально неблагоприятным источникам магнитного поля промышленной частоты в квартире относятся холодильники с системой “без инея”, некоторые типы “теплых полов”, нагреватели, телевизоры, некоторые системы сигнализации, различного рода зарядные устройства, выпрямители и преобразователи тока - спальное место должно быть на расстоянии не менее 2-х метров от этих предметов, если они работают во время Вашего ночного отдыха;</a:t>
            </a:r>
          </a:p>
          <a:p>
            <a:r>
              <a:rPr lang="ru-RU" dirty="0"/>
              <a:t>При размещении в квартире бытовой техники необходимо пользоваться принципами снижения отрицательного влияния приборов путем максимального удаления источников излучения от потребителей, оптимальной расстановки мебели и техники.</a:t>
            </a:r>
          </a:p>
          <a:p>
            <a:endParaRPr lang="ru-RU" dirty="0" smtClean="0"/>
          </a:p>
        </p:txBody>
      </p:sp>
      <p:sp>
        <p:nvSpPr>
          <p:cNvPr id="4" name="Номер слайда 3"/>
          <p:cNvSpPr>
            <a:spLocks noGrp="1"/>
          </p:cNvSpPr>
          <p:nvPr>
            <p:ph type="sldNum" sz="quarter" idx="12"/>
          </p:nvPr>
        </p:nvSpPr>
        <p:spPr/>
        <p:txBody>
          <a:bodyPr/>
          <a:lstStyle/>
          <a:p>
            <a:fld id="{3BD8B445-A5DE-4AFB-97A2-38F398769644}" type="slidenum">
              <a:rPr lang="ru-RU" smtClean="0"/>
              <a:pPr/>
              <a:t>79</a:t>
            </a:fld>
            <a:endParaRPr lang="ru-RU"/>
          </a:p>
        </p:txBody>
      </p:sp>
      <p:sp>
        <p:nvSpPr>
          <p:cNvPr id="5" name="Нижний колонтитул 4"/>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395857098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1560" y="2852936"/>
            <a:ext cx="8229600" cy="990600"/>
          </a:xfrm>
        </p:spPr>
        <p:txBody>
          <a:bodyPr/>
          <a:lstStyle/>
          <a:p>
            <a:pPr algn="ctr"/>
            <a:r>
              <a:rPr lang="ru-RU" dirty="0" smtClean="0"/>
              <a:t>Спасибо за внимание!</a:t>
            </a:r>
            <a:endParaRPr lang="ru-RU" dirty="0"/>
          </a:p>
        </p:txBody>
      </p:sp>
      <p:sp>
        <p:nvSpPr>
          <p:cNvPr id="4" name="Номер слайда 3"/>
          <p:cNvSpPr>
            <a:spLocks noGrp="1"/>
          </p:cNvSpPr>
          <p:nvPr>
            <p:ph type="sldNum" sz="quarter" idx="12"/>
          </p:nvPr>
        </p:nvSpPr>
        <p:spPr/>
        <p:txBody>
          <a:bodyPr/>
          <a:lstStyle/>
          <a:p>
            <a:fld id="{3BD8B445-A5DE-4AFB-97A2-38F398769644}" type="slidenum">
              <a:rPr lang="ru-RU" smtClean="0"/>
              <a:pPr/>
              <a:t>80</a:t>
            </a:fld>
            <a:endParaRPr lang="ru-RU"/>
          </a:p>
        </p:txBody>
      </p:sp>
      <p:sp>
        <p:nvSpPr>
          <p:cNvPr id="3" name="Нижний колонтитул 2"/>
          <p:cNvSpPr>
            <a:spLocks noGrp="1"/>
          </p:cNvSpPr>
          <p:nvPr>
            <p:ph type="ftr" sz="quarter" idx="11"/>
          </p:nvPr>
        </p:nvSpPr>
        <p:spPr/>
        <p:txBody>
          <a:bodyPr/>
          <a:lstStyle/>
          <a:p>
            <a:r>
              <a:rPr lang="ru-RU" smtClean="0"/>
              <a:t>Электромагнитное излучение</a:t>
            </a:r>
            <a:endParaRPr lang="ru-RU"/>
          </a:p>
        </p:txBody>
      </p:sp>
    </p:spTree>
    <p:extLst>
      <p:ext uri="{BB962C8B-B14F-4D97-AF65-F5344CB8AC3E}">
        <p14:creationId xmlns:p14="http://schemas.microsoft.com/office/powerpoint/2010/main" val="78598706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Ясность">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Классическая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Ясность">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1408</TotalTime>
  <Words>6796</Words>
  <Application>Microsoft Office PowerPoint</Application>
  <PresentationFormat>Экран (4:3)</PresentationFormat>
  <Paragraphs>353</Paragraphs>
  <Slides>80</Slides>
  <Notes>3</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80</vt:i4>
      </vt:variant>
    </vt:vector>
  </HeadingPairs>
  <TitlesOfParts>
    <vt:vector size="83" baseType="lpstr">
      <vt:lpstr>Arial</vt:lpstr>
      <vt:lpstr>Calibri</vt:lpstr>
      <vt:lpstr>Ясность</vt:lpstr>
      <vt:lpstr>Электромагнитное излучение</vt:lpstr>
      <vt:lpstr>Что такое электромагнитное излучение?</vt:lpstr>
      <vt:lpstr>Презентация PowerPoint</vt:lpstr>
      <vt:lpstr>Презентация PowerPoint</vt:lpstr>
      <vt:lpstr>Кооперативное действие электромагнитных полей</vt:lpstr>
      <vt:lpstr>Электрические постоянные и переменные низкочастотные поля</vt:lpstr>
      <vt:lpstr>Магнитные постоянные и переменные низкочастотные поля</vt:lpstr>
      <vt:lpstr>Высокочастотные электромагнитные поля</vt:lpstr>
      <vt:lpstr>Презентация PowerPoint</vt:lpstr>
      <vt:lpstr>Источники электромагнитного излучения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Природные источники электромагнитного излучения</vt:lpstr>
      <vt:lpstr>Презентация PowerPoint</vt:lpstr>
      <vt:lpstr>Презентация PowerPoint</vt:lpstr>
      <vt:lpstr>Презентация PowerPoint</vt:lpstr>
      <vt:lpstr>Презентация PowerPoint</vt:lpstr>
      <vt:lpstr>Презентация PowerPoint</vt:lpstr>
      <vt:lpstr>Антропогенные источники электромагнитного излучения Электропроводка</vt:lpstr>
      <vt:lpstr>Презентация PowerPoint</vt:lpstr>
      <vt:lpstr>Презентация PowerPoint</vt:lpstr>
      <vt:lpstr>Презентация PowerPoint</vt:lpstr>
      <vt:lpstr>Презентация PowerPoint</vt:lpstr>
      <vt:lpstr>Линии электропередач</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Бытовые приборы</vt:lpstr>
      <vt:lpstr>Источники электромагнитного излучения</vt:lpstr>
      <vt:lpstr>Презентация PowerPoint</vt:lpstr>
      <vt:lpstr>Презентация PowerPoint</vt:lpstr>
      <vt:lpstr>Презентация PowerPoint</vt:lpstr>
      <vt:lpstr>Презентация PowerPoint</vt:lpstr>
      <vt:lpstr>Теле- и радиостанции</vt:lpstr>
      <vt:lpstr>Презентация PowerPoint</vt:lpstr>
      <vt:lpstr>Презентация PowerPoint</vt:lpstr>
      <vt:lpstr>Презентация PowerPoint</vt:lpstr>
      <vt:lpstr>Презентация PowerPoint</vt:lpstr>
      <vt:lpstr>Презентация PowerPoint</vt:lpstr>
      <vt:lpstr>Электротранспорт</vt:lpstr>
      <vt:lpstr>Презентация PowerPoint</vt:lpstr>
      <vt:lpstr>Спутниковая связь</vt:lpstr>
      <vt:lpstr>Презентация PowerPoint</vt:lpstr>
      <vt:lpstr>Радиолокационные системы</vt:lpstr>
      <vt:lpstr>Презентация PowerPoint</vt:lpstr>
      <vt:lpstr>Презентация PowerPoint</vt:lpstr>
      <vt:lpstr>Презентация PowerPoint</vt:lpstr>
      <vt:lpstr>Электромагнитное оружие</vt:lpstr>
      <vt:lpstr>Презентация PowerPoint</vt:lpstr>
      <vt:lpstr>Презентация PowerPoint</vt:lpstr>
      <vt:lpstr>Презентация PowerPoint</vt:lpstr>
      <vt:lpstr>Презентация PowerPoint</vt:lpstr>
      <vt:lpstr>Презентация PowerPoint</vt:lpstr>
      <vt:lpstr>Защита от электромагнитных полей</vt:lpstr>
      <vt:lpstr>Инженерно-технические методы и средства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Организационные и лечебно-профилактические мероприятия</vt:lpstr>
      <vt:lpstr>Презентация PowerPoint</vt:lpstr>
      <vt:lpstr>Презентация PowerPoint</vt:lpstr>
      <vt:lpstr>Спасибо за внимание!</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Электромагнитное излучение</dc:title>
  <dc:creator>Anton</dc:creator>
  <cp:lastModifiedBy>Пользователь</cp:lastModifiedBy>
  <cp:revision>60</cp:revision>
  <dcterms:created xsi:type="dcterms:W3CDTF">2012-05-23T18:05:45Z</dcterms:created>
  <dcterms:modified xsi:type="dcterms:W3CDTF">2026-09-04T14:56:27Z</dcterms:modified>
</cp:coreProperties>
</file>